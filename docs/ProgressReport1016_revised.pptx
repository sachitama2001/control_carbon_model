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Olson 1963 DOI 10.2307/1932179; Cox et al. 2006 as cited in original deck; Luo &amp; Weng 2011 DOI 10.1016/j.tree.2010.11.003; Luo et al. 2022 DOI 10.1029/2022MS003008.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Olson 1963; original deck slide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Cox et al. 2006, as cited in original deck. Equation images retained from the user-provided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Luo et al. (2022) DOI 10.1029/2022MS003008. Equation/figure images from original user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Luo &amp; Weng (2011); Luo et al. (2022). Fixed matrix conventions and user project Stage C definition ledger.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Matrix form based on image retained from original deck; project Stage C. Do not claim nonlinear land carbon modelling is absent.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Interpretation motivated by project Stage C definitions, latest scalar equilibrium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Manzoni, Katul &amp; Porporato (2014), Water Resources Research, DOI 10.1002/2013WR015236. Diagram retained from user-provided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Manzoni et al. (2014); user hand derivation in original slides 14 and uploaded HSindex.pdf; hydraulic reproduction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Manzoni et al. (2014), Fig. 2 style image retained from original presentation; reproduce with permissions/attribution before public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Source implementation: src/control_carbon/spac_carbon.py and spac_carbon_two_way.py, 2026-10-14 commit b827521. Synthetic coefficients, not calibrated plant physiology.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docs/spac_carbon_scalar_equilibrium_results.md sections 3–4, commit b827521. Algebraic reduction, not dynamic dimension reduction.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Schematic (not quantitatively plotted) based on analytic shape results in docs/spac_carbon_scalar_equilibrium_results.md §4.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Analytic fold and root counts: docs/spac_carbon_scalar_equilibrium_results.md. E4 Hopf and synthetic coefficients: stage_b3_e4_results.md. Thresholds are model values, not observed drought thresholds.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Scalar equilibrium report §6; E4 subcritical Hopf VPD 2.664752905 kPa, based on numerical local bifurcation diagnostics, not interval certified.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Analytical propositions A–D in docs/spac_carbon_scalar_equilibrium_results.md §7. All long-run extrapolation is formal past the positive-leaf simulation domain; no physiological death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Initial-condition cases from docs/spac_carbon_scalar_equilibrium_results.md §9. Actual full six-component initial states stored in gitignored local results JSON, not available in public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Stage B3 and C2/C3 reports: subcritical Hopf is numerical, unstable cycles not attractors; ramp 2.66 kPa endpoint and 10-day domain exit are separate tests; no proven basin boundary or true R-tipping.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docs/spac_carbon_scalar_equilibrium_results.md and stage_c23_results.md; evidence categories deliberately distinguished.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Synthesis of Luo-style capacity definitions and repository analytical/numerical results; interpretation is model-specific.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Priorities from latest scalar equilibrium report and user research objective.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Bibliographic sources as specified on earlier slides; GitHub repo https://github.com/Sachitama2001/Control_carbon_model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057400"/>
            <a:ext cx="10241280" cy="1956816"/>
          </a:xfrm>
          <a:prstGeom prst="rect">
            <a:avLst/>
          </a:prstGeom>
          <a:solidFill>
            <a:srgbClr val="0F2B43"/>
          </a:solidFill>
          <a:ln w="12700">
            <a:solidFill>
              <a:srgbClr val="0F2B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88720" y="2331720"/>
            <a:ext cx="9875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Progress Report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1188720" y="3035808"/>
            <a:ext cx="9738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Hydraulic multistability and nonlinear carbon storage capacity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040880" y="430682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182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October 2026  |  Takuma Sakauchi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F2B43"/>
          </a:solidFill>
          <a:ln w="12700">
            <a:solidFill>
              <a:srgbClr val="0F2B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00584"/>
            <a:ext cx="1152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Presentation roadmap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567160" y="6565392"/>
            <a:ext cx="292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19A"/>
                </a:solidFill>
              </a:rPr>
              <a:t>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21208" y="6519672"/>
            <a:ext cx="5486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5E6D76"/>
                </a:solidFill>
              </a:rPr>
              <a:t>OVERVIEW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170432"/>
            <a:ext cx="10789920" cy="713232"/>
          </a:xfrm>
          <a:prstGeom prst="roundRect">
            <a:avLst>
              <a:gd name="adj" fmla="val 16667"/>
            </a:avLst>
          </a:prstGeom>
          <a:solidFill>
            <a:srgbClr val="F4F8FA"/>
          </a:solidFill>
          <a:ln w="12700">
            <a:solidFill>
              <a:srgbClr val="D6E1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325880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7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737360" y="132588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82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carbon storage capacity?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685800" y="2112264"/>
            <a:ext cx="10789920" cy="71323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E1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267712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7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737360" y="2267712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82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changes in nonlinear models?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685800" y="3054096"/>
            <a:ext cx="10789920" cy="713232"/>
          </a:xfrm>
          <a:prstGeom prst="roundRect">
            <a:avLst>
              <a:gd name="adj" fmla="val 16667"/>
            </a:avLst>
          </a:prstGeom>
          <a:solidFill>
            <a:srgbClr val="F4F8FA"/>
          </a:solidFill>
          <a:ln w="12700">
            <a:solidFill>
              <a:srgbClr val="D6E1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20954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7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737360" y="3209544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82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Coupling Manzoni hydraulics and carbon pools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685800" y="3995928"/>
            <a:ext cx="10789920" cy="71323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E1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151376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7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737360" y="4151376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82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Equilibrium classification and hydraulic failure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685800" y="4937760"/>
            <a:ext cx="10789920" cy="713232"/>
          </a:xfrm>
          <a:prstGeom prst="roundRect">
            <a:avLst>
              <a:gd name="adj" fmla="val 16667"/>
            </a:avLst>
          </a:prstGeom>
          <a:solidFill>
            <a:srgbClr val="F4F8FA"/>
          </a:solidFill>
          <a:ln w="12700">
            <a:solidFill>
              <a:srgbClr val="D6E1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509320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7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1737360" y="5093208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82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has been established, and what comes next?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F2B43"/>
          </a:solidFill>
          <a:ln w="12700">
            <a:solidFill>
              <a:srgbClr val="0F2B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00584"/>
            <a:ext cx="1152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Previous research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567160" y="6565392"/>
            <a:ext cx="292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19A"/>
                </a:solidFill>
              </a:rPr>
              <a:t>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21208" y="6519672"/>
            <a:ext cx="5486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5E6D76"/>
                </a:solidFill>
              </a:rPr>
              <a:t>BACKGROUND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9808" y="1161288"/>
            <a:ext cx="10643616" cy="859536"/>
          </a:xfrm>
          <a:prstGeom prst="roundRect">
            <a:avLst>
              <a:gd name="adj" fmla="val 13830"/>
            </a:avLst>
          </a:prstGeom>
          <a:solidFill>
            <a:srgbClr val="F6F8F9"/>
          </a:solidFill>
          <a:ln w="12700">
            <a:solidFill>
              <a:srgbClr val="D6E1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134416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7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1963 | Olson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794760" y="1335024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82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Carbon input–loss balance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49808" y="2322576"/>
            <a:ext cx="10643616" cy="859536"/>
          </a:xfrm>
          <a:prstGeom prst="roundRect">
            <a:avLst>
              <a:gd name="adj" fmla="val 13830"/>
            </a:avLst>
          </a:prstGeom>
          <a:solidFill>
            <a:srgbClr val="F6F8F9"/>
          </a:solidFill>
          <a:ln w="12700">
            <a:solidFill>
              <a:srgbClr val="D6E1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2505456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7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2006 | Cox et al.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794760" y="2496312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82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Analytical carbon equilibrium and feedback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49808" y="3483864"/>
            <a:ext cx="10643616" cy="859536"/>
          </a:xfrm>
          <a:prstGeom prst="roundRect">
            <a:avLst>
              <a:gd name="adj" fmla="val 13830"/>
            </a:avLst>
          </a:prstGeom>
          <a:solidFill>
            <a:srgbClr val="F6F8F9"/>
          </a:solidFill>
          <a:ln w="12700">
            <a:solidFill>
              <a:srgbClr val="D6E1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3666744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7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2011 | Luo &amp; Weng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794760" y="365760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82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Dynamic disequilibrium and storage capacity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49808" y="4645152"/>
            <a:ext cx="10643616" cy="859536"/>
          </a:xfrm>
          <a:prstGeom prst="roundRect">
            <a:avLst>
              <a:gd name="adj" fmla="val 13830"/>
            </a:avLst>
          </a:prstGeom>
          <a:solidFill>
            <a:srgbClr val="F6F8F9"/>
          </a:solidFill>
          <a:ln w="12700">
            <a:solidFill>
              <a:srgbClr val="D6E1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48280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7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2022 | Luo et al.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794760" y="4818888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82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Matrix approach to multi-pool carbon models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F2B43"/>
          </a:solidFill>
          <a:ln w="12700">
            <a:solidFill>
              <a:srgbClr val="0F2B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00584"/>
            <a:ext cx="1152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Carbon stocks follow a mass balance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567160" y="6565392"/>
            <a:ext cx="292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19A"/>
                </a:solidFill>
              </a:rPr>
              <a:t>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21208" y="6519672"/>
            <a:ext cx="5486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5E6D76"/>
                </a:solidFill>
              </a:rPr>
              <a:t>BACKGROUND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987552" y="1298448"/>
            <a:ext cx="10149840" cy="1005840"/>
          </a:xfrm>
          <a:prstGeom prst="roundRect">
            <a:avLst>
              <a:gd name="adj" fmla="val 11818"/>
            </a:avLst>
          </a:prstGeom>
          <a:solidFill>
            <a:srgbClr val="F4F8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06424" y="1344168"/>
            <a:ext cx="9912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82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dC/dt = carbon input − carbon loss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051560" y="2880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82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carbon equilibrium occurs when inputs and outputs balance.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051560" y="3703320"/>
            <a:ext cx="10058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82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Equilibrium is a statement about the equations—not yet a guarantee of global convergence.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51560" y="5340096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 starting point: Olson (1963)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F2B43"/>
          </a:solidFill>
          <a:ln w="12700">
            <a:solidFill>
              <a:srgbClr val="0F2B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00584"/>
            <a:ext cx="1152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Analytical carbon equilibrium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567160" y="6565392"/>
            <a:ext cx="292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19A"/>
                </a:solidFill>
              </a:rPr>
              <a:t>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21208" y="6519672"/>
            <a:ext cx="5486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5E6D76"/>
                </a:solidFill>
              </a:rPr>
              <a:t>BACKGROUND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8368" y="102412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82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Cox et al. (2006): feedbacks can be analysed from carbon mass balance.</a:t>
            </a:r>
            <a:endParaRPr lang="en-US" sz="2000" dirty="0"/>
          </a:p>
        </p:txBody>
      </p:sp>
      <p:pic>
        <p:nvPicPr>
          <p:cNvPr id="7" name="Image 0" descr="/mnt/data/slides_work/assets/s05_p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822" y="2020824"/>
            <a:ext cx="2620036" cy="1069848"/>
          </a:xfrm>
          <a:prstGeom prst="rect">
            <a:avLst/>
          </a:prstGeom>
        </p:spPr>
      </p:pic>
      <p:pic>
        <p:nvPicPr>
          <p:cNvPr id="8" name="Image 1" descr="/mnt/data/slides_work/assets/s05_p0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1841" y="1920240"/>
            <a:ext cx="3653167" cy="1170432"/>
          </a:xfrm>
          <a:prstGeom prst="rect">
            <a:avLst/>
          </a:prstGeom>
        </p:spPr>
      </p:pic>
      <p:pic>
        <p:nvPicPr>
          <p:cNvPr id="9" name="Image 2" descr="/mnt/data/slides_work/assets/s05_p0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8614" y="1938528"/>
            <a:ext cx="2848051" cy="1170432"/>
          </a:xfrm>
          <a:prstGeom prst="rect">
            <a:avLst/>
          </a:prstGeom>
        </p:spPr>
      </p:pic>
      <p:pic>
        <p:nvPicPr>
          <p:cNvPr id="10" name="Image 3" descr="/mnt/data/slides_work/assets/s05_p0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3986" y="3822192"/>
            <a:ext cx="6090748" cy="1499616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731520" y="5669280"/>
            <a:ext cx="3090672" cy="347472"/>
          </a:xfrm>
          <a:prstGeom prst="roundRect">
            <a:avLst>
              <a:gd name="adj" fmla="val 34211"/>
            </a:avLst>
          </a:prstGeom>
          <a:solidFill>
            <a:srgbClr val="F1F8F9"/>
          </a:solidFill>
          <a:ln w="12700">
            <a:solidFill>
              <a:srgbClr val="DAEAEC"/>
            </a:solidFill>
            <a:prstDash val="solid"/>
          </a:ln>
        </p:spPr>
      </p:sp>
      <p:sp>
        <p:nvSpPr>
          <p:cNvPr id="12" name="Text 6"/>
          <p:cNvSpPr/>
          <p:nvPr/>
        </p:nvSpPr>
        <p:spPr>
          <a:xfrm>
            <a:off x="877824" y="57150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7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idea: solve dC/dt = 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F2B43"/>
          </a:solidFill>
          <a:ln w="12700">
            <a:solidFill>
              <a:srgbClr val="0F2B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00584"/>
            <a:ext cx="1152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Matrix approach to land carbon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567160" y="6565392"/>
            <a:ext cx="292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19A"/>
                </a:solidFill>
              </a:rPr>
              <a:t>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21208" y="6519672"/>
            <a:ext cx="5486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5E6D76"/>
                </a:solidFill>
              </a:rPr>
              <a:t>BACKGROUND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996696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82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Multi-pool carbon dynamics can be represented compactly as a matrix system.</a:t>
            </a:r>
            <a:endParaRPr lang="en-US" sz="2000" dirty="0"/>
          </a:p>
        </p:txBody>
      </p:sp>
      <p:pic>
        <p:nvPicPr>
          <p:cNvPr id="7" name="Image 0" descr="/mnt/data/slides_work/assets/s06_p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873829"/>
            <a:ext cx="5623560" cy="3915013"/>
          </a:xfrm>
          <a:prstGeom prst="rect">
            <a:avLst/>
          </a:prstGeom>
        </p:spPr>
      </p:pic>
      <p:pic>
        <p:nvPicPr>
          <p:cNvPr id="8" name="Image 1" descr="/mnt/data/slides_work/assets/s06_p0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1344" y="2149688"/>
            <a:ext cx="5532120" cy="33815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9808" y="5980176"/>
            <a:ext cx="8229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Luo et al. (2022)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F2B43"/>
          </a:solidFill>
          <a:ln w="12700">
            <a:solidFill>
              <a:srgbClr val="0F2B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00584"/>
            <a:ext cx="1152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Carbon storage capacity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567160" y="6565392"/>
            <a:ext cx="292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19A"/>
                </a:solidFill>
              </a:rPr>
              <a:t>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21208" y="6519672"/>
            <a:ext cx="5486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5E6D76"/>
                </a:solidFill>
              </a:rPr>
              <a:t>BACKGROUND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51560" y="1280160"/>
            <a:ext cx="10058400" cy="914400"/>
          </a:xfrm>
          <a:prstGeom prst="roundRect">
            <a:avLst>
              <a:gd name="adj" fmla="val 13000"/>
            </a:avLst>
          </a:prstGeom>
          <a:solidFill>
            <a:srgbClr val="F4F8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1325880"/>
            <a:ext cx="9820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82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dC/dt = u + MC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1051560" y="2542032"/>
            <a:ext cx="10058400" cy="1005840"/>
          </a:xfrm>
          <a:prstGeom prst="roundRect">
            <a:avLst>
              <a:gd name="adj" fmla="val 11818"/>
            </a:avLst>
          </a:prstGeom>
          <a:solidFill>
            <a:srgbClr val="F4F8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587752"/>
            <a:ext cx="98206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82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Capacity  K = −M⁻¹u     |     Potential  P = K − C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1051560" y="4069080"/>
            <a:ext cx="10149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a stable linear system with fixed coefficients, K is the attracting equilibrium.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51560" y="5321808"/>
            <a:ext cx="10195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7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Question: What does K mean when input and hydraulics depend on the current state?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F2B43"/>
          </a:solidFill>
          <a:ln w="12700">
            <a:solidFill>
              <a:srgbClr val="0F2B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00584"/>
            <a:ext cx="1152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gap: nonlinear state dependence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567160" y="6565392"/>
            <a:ext cx="292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19A"/>
                </a:solidFill>
              </a:rPr>
              <a:t>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21208" y="6519672"/>
            <a:ext cx="5486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5E6D76"/>
                </a:solidFill>
              </a:rPr>
              <a:t>MOTIVATION</a:t>
            </a:r>
            <a:endParaRPr lang="en-US" sz="900" dirty="0"/>
          </a:p>
        </p:txBody>
      </p:sp>
      <p:pic>
        <p:nvPicPr>
          <p:cNvPr id="6" name="Image 0" descr="/mnt/data/slides_work/assets/s08_p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372" y="1124712"/>
            <a:ext cx="10595336" cy="2331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82219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82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a coupled plant system, photosynthesis and conductance depend on state.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868680" y="4764024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B7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Therefore capacity becomes a map K(y, v)—not automatically a unique target.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F2B43"/>
          </a:solidFill>
          <a:ln w="12700">
            <a:solidFill>
              <a:srgbClr val="0F2B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00584"/>
            <a:ext cx="1152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gap is interpretation, not lack of nonlinear models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567160" y="6565392"/>
            <a:ext cx="292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19A"/>
                </a:solidFill>
              </a:rPr>
              <a:t>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21208" y="6519672"/>
            <a:ext cx="5486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5E6D76"/>
                </a:solidFill>
              </a:rPr>
              <a:t>MOTIVATION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7240" y="1152144"/>
            <a:ext cx="10652760" cy="850392"/>
          </a:xfrm>
          <a:prstGeom prst="roundRect">
            <a:avLst>
              <a:gd name="adj" fmla="val 13978"/>
            </a:avLst>
          </a:prstGeom>
          <a:solidFill>
            <a:srgbClr val="F6F8F9"/>
          </a:solidFill>
          <a:ln w="12700">
            <a:solidFill>
              <a:srgbClr val="D6E1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" y="1353312"/>
            <a:ext cx="2679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7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94176" y="1316736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82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K(y,v) be computed?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2286000"/>
            <a:ext cx="10652760" cy="850392"/>
          </a:xfrm>
          <a:prstGeom prst="roundRect">
            <a:avLst>
              <a:gd name="adj" fmla="val 13978"/>
            </a:avLst>
          </a:prstGeom>
          <a:solidFill>
            <a:srgbClr val="F6F8F9"/>
          </a:solidFill>
          <a:ln w="12700">
            <a:solidFill>
              <a:srgbClr val="D6E1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2487168"/>
            <a:ext cx="2679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7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Equilibrium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694176" y="2450592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82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C = K also satisfy water balance?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77240" y="3419856"/>
            <a:ext cx="10652760" cy="850392"/>
          </a:xfrm>
          <a:prstGeom prst="roundRect">
            <a:avLst>
              <a:gd name="adj" fmla="val 13978"/>
            </a:avLst>
          </a:prstGeom>
          <a:solidFill>
            <a:srgbClr val="F6F8F9"/>
          </a:solidFill>
          <a:ln w="12700">
            <a:solidFill>
              <a:srgbClr val="D6E1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2416" y="3621024"/>
            <a:ext cx="2679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7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Stability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94176" y="3584448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82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that coupled equilibrium attracting?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77240" y="4553712"/>
            <a:ext cx="10652760" cy="850392"/>
          </a:xfrm>
          <a:prstGeom prst="roundRect">
            <a:avLst>
              <a:gd name="adj" fmla="val 13978"/>
            </a:avLst>
          </a:prstGeom>
          <a:solidFill>
            <a:srgbClr val="F6F8F9"/>
          </a:solidFill>
          <a:ln w="12700">
            <a:solidFill>
              <a:srgbClr val="D6E1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4754880"/>
            <a:ext cx="2679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7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 conditions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694176" y="4718304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82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Will a particular plant state reach it?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F2B43"/>
          </a:solidFill>
          <a:ln w="12700">
            <a:solidFill>
              <a:srgbClr val="0F2B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00584"/>
            <a:ext cx="1152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question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567160" y="6565392"/>
            <a:ext cx="292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19A"/>
                </a:solidFill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21208" y="6519672"/>
            <a:ext cx="5486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5E6D76"/>
                </a:solidFill>
              </a:rPr>
              <a:t>OBJECTIVE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58952" y="1463040"/>
            <a:ext cx="10671048" cy="3429000"/>
          </a:xfrm>
          <a:prstGeom prst="roundRect">
            <a:avLst>
              <a:gd name="adj" fmla="val 3467"/>
            </a:avLst>
          </a:prstGeom>
          <a:solidFill>
            <a:srgbClr val="F4F8FA"/>
          </a:solidFill>
          <a:ln w="12700">
            <a:solidFill>
              <a:srgbClr val="BCD2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4712" y="2002536"/>
            <a:ext cx="9902952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182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does nonlinear carbon storage capacity correspond to an equilibrium that actually attracts carbon stocks?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969264" y="559612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B7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study: a six-state carbon–water system driven by VPD.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F2B43"/>
          </a:solidFill>
          <a:ln w="12700">
            <a:solidFill>
              <a:srgbClr val="0F2B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00584"/>
            <a:ext cx="1152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Method: progressively coupled models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567160" y="6565392"/>
            <a:ext cx="292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19A"/>
                </a:solidFill>
              </a:rPr>
              <a:t>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21208" y="6519672"/>
            <a:ext cx="5486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5E6D76"/>
                </a:solidFill>
              </a:rPr>
              <a:t>METHODS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7240" y="1143000"/>
            <a:ext cx="10625328" cy="868680"/>
          </a:xfrm>
          <a:prstGeom prst="roundRect">
            <a:avLst>
              <a:gd name="adj" fmla="val 13684"/>
            </a:avLst>
          </a:prstGeom>
          <a:solidFill>
            <a:srgbClr val="F6F8F9"/>
          </a:solidFill>
          <a:ln w="12700">
            <a:solidFill>
              <a:srgbClr val="D6E1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335024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7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Manzoni hydraulics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910328" y="1335024"/>
            <a:ext cx="5925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82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water potentials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2258568"/>
            <a:ext cx="10625328" cy="868680"/>
          </a:xfrm>
          <a:prstGeom prst="roundRect">
            <a:avLst>
              <a:gd name="adj" fmla="val 13684"/>
            </a:avLst>
          </a:prstGeom>
          <a:solidFill>
            <a:srgbClr val="F6F8F9"/>
          </a:solidFill>
          <a:ln w="12700">
            <a:solidFill>
              <a:srgbClr val="D6E1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45059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7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Carbon pools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910328" y="2450592"/>
            <a:ext cx="5925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82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Leaf · wood · root · soil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77240" y="3374136"/>
            <a:ext cx="10625328" cy="868680"/>
          </a:xfrm>
          <a:prstGeom prst="roundRect">
            <a:avLst>
              <a:gd name="adj" fmla="val 13684"/>
            </a:avLst>
          </a:prstGeom>
          <a:solidFill>
            <a:srgbClr val="F6F8F9"/>
          </a:solidFill>
          <a:ln w="12700">
            <a:solidFill>
              <a:srgbClr val="D6E1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56616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7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Coupling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910328" y="3566160"/>
            <a:ext cx="5925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82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Water stress → GPP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77240" y="4489704"/>
            <a:ext cx="10625328" cy="868680"/>
          </a:xfrm>
          <a:prstGeom prst="roundRect">
            <a:avLst>
              <a:gd name="adj" fmla="val 13684"/>
            </a:avLst>
          </a:prstGeom>
          <a:solidFill>
            <a:srgbClr val="F6F8F9"/>
          </a:solidFill>
          <a:ln w="12700">
            <a:solidFill>
              <a:srgbClr val="D6E1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681728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7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 E0 → E1 → E4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910328" y="4681728"/>
            <a:ext cx="5925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82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Leaf / wood stocks → water flows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914400" y="592531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VPD is the controlled external forcing; root water potential is fixed.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F2B43"/>
          </a:solidFill>
          <a:ln w="12700">
            <a:solidFill>
              <a:srgbClr val="0F2B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00584"/>
            <a:ext cx="1152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Manzoni: soil–plant–atmosphere continuum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567160" y="6565392"/>
            <a:ext cx="292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19A"/>
                </a:solidFill>
              </a:rPr>
              <a:t>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21208" y="6519672"/>
            <a:ext cx="5486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5E6D76"/>
                </a:solidFill>
              </a:rPr>
              <a:t>METHODS</a:t>
            </a:r>
            <a:endParaRPr lang="en-US" sz="900" dirty="0"/>
          </a:p>
        </p:txBody>
      </p:sp>
      <p:pic>
        <p:nvPicPr>
          <p:cNvPr id="6" name="Image 0" descr="/mnt/data/slides_work/assets/s13_p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071" y="1005840"/>
            <a:ext cx="4499194" cy="5074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0" y="1627632"/>
            <a:ext cx="5276088" cy="896112"/>
          </a:xfrm>
          <a:prstGeom prst="roundRect">
            <a:avLst>
              <a:gd name="adj" fmla="val 13265"/>
            </a:avLst>
          </a:prstGeom>
          <a:solidFill>
            <a:srgbClr val="F4F8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62472" y="1673352"/>
            <a:ext cx="5038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82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Water supply = transpiration demand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035040" y="2907792"/>
            <a:ext cx="5029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82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Leaf and xylem water potentials respond dynamically to VPD.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035040" y="4233672"/>
            <a:ext cx="513892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82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Conductance decreases as leaf water potential becomes more negative.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F2B43"/>
          </a:solidFill>
          <a:ln w="12700">
            <a:solidFill>
              <a:srgbClr val="0F2B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00584"/>
            <a:ext cx="1152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Manzoni: equilibrium reduced to a quadratic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567160" y="6565392"/>
            <a:ext cx="292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19A"/>
                </a:solidFill>
              </a:rPr>
              <a:t>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21208" y="6519672"/>
            <a:ext cx="5486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5E6D76"/>
                </a:solidFill>
              </a:rPr>
              <a:t>METHODS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58952" y="1170432"/>
            <a:ext cx="10680192" cy="694944"/>
          </a:xfrm>
          <a:prstGeom prst="roundRect">
            <a:avLst>
              <a:gd name="adj" fmla="val 17105"/>
            </a:avLst>
          </a:prstGeom>
          <a:solidFill>
            <a:srgbClr val="F4F8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216152"/>
            <a:ext cx="10442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82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dψx/dt = dψleaf/dt = 0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758952" y="2084832"/>
            <a:ext cx="10680192" cy="694944"/>
          </a:xfrm>
          <a:prstGeom prst="roundRect">
            <a:avLst>
              <a:gd name="adj" fmla="val 17105"/>
            </a:avLst>
          </a:prstGeom>
          <a:solidFill>
            <a:srgbClr val="F4F8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2130552"/>
            <a:ext cx="10442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82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Eliminate ψx → one equation in ψleaf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758952" y="2999232"/>
            <a:ext cx="10680192" cy="822960"/>
          </a:xfrm>
          <a:prstGeom prst="roundRect">
            <a:avLst>
              <a:gd name="adj" fmla="val 14444"/>
            </a:avLst>
          </a:prstGeom>
          <a:solidFill>
            <a:srgbClr val="F4F8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3044952"/>
            <a:ext cx="10442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82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Quadratic roots + physical-domain checks → hydraulic equilibria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77824" y="4242816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2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Multiple roots can coexist; the Jacobian distinguishes stable and saddle branches.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59536" y="5641848"/>
            <a:ext cx="4480560" cy="347472"/>
          </a:xfrm>
          <a:prstGeom prst="roundRect">
            <a:avLst>
              <a:gd name="adj" fmla="val 34211"/>
            </a:avLst>
          </a:prstGeom>
          <a:solidFill>
            <a:srgbClr val="F1F8F9"/>
          </a:solidFill>
          <a:ln w="12700">
            <a:solidFill>
              <a:srgbClr val="DAEA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568756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7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elimination strategy for the coupled system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F2B43"/>
          </a:solidFill>
          <a:ln w="12700">
            <a:solidFill>
              <a:srgbClr val="0F2B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00584"/>
            <a:ext cx="1152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Hydraulic multistability in the reference model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567160" y="6565392"/>
            <a:ext cx="292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19A"/>
                </a:solidFill>
              </a:rPr>
              <a:t>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21208" y="6519672"/>
            <a:ext cx="5486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5E6D76"/>
                </a:solidFill>
              </a:rPr>
              <a:t>METHODS</a:t>
            </a:r>
            <a:endParaRPr lang="en-US" sz="900" dirty="0"/>
          </a:p>
        </p:txBody>
      </p:sp>
      <p:pic>
        <p:nvPicPr>
          <p:cNvPr id="6" name="Image 0" descr="/mnt/data/slides_work/assets/s15_p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2640"/>
            <a:ext cx="3931920" cy="4435057"/>
          </a:xfrm>
          <a:prstGeom prst="rect">
            <a:avLst/>
          </a:prstGeom>
        </p:spPr>
      </p:pic>
      <p:pic>
        <p:nvPicPr>
          <p:cNvPr id="7" name="Image 1" descr="/mnt/data/slides_work/assets/s15_p0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1507852"/>
            <a:ext cx="6675120" cy="440007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13232" y="5989320"/>
            <a:ext cx="10826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wet, conducting equilibrium can coexist with a dry-state branch.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F2B43"/>
          </a:solidFill>
          <a:ln w="12700">
            <a:solidFill>
              <a:srgbClr val="0F2B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00584"/>
            <a:ext cx="1152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coupled six-state carbon–water model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567160" y="6565392"/>
            <a:ext cx="292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19A"/>
                </a:solidFill>
              </a:rPr>
              <a:t>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21208" y="6519672"/>
            <a:ext cx="5486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5E6D76"/>
                </a:solidFill>
              </a:rPr>
              <a:t>METHODS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2960" y="1152144"/>
            <a:ext cx="10552176" cy="713232"/>
          </a:xfrm>
          <a:prstGeom prst="roundRect">
            <a:avLst>
              <a:gd name="adj" fmla="val 16667"/>
            </a:avLst>
          </a:prstGeom>
          <a:solidFill>
            <a:srgbClr val="F4F8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197864"/>
            <a:ext cx="103144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82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= (ψx, ψleaf, L, W, R, S)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822960" y="2057400"/>
            <a:ext cx="10552176" cy="841248"/>
          </a:xfrm>
          <a:prstGeom prst="roundRect">
            <a:avLst>
              <a:gd name="adj" fmla="val 14130"/>
            </a:avLst>
          </a:prstGeom>
          <a:solidFill>
            <a:srgbClr val="F4F8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2103120"/>
            <a:ext cx="103144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82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GPP = p · h(ψleaf) · (1 − exp(−qL))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60120" y="3218688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82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Carbon inflow depends on stomatal opening and leaf biomass.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960120" y="4123944"/>
            <a:ext cx="4800600" cy="1115568"/>
          </a:xfrm>
          <a:prstGeom prst="roundRect">
            <a:avLst>
              <a:gd name="adj" fmla="val 10656"/>
            </a:avLst>
          </a:prstGeom>
          <a:solidFill>
            <a:srgbClr val="F1F8F9"/>
          </a:solidFill>
          <a:ln w="12700">
            <a:solidFill>
              <a:srgbClr val="D6E1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97864" y="441655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7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E0: water → carbon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6044184" y="4123944"/>
            <a:ext cx="4983480" cy="1115568"/>
          </a:xfrm>
          <a:prstGeom prst="roundRect">
            <a:avLst>
              <a:gd name="adj" fmla="val 10656"/>
            </a:avLst>
          </a:prstGeom>
          <a:solidFill>
            <a:srgbClr val="FBF5EF"/>
          </a:solidFill>
          <a:ln w="12700">
            <a:solidFill>
              <a:srgbClr val="EEDA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45352" y="4416552"/>
            <a:ext cx="4443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47B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E4: carbon ↔ water</a:t>
            </a:r>
            <a:endParaRPr lang="en-US" sz="2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F2B43"/>
          </a:solidFill>
          <a:ln w="12700">
            <a:solidFill>
              <a:srgbClr val="0F2B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00584"/>
            <a:ext cx="1152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 analytical result: reduce 6 equations to 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567160" y="6565392"/>
            <a:ext cx="292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19A"/>
                </a:solidFill>
              </a:rPr>
              <a:t>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21208" y="6519672"/>
            <a:ext cx="5486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5E6D76"/>
                </a:solidFill>
              </a:rPr>
              <a:t>RESULTS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58952" y="1115568"/>
            <a:ext cx="10652760" cy="722376"/>
          </a:xfrm>
          <a:prstGeom prst="roundRect">
            <a:avLst>
              <a:gd name="adj" fmla="val 16456"/>
            </a:avLst>
          </a:prstGeom>
          <a:solidFill>
            <a:srgbClr val="F4F8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161288"/>
            <a:ext cx="1041501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82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equilibrium:  W = 21.33L,  R = 4L,  S = 54L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58952" y="2039112"/>
            <a:ext cx="10652760" cy="722376"/>
          </a:xfrm>
          <a:prstGeom prst="roundRect">
            <a:avLst>
              <a:gd name="adj" fmla="val 16456"/>
            </a:avLst>
          </a:prstGeom>
          <a:solidFill>
            <a:srgbClr val="F4F8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2084832"/>
            <a:ext cx="1041501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82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h(L) = rL / (1 − exp(−qL))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758952" y="2971800"/>
            <a:ext cx="10652760" cy="923544"/>
          </a:xfrm>
          <a:prstGeom prst="roundRect">
            <a:avLst>
              <a:gd name="adj" fmla="val 12871"/>
            </a:avLst>
          </a:prstGeom>
          <a:solidFill>
            <a:srgbClr val="F4F8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3017520"/>
            <a:ext cx="1041501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182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 = Dcurve(L)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978408" y="4343400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2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positive conducting equilibrium is recovered from a root of this scalar equation.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78408" y="5669280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B7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reduction concerns equilibria only—not the time-dependent six-state ODE.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F2B43"/>
          </a:solidFill>
          <a:ln w="12700">
            <a:solidFill>
              <a:srgbClr val="0F2B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00584"/>
            <a:ext cx="1152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Root counts: two candidates versus one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567160" y="6565392"/>
            <a:ext cx="292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19A"/>
                </a:solidFill>
              </a:rPr>
              <a:t>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21208" y="6519672"/>
            <a:ext cx="5486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5E6D76"/>
                </a:solidFill>
              </a:rPr>
              <a:t>RESULTS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170432"/>
            <a:ext cx="11247120" cy="39136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5532120"/>
            <a:ext cx="10561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number of positive self-consistent capacity candidates follows from the equilibrium curve.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F2B43"/>
          </a:solidFill>
          <a:ln w="12700">
            <a:solidFill>
              <a:srgbClr val="0F2B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00584"/>
            <a:ext cx="1152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Quantified equilibrium classification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567160" y="6565392"/>
            <a:ext cx="292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19A"/>
                </a:solidFill>
              </a:rPr>
              <a:t>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21208" y="6519672"/>
            <a:ext cx="5486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5E6D76"/>
                </a:solidFill>
              </a:rPr>
              <a:t>RESULTS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76072" y="1481328"/>
            <a:ext cx="1143000" cy="466344"/>
          </a:xfrm>
          <a:prstGeom prst="rect">
            <a:avLst/>
          </a:prstGeom>
          <a:solidFill>
            <a:srgbClr val="0F2B43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54480"/>
            <a:ext cx="923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719072" y="1481328"/>
            <a:ext cx="1965960" cy="466344"/>
          </a:xfrm>
          <a:prstGeom prst="rect">
            <a:avLst/>
          </a:prstGeom>
          <a:solidFill>
            <a:srgbClr val="0F2B43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1554480"/>
            <a:ext cx="174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Positive roots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685032" y="1481328"/>
            <a:ext cx="3218688" cy="466344"/>
          </a:xfrm>
          <a:prstGeom prst="rect">
            <a:avLst/>
          </a:prstGeom>
          <a:solidFill>
            <a:srgbClr val="0F2B43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94760" y="1554480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VPD threshold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903720" y="1481328"/>
            <a:ext cx="5285232" cy="466344"/>
          </a:xfrm>
          <a:prstGeom prst="rect">
            <a:avLst/>
          </a:prstGeom>
          <a:solidFill>
            <a:srgbClr val="0F2B43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13448" y="1554480"/>
            <a:ext cx="5065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Stability message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76072" y="1947672"/>
            <a:ext cx="1143000" cy="9418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2011680"/>
            <a:ext cx="960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2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E0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1719072" y="1947672"/>
            <a:ext cx="1965960" cy="9418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10512" y="201168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E6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 to 2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3685032" y="1947672"/>
            <a:ext cx="3218688" cy="9418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76472" y="2011680"/>
            <a:ext cx="3035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E6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Fold 2.472 kPa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903720" y="1947672"/>
            <a:ext cx="5285232" cy="9418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95160" y="2011680"/>
            <a:ext cx="5102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E6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High-L stable; low-L saddle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576072" y="2889504"/>
            <a:ext cx="1143000" cy="941832"/>
          </a:xfrm>
          <a:prstGeom prst="rect">
            <a:avLst/>
          </a:prstGeom>
          <a:solidFill>
            <a:srgbClr val="F5F8F9"/>
          </a:solidFill>
          <a:ln w="6350">
            <a:solidFill>
              <a:srgbClr val="E0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" y="2953512"/>
            <a:ext cx="960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2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E1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1719072" y="2889504"/>
            <a:ext cx="1965960" cy="941832"/>
          </a:xfrm>
          <a:prstGeom prst="rect">
            <a:avLst/>
          </a:prstGeom>
          <a:solidFill>
            <a:srgbClr val="F5F8F9"/>
          </a:solidFill>
          <a:ln w="6350">
            <a:solidFill>
              <a:srgbClr val="E0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10512" y="2953512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E6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 to 2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3685032" y="2889504"/>
            <a:ext cx="3218688" cy="941832"/>
          </a:xfrm>
          <a:prstGeom prst="rect">
            <a:avLst/>
          </a:prstGeom>
          <a:solidFill>
            <a:srgbClr val="F5F8F9"/>
          </a:solidFill>
          <a:ln w="6350">
            <a:solidFill>
              <a:srgbClr val="E0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76472" y="2953512"/>
            <a:ext cx="3035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E6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Fold 1.547 kPa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6903720" y="2889504"/>
            <a:ext cx="5285232" cy="941832"/>
          </a:xfrm>
          <a:prstGeom prst="rect">
            <a:avLst/>
          </a:prstGeom>
          <a:solidFill>
            <a:srgbClr val="F5F8F9"/>
          </a:solidFill>
          <a:ln w="6350">
            <a:solidFill>
              <a:srgbClr val="E0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95160" y="2953512"/>
            <a:ext cx="5102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E6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High-L stable; low-L unstable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576072" y="3831336"/>
            <a:ext cx="1143000" cy="9418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" y="3895344"/>
            <a:ext cx="960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2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E4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1719072" y="3831336"/>
            <a:ext cx="1965960" cy="9418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10512" y="3895344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E6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Exactly 1 or 0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3685032" y="3831336"/>
            <a:ext cx="3218688" cy="9418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76472" y="3895344"/>
            <a:ext cx="3035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E6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Positive root for VPD &lt; 4.807 kPa</a:t>
            </a:r>
            <a:endParaRPr lang="en-US" sz="1700" dirty="0"/>
          </a:p>
        </p:txBody>
      </p:sp>
      <p:sp>
        <p:nvSpPr>
          <p:cNvPr id="36" name="Shape 34"/>
          <p:cNvSpPr/>
          <p:nvPr/>
        </p:nvSpPr>
        <p:spPr>
          <a:xfrm>
            <a:off x="6903720" y="3831336"/>
            <a:ext cx="5285232" cy="9418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95160" y="3895344"/>
            <a:ext cx="5102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E6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lose stability at Hopf</a:t>
            </a:r>
            <a:endParaRPr lang="en-US" sz="1700" dirty="0"/>
          </a:p>
        </p:txBody>
      </p:sp>
      <p:sp>
        <p:nvSpPr>
          <p:cNvPr id="38" name="Shape 36"/>
          <p:cNvSpPr/>
          <p:nvPr/>
        </p:nvSpPr>
        <p:spPr>
          <a:xfrm>
            <a:off x="731520" y="5404104"/>
            <a:ext cx="10625328" cy="694944"/>
          </a:xfrm>
          <a:prstGeom prst="roundRect">
            <a:avLst>
              <a:gd name="adj" fmla="val 17105"/>
            </a:avLst>
          </a:prstGeom>
          <a:solidFill>
            <a:srgbClr val="FBF5EF"/>
          </a:solidFill>
          <a:ln w="12700">
            <a:solidFill>
              <a:srgbClr val="F0DDC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23544" y="5541264"/>
            <a:ext cx="101498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85C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E4 root-existence limit is mathematical; &gt;3.17 kPa exceeds saturation VPD at 25°C.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F2B43"/>
          </a:solidFill>
          <a:ln w="12700">
            <a:solidFill>
              <a:srgbClr val="0F2B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00584"/>
            <a:ext cx="1152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capacity candidate need not be an attractor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567160" y="6565392"/>
            <a:ext cx="292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19A"/>
                </a:solidFill>
              </a:rPr>
              <a:t>19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21208" y="6519672"/>
            <a:ext cx="5486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5E6D76"/>
                </a:solidFill>
              </a:rPr>
              <a:t>RESULTS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9808" y="1261872"/>
            <a:ext cx="10698480" cy="969264"/>
          </a:xfrm>
          <a:prstGeom prst="roundRect">
            <a:avLst>
              <a:gd name="adj" fmla="val 12264"/>
            </a:avLst>
          </a:prstGeom>
          <a:solidFill>
            <a:srgbClr val="F4F8FA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307592"/>
            <a:ext cx="1046073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82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every full equilibrium:   K(y*,v) = C*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86384" y="2651760"/>
            <a:ext cx="5193792" cy="1728216"/>
          </a:xfrm>
          <a:prstGeom prst="roundRect">
            <a:avLst>
              <a:gd name="adj" fmla="val 6878"/>
            </a:avLst>
          </a:prstGeom>
          <a:solidFill>
            <a:srgbClr val="F1F8F9"/>
          </a:solidFill>
          <a:ln w="12700">
            <a:solidFill>
              <a:srgbClr val="D6E1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2416" y="2880360"/>
            <a:ext cx="4663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7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E0 / E1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042416" y="3355848"/>
            <a:ext cx="45262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82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candidate capacities can coexist—only the high-L branch is stable.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199632" y="2651760"/>
            <a:ext cx="5202936" cy="1728216"/>
          </a:xfrm>
          <a:prstGeom prst="roundRect">
            <a:avLst>
              <a:gd name="adj" fmla="val 6878"/>
            </a:avLst>
          </a:prstGeom>
          <a:solidFill>
            <a:srgbClr val="FBF5EF"/>
          </a:solidFill>
          <a:ln w="12700">
            <a:solidFill>
              <a:srgbClr val="F0DD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3952" y="2880360"/>
            <a:ext cx="45354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47B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E4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473952" y="3355848"/>
            <a:ext cx="448970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82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unique candidate can become unstable at a Hopf bifurcation.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41248" y="5074920"/>
            <a:ext cx="106527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82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implication: existence, uniqueness, and attraction are distinct mathematical properties.</a:t>
            </a:r>
            <a:endParaRPr lang="en-US" sz="2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F2B43"/>
          </a:solidFill>
          <a:ln w="12700">
            <a:solidFill>
              <a:srgbClr val="0F2B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00584"/>
            <a:ext cx="1152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Hydraulic closure: capacity and stocks separate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567160" y="6565392"/>
            <a:ext cx="292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19A"/>
                </a:solidFill>
              </a:rPr>
              <a:t>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21208" y="6519672"/>
            <a:ext cx="5486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5E6D76"/>
                </a:solidFill>
              </a:rPr>
              <a:t>RESULTS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13232" y="1170432"/>
            <a:ext cx="5248656" cy="3026664"/>
          </a:xfrm>
          <a:prstGeom prst="roundRect">
            <a:avLst>
              <a:gd name="adj" fmla="val 3927"/>
            </a:avLst>
          </a:prstGeom>
          <a:solidFill>
            <a:srgbClr val="F1F8F9"/>
          </a:solidFill>
          <a:ln w="12700">
            <a:solidFill>
              <a:srgbClr val="D6E1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1426464"/>
            <a:ext cx="47548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7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Instantaneous closure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50976" y="2203704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82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gs = 0 → GPP = 0 → K = 0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987552" y="3182112"/>
            <a:ext cx="4718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82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Stocks C can still be positive.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190488" y="1170432"/>
            <a:ext cx="5248656" cy="3026664"/>
          </a:xfrm>
          <a:prstGeom prst="roundRect">
            <a:avLst>
              <a:gd name="adj" fmla="val 3927"/>
            </a:avLst>
          </a:prstGeom>
          <a:solidFill>
            <a:srgbClr val="FBF5EF"/>
          </a:solidFill>
          <a:ln w="12700">
            <a:solidFill>
              <a:srgbClr val="EEDA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3952" y="1426464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47B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non-assimilation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428232" y="2212848"/>
            <a:ext cx="473659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2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dC/dt = MC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455664" y="3182112"/>
            <a:ext cx="463600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82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C(t) → 0 only over time.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77824" y="4846320"/>
            <a:ext cx="10588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82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Additional result: with xylem closure, even gs &gt; 0 can coexist with K(t) → 0.</a:t>
            </a:r>
            <a:endParaRPr lang="en-US" sz="2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F2B43"/>
          </a:solidFill>
          <a:ln w="12700">
            <a:solidFill>
              <a:srgbClr val="0F2B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00584"/>
            <a:ext cx="1152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Same VPD, different initial states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567160" y="6565392"/>
            <a:ext cx="292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19A"/>
                </a:solidFill>
              </a:rPr>
              <a:t>21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21208" y="6519672"/>
            <a:ext cx="5486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5E6D76"/>
                </a:solidFill>
              </a:rPr>
              <a:t>RESULTS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987552"/>
            <a:ext cx="107533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82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VPD = 2.44 kPa. Initial leaf water potential is varied.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67512" y="1837944"/>
            <a:ext cx="2651760" cy="466344"/>
          </a:xfrm>
          <a:prstGeom prst="rect">
            <a:avLst/>
          </a:prstGeom>
          <a:solidFill>
            <a:srgbClr val="0F2B43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911096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 ψleaf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319272" y="1837944"/>
            <a:ext cx="4270248" cy="466344"/>
          </a:xfrm>
          <a:prstGeom prst="rect">
            <a:avLst/>
          </a:prstGeom>
          <a:solidFill>
            <a:srgbClr val="0F2B43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911096"/>
            <a:ext cx="4050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E0 outcome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589520" y="1837944"/>
            <a:ext cx="3941064" cy="466344"/>
          </a:xfrm>
          <a:prstGeom prst="rect">
            <a:avLst/>
          </a:prstGeom>
          <a:solidFill>
            <a:srgbClr val="0F2B43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99248" y="1911096"/>
            <a:ext cx="3721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E4 outcome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67512" y="2304288"/>
            <a:ext cx="26517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2368296"/>
            <a:ext cx="24688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−1.5 MPa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319272" y="2304288"/>
            <a:ext cx="4270248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10712" y="2368296"/>
            <a:ext cx="408736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Near healthy equilibrium after 100 y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589520" y="2304288"/>
            <a:ext cx="3941064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0" y="2368296"/>
            <a:ext cx="375818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Near healthy equilibrium after 100 y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67512" y="3127248"/>
            <a:ext cx="2651760" cy="822960"/>
          </a:xfrm>
          <a:prstGeom prst="rect">
            <a:avLst/>
          </a:prstGeom>
          <a:solidFill>
            <a:srgbClr val="F5F8F9"/>
          </a:solidFill>
          <a:ln w="6350">
            <a:solidFill>
              <a:srgbClr val="E0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" y="3191256"/>
            <a:ext cx="24688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−2.5 MPa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319272" y="3127248"/>
            <a:ext cx="4270248" cy="822960"/>
          </a:xfrm>
          <a:prstGeom prst="rect">
            <a:avLst/>
          </a:prstGeom>
          <a:solidFill>
            <a:srgbClr val="F5F8F9"/>
          </a:solidFill>
          <a:ln w="6350">
            <a:solidFill>
              <a:srgbClr val="E0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10712" y="3191256"/>
            <a:ext cx="408736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Leaf-domain exit ~14.15 y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589520" y="3127248"/>
            <a:ext cx="3941064" cy="822960"/>
          </a:xfrm>
          <a:prstGeom prst="rect">
            <a:avLst/>
          </a:prstGeom>
          <a:solidFill>
            <a:srgbClr val="F5F8F9"/>
          </a:solidFill>
          <a:ln w="6350">
            <a:solidFill>
              <a:srgbClr val="E0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80960" y="3191256"/>
            <a:ext cx="375818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Leaf-domain exit ~14.49 y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67512" y="3950208"/>
            <a:ext cx="26517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4014216"/>
            <a:ext cx="24688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−4.2 MPa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3319272" y="3950208"/>
            <a:ext cx="4270248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10712" y="4014216"/>
            <a:ext cx="408736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Leaf-domain exit ~14.15 y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7589520" y="3950208"/>
            <a:ext cx="3941064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0" y="4014216"/>
            <a:ext cx="375818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Leaf-domain exit ~14.49 y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67512" y="4773168"/>
            <a:ext cx="2651760" cy="822960"/>
          </a:xfrm>
          <a:prstGeom prst="rect">
            <a:avLst/>
          </a:prstGeom>
          <a:solidFill>
            <a:srgbClr val="F5F8F9"/>
          </a:solidFill>
          <a:ln w="6350">
            <a:solidFill>
              <a:srgbClr val="E0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4837176"/>
            <a:ext cx="24688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−3.5 MPa, very low L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3319272" y="4773168"/>
            <a:ext cx="4270248" cy="822960"/>
          </a:xfrm>
          <a:prstGeom prst="rect">
            <a:avLst/>
          </a:prstGeom>
          <a:solidFill>
            <a:srgbClr val="F5F8F9"/>
          </a:solidFill>
          <a:ln w="6350">
            <a:solidFill>
              <a:srgbClr val="E0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10712" y="4837176"/>
            <a:ext cx="408736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~0.87 y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7589520" y="4773168"/>
            <a:ext cx="3941064" cy="822960"/>
          </a:xfrm>
          <a:prstGeom prst="rect">
            <a:avLst/>
          </a:prstGeom>
          <a:solidFill>
            <a:srgbClr val="F5F8F9"/>
          </a:solidFill>
          <a:ln w="6350">
            <a:solidFill>
              <a:srgbClr val="E0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0" y="4837176"/>
            <a:ext cx="375818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~1.20 y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77824" y="6016752"/>
            <a:ext cx="10296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850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“Leaf-domain exit” means reaching the numerical Lmin cutoff—not observed mortality.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F2B43"/>
          </a:solidFill>
          <a:ln w="12700">
            <a:solidFill>
              <a:srgbClr val="0F2B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00584"/>
            <a:ext cx="1152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B / C: bifurcation meets tracking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567160" y="6565392"/>
            <a:ext cx="292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19A"/>
                </a:solidFill>
              </a:rPr>
              <a:t>22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21208" y="6519672"/>
            <a:ext cx="5486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5E6D76"/>
                </a:solidFill>
              </a:rPr>
              <a:t>DISCUSSION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490472"/>
            <a:ext cx="5349240" cy="466344"/>
          </a:xfrm>
          <a:prstGeom prst="rect">
            <a:avLst/>
          </a:prstGeom>
          <a:solidFill>
            <a:srgbClr val="0F2B43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563624"/>
            <a:ext cx="5129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Frozen-environment view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080760" y="1490472"/>
            <a:ext cx="5349240" cy="466344"/>
          </a:xfrm>
          <a:prstGeom prst="rect">
            <a:avLst/>
          </a:prstGeom>
          <a:solidFill>
            <a:srgbClr val="0F2B43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90488" y="1563624"/>
            <a:ext cx="5129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Time-dependent view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31520" y="1956816"/>
            <a:ext cx="534924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020824"/>
            <a:ext cx="5166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many equilibrium capacities exist?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080760" y="1956816"/>
            <a:ext cx="534924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2020824"/>
            <a:ext cx="5166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E6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the plant track a moving equilibrium?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31520" y="2944368"/>
            <a:ext cx="5349240" cy="987552"/>
          </a:xfrm>
          <a:prstGeom prst="rect">
            <a:avLst/>
          </a:prstGeom>
          <a:solidFill>
            <a:srgbClr val="F5F8F9"/>
          </a:solidFill>
          <a:ln w="6350">
            <a:solidFill>
              <a:srgbClr val="E0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008376"/>
            <a:ext cx="5166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 equilibria stable or unstable?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080760" y="2944368"/>
            <a:ext cx="5349240" cy="987552"/>
          </a:xfrm>
          <a:prstGeom prst="rect">
            <a:avLst/>
          </a:prstGeom>
          <a:solidFill>
            <a:srgbClr val="F5F8F9"/>
          </a:solidFill>
          <a:ln w="6350">
            <a:solidFill>
              <a:srgbClr val="E0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3008376"/>
            <a:ext cx="5166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E6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fast do responses decay or amplify?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31520" y="3931920"/>
            <a:ext cx="534924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995928"/>
            <a:ext cx="5166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do fold and Hopf occur?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080760" y="3931920"/>
            <a:ext cx="534924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3995928"/>
            <a:ext cx="5166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E6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initial states remain in the attracting region?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32104" y="5230368"/>
            <a:ext cx="10607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82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E4: a unique equilibrium loses stability near VPD 2.665 kPa; rapid changes can trigger leaf-domain exit.</a:t>
            </a:r>
            <a:endParaRPr lang="en-US" sz="2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F2B43"/>
          </a:solidFill>
          <a:ln w="12700">
            <a:solidFill>
              <a:srgbClr val="0F2B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00584"/>
            <a:ext cx="1152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Discussion: what is actually established?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567160" y="6565392"/>
            <a:ext cx="292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19A"/>
                </a:solidFill>
              </a:rPr>
              <a:t>23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21208" y="6519672"/>
            <a:ext cx="5486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5E6D76"/>
                </a:solidFill>
              </a:rPr>
              <a:t>DISCUSSION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8368" y="1133856"/>
            <a:ext cx="10890504" cy="932688"/>
          </a:xfrm>
          <a:prstGeom prst="roundRect">
            <a:avLst>
              <a:gd name="adj" fmla="val 12745"/>
            </a:avLst>
          </a:prstGeom>
          <a:solidFill>
            <a:srgbClr val="F5F8F9"/>
          </a:solidFill>
          <a:ln w="12700">
            <a:solidFill>
              <a:srgbClr val="D6E1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28930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7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Proved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163824" y="1261872"/>
            <a:ext cx="80741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82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Positive conducting equilibria reduce to one scalar equation. E0/E1 have one fold; baseline E4 is monotone.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8368" y="2295144"/>
            <a:ext cx="10890504" cy="932688"/>
          </a:xfrm>
          <a:prstGeom prst="roundRect">
            <a:avLst>
              <a:gd name="adj" fmla="val 12745"/>
            </a:avLst>
          </a:prstGeom>
          <a:solidFill>
            <a:srgbClr val="F5F8F9"/>
          </a:solidFill>
          <a:ln w="12700">
            <a:solidFill>
              <a:srgbClr val="D6E1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45059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7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Proved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163824" y="2423160"/>
            <a:ext cx="80741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82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Stomatal closure implies K = 0. Sustained closure drives carbon stocks toward zero in the formal equations.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58368" y="3456432"/>
            <a:ext cx="10890504" cy="932688"/>
          </a:xfrm>
          <a:prstGeom prst="roundRect">
            <a:avLst>
              <a:gd name="adj" fmla="val 12745"/>
            </a:avLst>
          </a:prstGeom>
          <a:solidFill>
            <a:srgbClr val="F5F8F9"/>
          </a:solidFill>
          <a:ln w="12700">
            <a:solidFill>
              <a:srgbClr val="D6E1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361188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7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Numerically checked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163824" y="3584448"/>
            <a:ext cx="80741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82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E4 has a local subcritical Hopf; fixed-VPD initial conditions can give very different outcomes.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58368" y="4617720"/>
            <a:ext cx="10890504" cy="932688"/>
          </a:xfrm>
          <a:prstGeom prst="roundRect">
            <a:avLst>
              <a:gd name="adj" fmla="val 12745"/>
            </a:avLst>
          </a:prstGeom>
          <a:solidFill>
            <a:srgbClr val="FBF5EF"/>
          </a:solidFill>
          <a:ln w="12700">
            <a:solidFill>
              <a:srgbClr val="D6E1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477316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47B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yet established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3163824" y="4745736"/>
            <a:ext cx="80741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82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Real-tree mortality, global basin boundaries, or a general physiological VPD tipping threshold.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F2B43"/>
          </a:solidFill>
          <a:ln w="12700">
            <a:solidFill>
              <a:srgbClr val="0F2B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00584"/>
            <a:ext cx="1152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 conclusion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567160" y="6565392"/>
            <a:ext cx="292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19A"/>
                </a:solidFill>
              </a:rPr>
              <a:t>24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21208" y="6519672"/>
            <a:ext cx="5486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5E6D76"/>
                </a:solidFill>
              </a:rPr>
              <a:t>DISCUSSION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68680" y="1408176"/>
            <a:ext cx="10442448" cy="3035808"/>
          </a:xfrm>
          <a:prstGeom prst="roundRect">
            <a:avLst>
              <a:gd name="adj" fmla="val 3916"/>
            </a:avLst>
          </a:prstGeom>
          <a:solidFill>
            <a:srgbClr val="F1F8F9"/>
          </a:solidFill>
          <a:ln w="12700">
            <a:solidFill>
              <a:srgbClr val="C9DF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9576" y="1874520"/>
            <a:ext cx="9829800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82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Carbon storage capacity remains mathematically definable—but in a nonlinear coupled system it is not automatically a unique, stable, or reachable storage target.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923544" y="4928616"/>
            <a:ext cx="10378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B7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next step is to identify which initial conditions lead to the positive capacity branch versus persistent low-assimilation dynamics.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F2B43"/>
          </a:solidFill>
          <a:ln w="12700">
            <a:solidFill>
              <a:srgbClr val="0F2B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00584"/>
            <a:ext cx="1152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567160" y="6565392"/>
            <a:ext cx="292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19A"/>
                </a:solidFill>
              </a:rPr>
              <a:t>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21208" y="6519672"/>
            <a:ext cx="5486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5E6D76"/>
                </a:solidFill>
              </a:rPr>
              <a:t>FUTURE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12648" y="1133856"/>
            <a:ext cx="10972800" cy="969264"/>
          </a:xfrm>
          <a:prstGeom prst="roundRect">
            <a:avLst>
              <a:gd name="adj" fmla="val 12264"/>
            </a:avLst>
          </a:prstGeom>
          <a:solidFill>
            <a:srgbClr val="F6F8F9"/>
          </a:solidFill>
          <a:ln w="12700">
            <a:solidFill>
              <a:srgbClr val="D6E1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" y="1371600"/>
            <a:ext cx="5303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7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91056" y="1234440"/>
            <a:ext cx="9564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2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Classify the basin boundary for fixed VPD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591056" y="1682496"/>
            <a:ext cx="9537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one-way E0; compare with E4 feedback.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2648" y="2322576"/>
            <a:ext cx="10972800" cy="969264"/>
          </a:xfrm>
          <a:prstGeom prst="roundRect">
            <a:avLst>
              <a:gd name="adj" fmla="val 12264"/>
            </a:avLst>
          </a:prstGeom>
          <a:solidFill>
            <a:srgbClr val="F6F8F9"/>
          </a:solidFill>
          <a:ln w="12700">
            <a:solidFill>
              <a:srgbClr val="D6E1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" y="2560320"/>
            <a:ext cx="5303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7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91056" y="2423160"/>
            <a:ext cx="9564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2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local bifurcation results to long-run outcomes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591056" y="2871216"/>
            <a:ext cx="9537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unstable periodic orbits separate from true attractors.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2648" y="3511296"/>
            <a:ext cx="10972800" cy="969264"/>
          </a:xfrm>
          <a:prstGeom prst="roundRect">
            <a:avLst>
              <a:gd name="adj" fmla="val 12264"/>
            </a:avLst>
          </a:prstGeom>
          <a:solidFill>
            <a:srgbClr val="F6F8F9"/>
          </a:solidFill>
          <a:ln w="12700">
            <a:solidFill>
              <a:srgbClr val="D6E1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" y="3749040"/>
            <a:ext cx="5303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7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591056" y="3611880"/>
            <a:ext cx="9564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2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robustness to uncertain physiological assumptions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591056" y="4059936"/>
            <a:ext cx="9537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Prioritize qualitative capacity conclusions over new detailed wood anatomy.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2648" y="4700016"/>
            <a:ext cx="10972800" cy="969264"/>
          </a:xfrm>
          <a:prstGeom prst="roundRect">
            <a:avLst>
              <a:gd name="adj" fmla="val 12264"/>
            </a:avLst>
          </a:prstGeom>
          <a:solidFill>
            <a:srgbClr val="F6F8F9"/>
          </a:solidFill>
          <a:ln w="12700">
            <a:solidFill>
              <a:srgbClr val="D6E1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" y="4937760"/>
            <a:ext cx="5303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7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591056" y="4800600"/>
            <a:ext cx="9564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2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Clarify when capacity can be interpreted as a prediction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1591056" y="5248656"/>
            <a:ext cx="9537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assumptions on equilibria, stability, and initial states.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F2B43"/>
          </a:solidFill>
          <a:ln w="12700">
            <a:solidFill>
              <a:srgbClr val="0F2B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00584"/>
            <a:ext cx="1152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Selected references &amp; research sources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567160" y="6565392"/>
            <a:ext cx="292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19A"/>
                </a:solidFill>
              </a:rPr>
              <a:t>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21208" y="6519672"/>
            <a:ext cx="5486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5E6D76"/>
                </a:solidFill>
              </a:rPr>
              <a:t>REFERENCES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4672" y="1216152"/>
            <a:ext cx="106801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82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Olson (1963), Ecology 44, 322–331. doi:10.2307/1932179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4672" y="2066544"/>
            <a:ext cx="106801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82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Luo &amp; Weng (2011), Trends Ecol. Evol. 26, 96–104. doi:10.1016/j.tree.2010.11.003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2916936"/>
            <a:ext cx="106801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82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Luo et al. (2022), JAMES 14, e2022MS003008. doi:10.1029/2022MS003008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3767328"/>
            <a:ext cx="106801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82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Manzoni et al. (2014), Water Resour. Res. 50, 5170–5183. doi:10.1002/2013WR015236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4672" y="4617720"/>
            <a:ext cx="106801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82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Control_carbon_model, commit b827521 (2026-10-14): scalar equilibrium and capacity analysis.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50392" y="5980176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7B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model calculations are not empirical calibration results.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Progress Report</dc:title>
  <dc:subject>Nonlinear carbon storage capacity</dc:subject>
  <dc:creator>Research presentation support</dc:creator>
  <cp:lastModifiedBy>Research presentation support</cp:lastModifiedBy>
  <cp:revision>1</cp:revision>
  <dcterms:created xsi:type="dcterms:W3CDTF">2026-10-14T11:50:05Z</dcterms:created>
  <dcterms:modified xsi:type="dcterms:W3CDTF">2026-10-14T11:50:05Z</dcterms:modified>
</cp:coreProperties>
</file>