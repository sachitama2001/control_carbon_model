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308" r:id="rId4"/>
    <p:sldId id="286" r:id="rId5"/>
    <p:sldId id="258" r:id="rId6"/>
    <p:sldId id="259" r:id="rId7"/>
    <p:sldId id="261" r:id="rId8"/>
    <p:sldId id="287" r:id="rId9"/>
    <p:sldId id="275" r:id="rId10"/>
    <p:sldId id="281" r:id="rId11"/>
    <p:sldId id="265" r:id="rId12"/>
    <p:sldId id="262" r:id="rId13"/>
    <p:sldId id="291" r:id="rId14"/>
    <p:sldId id="263" r:id="rId15"/>
    <p:sldId id="264" r:id="rId16"/>
    <p:sldId id="266" r:id="rId17"/>
    <p:sldId id="272" r:id="rId18"/>
    <p:sldId id="273" r:id="rId19"/>
    <p:sldId id="267" r:id="rId20"/>
    <p:sldId id="268" r:id="rId21"/>
    <p:sldId id="277" r:id="rId22"/>
    <p:sldId id="278" r:id="rId23"/>
    <p:sldId id="279" r:id="rId24"/>
    <p:sldId id="269" r:id="rId25"/>
    <p:sldId id="280" r:id="rId26"/>
    <p:sldId id="270" r:id="rId27"/>
    <p:sldId id="271" r:id="rId28"/>
    <p:sldId id="276" r:id="rId29"/>
    <p:sldId id="274" r:id="rId30"/>
    <p:sldId id="285" r:id="rId31"/>
    <p:sldId id="296" r:id="rId32"/>
    <p:sldId id="297" r:id="rId33"/>
    <p:sldId id="288" r:id="rId34"/>
    <p:sldId id="292" r:id="rId35"/>
    <p:sldId id="293" r:id="rId36"/>
    <p:sldId id="294" r:id="rId37"/>
    <p:sldId id="295" r:id="rId38"/>
    <p:sldId id="283" r:id="rId39"/>
    <p:sldId id="282" r:id="rId40"/>
    <p:sldId id="303" r:id="rId41"/>
    <p:sldId id="307" r:id="rId42"/>
    <p:sldId id="304" r:id="rId43"/>
    <p:sldId id="305" r:id="rId44"/>
    <p:sldId id="306" r:id="rId45"/>
    <p:sldId id="260" r:id="rId46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76" autoAdjust="0"/>
    <p:restoredTop sz="86395" autoAdjust="0"/>
  </p:normalViewPr>
  <p:slideViewPr>
    <p:cSldViewPr snapToGrid="0">
      <p:cViewPr varScale="1">
        <p:scale>
          <a:sx n="110" d="100"/>
          <a:sy n="110" d="100"/>
        </p:scale>
        <p:origin x="39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32.emf"/><Relationship Id="rId7" Type="http://schemas.openxmlformats.org/officeDocument/2006/relationships/image" Target="../media/image36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10" Type="http://schemas.openxmlformats.org/officeDocument/2006/relationships/image" Target="../media/image39.emf"/><Relationship Id="rId4" Type="http://schemas.openxmlformats.org/officeDocument/2006/relationships/image" Target="../media/image33.emf"/><Relationship Id="rId9" Type="http://schemas.openxmlformats.org/officeDocument/2006/relationships/image" Target="../media/image3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56.emf"/><Relationship Id="rId7" Type="http://schemas.openxmlformats.org/officeDocument/2006/relationships/image" Target="../media/image60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image" Target="../media/image68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Relationship Id="rId4" Type="http://schemas.openxmlformats.org/officeDocument/2006/relationships/image" Target="../media/image82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image" Target="../media/image85.emf"/><Relationship Id="rId5" Type="http://schemas.openxmlformats.org/officeDocument/2006/relationships/image" Target="../media/image89.emf"/><Relationship Id="rId4" Type="http://schemas.openxmlformats.org/officeDocument/2006/relationships/image" Target="../media/image8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AFD0C-05E2-F24D-A82E-0406D83FA15A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20765-5283-204E-9F89-3F4D21F8E0E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9498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20765-5283-204E-9F89-3F4D21F8E0E4}" type="slidenum">
              <a:rPr lang="ja-JP" altLang="en-US" smtClean="0"/>
              <a:pPr/>
              <a:t>20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と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/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BEDD9-8419-5146-8F85-C2AA60506F0B}" type="datetimeFigureOut">
              <a:rPr lang="ja-JP" altLang="en-US" smtClean="0"/>
              <a:pPr/>
              <a:t>2020/8/12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5CD6B-43FA-7246-80BE-CFF03F451F3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jpe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34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png"/><Relationship Id="rId21" Type="http://schemas.openxmlformats.org/officeDocument/2006/relationships/image" Target="../media/image38.emf"/><Relationship Id="rId7" Type="http://schemas.openxmlformats.org/officeDocument/2006/relationships/image" Target="../media/image31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36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33.emf"/><Relationship Id="rId24" Type="http://schemas.openxmlformats.org/officeDocument/2006/relationships/image" Target="../media/image40.png"/><Relationship Id="rId5" Type="http://schemas.openxmlformats.org/officeDocument/2006/relationships/image" Target="../media/image30.emf"/><Relationship Id="rId15" Type="http://schemas.openxmlformats.org/officeDocument/2006/relationships/image" Target="../media/image35.emf"/><Relationship Id="rId23" Type="http://schemas.openxmlformats.org/officeDocument/2006/relationships/image" Target="../media/image39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37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32.e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44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1.emf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43.emf"/><Relationship Id="rId5" Type="http://schemas.openxmlformats.org/officeDocument/2006/relationships/image" Target="../media/image46.png"/><Relationship Id="rId15" Type="http://schemas.openxmlformats.org/officeDocument/2006/relationships/image" Target="../media/image45.emf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1.png"/><Relationship Id="rId9" Type="http://schemas.openxmlformats.org/officeDocument/2006/relationships/image" Target="../media/image42.emf"/><Relationship Id="rId14" Type="http://schemas.openxmlformats.org/officeDocument/2006/relationships/oleObject" Target="../embeddings/oleObject1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oleObject" Target="../embeddings/oleObject21.bin"/><Relationship Id="rId3" Type="http://schemas.openxmlformats.org/officeDocument/2006/relationships/image" Target="../media/image1.png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50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47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49.emf"/><Relationship Id="rId4" Type="http://schemas.openxmlformats.org/officeDocument/2006/relationships/image" Target="../media/image53.png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51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60.emf"/><Relationship Id="rId3" Type="http://schemas.openxmlformats.org/officeDocument/2006/relationships/image" Target="../media/image1.png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57.e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emf"/><Relationship Id="rId20" Type="http://schemas.openxmlformats.org/officeDocument/2006/relationships/image" Target="../media/image61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56.e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46.png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58.emf"/><Relationship Id="rId22" Type="http://schemas.openxmlformats.org/officeDocument/2006/relationships/image" Target="../media/image62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36.bin"/><Relationship Id="rId3" Type="http://schemas.openxmlformats.org/officeDocument/2006/relationships/image" Target="../media/image1.png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6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65.emf"/><Relationship Id="rId4" Type="http://schemas.openxmlformats.org/officeDocument/2006/relationships/image" Target="../media/image46.png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67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13" Type="http://schemas.openxmlformats.org/officeDocument/2006/relationships/image" Target="../media/image74.png"/><Relationship Id="rId3" Type="http://schemas.openxmlformats.org/officeDocument/2006/relationships/image" Target="../media/image1.png"/><Relationship Id="rId7" Type="http://schemas.openxmlformats.org/officeDocument/2006/relationships/image" Target="../media/image69.emf"/><Relationship Id="rId12" Type="http://schemas.openxmlformats.org/officeDocument/2006/relationships/image" Target="../media/image7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8.bin"/><Relationship Id="rId11" Type="http://schemas.openxmlformats.org/officeDocument/2006/relationships/oleObject" Target="../embeddings/oleObject40.bin"/><Relationship Id="rId5" Type="http://schemas.openxmlformats.org/officeDocument/2006/relationships/image" Target="../media/image68.emf"/><Relationship Id="rId15" Type="http://schemas.openxmlformats.org/officeDocument/2006/relationships/image" Target="../media/image72.emf"/><Relationship Id="rId10" Type="http://schemas.openxmlformats.org/officeDocument/2006/relationships/image" Target="../media/image70.emf"/><Relationship Id="rId4" Type="http://schemas.openxmlformats.org/officeDocument/2006/relationships/oleObject" Target="../embeddings/oleObject37.bin"/><Relationship Id="rId9" Type="http://schemas.openxmlformats.org/officeDocument/2006/relationships/oleObject" Target="../embeddings/oleObject39.bin"/><Relationship Id="rId14" Type="http://schemas.openxmlformats.org/officeDocument/2006/relationships/oleObject" Target="../embeddings/oleObject4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jpe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80.emf"/><Relationship Id="rId12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82.emf"/><Relationship Id="rId5" Type="http://schemas.openxmlformats.org/officeDocument/2006/relationships/image" Target="../media/image79.e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81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image" Target="../media/image90.png"/><Relationship Id="rId3" Type="http://schemas.openxmlformats.org/officeDocument/2006/relationships/image" Target="../media/image1.png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8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5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image" Target="../media/image89.emf"/><Relationship Id="rId10" Type="http://schemas.openxmlformats.org/officeDocument/2006/relationships/image" Target="../media/image87.emf"/><Relationship Id="rId4" Type="http://schemas.openxmlformats.org/officeDocument/2006/relationships/image" Target="../media/image2.png"/><Relationship Id="rId9" Type="http://schemas.openxmlformats.org/officeDocument/2006/relationships/oleObject" Target="../embeddings/oleObject48.bin"/><Relationship Id="rId14" Type="http://schemas.openxmlformats.org/officeDocument/2006/relationships/oleObject" Target="../embeddings/oleObject50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/>
          <a:lstStyle/>
          <a:p>
            <a:r>
              <a:rPr lang="en-US" altLang="ja-JP" b="1" dirty="0"/>
              <a:t>VISIT: structure and usage</a:t>
            </a:r>
            <a:endParaRPr lang="ja-JP" altLang="en-US" b="1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589548" y="5325806"/>
            <a:ext cx="6300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Akihiko Ito (National Institute for Environmental Studies)</a:t>
            </a:r>
            <a:endParaRPr kumimoji="1" lang="ja-JP" altLang="en-US" b="1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3807" y="524387"/>
            <a:ext cx="2449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2020/08/12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“Ordinary” explanation</a:t>
            </a:r>
            <a:endParaRPr lang="ja-JP" altLang="en-US" sz="3200" dirty="0"/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2271234" y="1096336"/>
            <a:ext cx="632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 b="1" dirty="0">
                <a:latin typeface="Calibri"/>
                <a:cs typeface="Calibri"/>
              </a:rPr>
              <a:t>Vegetation Integrated </a:t>
            </a:r>
            <a:r>
              <a:rPr lang="en-US" altLang="ja-JP" sz="2000" b="1" dirty="0" err="1">
                <a:latin typeface="Calibri"/>
                <a:cs typeface="Calibri"/>
              </a:rPr>
              <a:t>SImulator</a:t>
            </a:r>
            <a:r>
              <a:rPr lang="en-US" altLang="ja-JP" sz="2000" b="1" dirty="0">
                <a:latin typeface="Calibri"/>
                <a:cs typeface="Calibri"/>
              </a:rPr>
              <a:t> for Trace gases</a:t>
            </a:r>
          </a:p>
        </p:txBody>
      </p:sp>
      <p:pic>
        <p:nvPicPr>
          <p:cNvPr id="5" name="Picture 17" descr="cn_model_structur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7067" y="3329204"/>
            <a:ext cx="4469556" cy="2856658"/>
          </a:xfrm>
          <a:prstGeom prst="rect">
            <a:avLst/>
          </a:prstGeom>
          <a:noFill/>
        </p:spPr>
      </p:pic>
      <p:pic>
        <p:nvPicPr>
          <p:cNvPr id="6" name="Picture 18" descr="visit_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1034" y="1096336"/>
            <a:ext cx="1447800" cy="392113"/>
          </a:xfrm>
          <a:prstGeom prst="rect">
            <a:avLst/>
          </a:prstGeom>
          <a:noFill/>
        </p:spPr>
      </p:pic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988793" y="1665515"/>
            <a:ext cx="7377228" cy="1509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800" b="1" dirty="0">
                <a:latin typeface="Calibri"/>
                <a:cs typeface="Calibri"/>
              </a:rPr>
              <a:t>Objectives</a:t>
            </a:r>
            <a:endParaRPr lang="en-US" altLang="ja-JP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800" dirty="0">
                <a:latin typeface="Calibri"/>
                <a:cs typeface="Calibri"/>
              </a:rPr>
              <a:t>• Atmosphere-ecosystem biogeochemical interactions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800" dirty="0">
                <a:latin typeface="Calibri"/>
                <a:cs typeface="Calibri"/>
              </a:rPr>
              <a:t>• Especially, major greenhouse gases (CO</a:t>
            </a:r>
            <a:r>
              <a:rPr lang="en-US" altLang="ja-JP" sz="1800" baseline="-25000" dirty="0">
                <a:latin typeface="Calibri"/>
                <a:cs typeface="Calibri"/>
              </a:rPr>
              <a:t>2</a:t>
            </a:r>
            <a:r>
              <a:rPr lang="en-US" altLang="ja-JP" sz="1800" dirty="0">
                <a:latin typeface="Calibri"/>
                <a:cs typeface="Calibri"/>
              </a:rPr>
              <a:t>, CH</a:t>
            </a:r>
            <a:r>
              <a:rPr lang="en-US" altLang="ja-JP" sz="1800" baseline="-25000" dirty="0">
                <a:latin typeface="Calibri"/>
                <a:cs typeface="Calibri"/>
              </a:rPr>
              <a:t>4</a:t>
            </a:r>
            <a:r>
              <a:rPr lang="en-US" altLang="ja-JP" sz="1800" dirty="0">
                <a:latin typeface="Calibri"/>
                <a:cs typeface="Calibri"/>
              </a:rPr>
              <a:t>, and N</a:t>
            </a:r>
            <a:r>
              <a:rPr lang="en-US" altLang="ja-JP" sz="1800" baseline="-25000" dirty="0">
                <a:latin typeface="Calibri"/>
                <a:cs typeface="Calibri"/>
              </a:rPr>
              <a:t>2</a:t>
            </a:r>
            <a:r>
              <a:rPr lang="en-US" altLang="ja-JP" sz="1800" dirty="0">
                <a:latin typeface="Calibri"/>
                <a:cs typeface="Calibri"/>
              </a:rPr>
              <a:t>O) budget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ja-JP" sz="1800" dirty="0">
                <a:latin typeface="Calibri"/>
                <a:cs typeface="Calibri"/>
              </a:rPr>
              <a:t>• Assessment of climatic impacts and biotic feedbacks</a:t>
            </a:r>
          </a:p>
        </p:txBody>
      </p:sp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809262" y="6125536"/>
            <a:ext cx="1575271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ja-JP" sz="1600" i="1" dirty="0">
                <a:latin typeface="Calibri"/>
                <a:cs typeface="Calibri"/>
              </a:rPr>
              <a:t>Carbon-cycle</a:t>
            </a:r>
          </a:p>
          <a:p>
            <a:r>
              <a:rPr lang="en-US" altLang="ja-JP" sz="1400" i="1" dirty="0">
                <a:latin typeface="Calibri"/>
                <a:cs typeface="Calibri"/>
              </a:rPr>
              <a:t>(</a:t>
            </a:r>
            <a:r>
              <a:rPr lang="en-US" altLang="ja-JP" sz="1400" i="1" dirty="0" err="1">
                <a:latin typeface="Calibri"/>
                <a:cs typeface="Calibri"/>
              </a:rPr>
              <a:t>Sim</a:t>
            </a:r>
            <a:r>
              <a:rPr lang="en-US" altLang="ja-JP" sz="1400" i="1" dirty="0">
                <a:latin typeface="Calibri"/>
                <a:cs typeface="Calibri"/>
              </a:rPr>
              <a:t>-CYCLE-based)</a:t>
            </a:r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2942862" y="6125536"/>
            <a:ext cx="14364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ja-JP" sz="1600" i="1" dirty="0">
                <a:latin typeface="Calibri"/>
                <a:cs typeface="Calibri"/>
              </a:rPr>
              <a:t>Nitrogen-cycle</a:t>
            </a:r>
          </a:p>
        </p:txBody>
      </p:sp>
      <p:sp>
        <p:nvSpPr>
          <p:cNvPr id="10" name="Text Box 22"/>
          <p:cNvSpPr txBox="1">
            <a:spLocks noChangeArrowheads="1"/>
          </p:cNvSpPr>
          <p:nvPr/>
        </p:nvSpPr>
        <p:spPr bwMode="auto">
          <a:xfrm>
            <a:off x="5064249" y="3388204"/>
            <a:ext cx="3726092" cy="2611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ja-JP" sz="1600" b="1" dirty="0">
                <a:latin typeface="Calibri"/>
                <a:cs typeface="Calibri"/>
              </a:rPr>
              <a:t>Point-global, daily-monthly</a:t>
            </a:r>
            <a:endParaRPr lang="en-US" altLang="ja-JP" sz="160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ja-JP" sz="1600" dirty="0">
                <a:latin typeface="Calibri"/>
                <a:cs typeface="Calibri"/>
              </a:rPr>
              <a:t>- CO</a:t>
            </a:r>
            <a:r>
              <a:rPr lang="en-US" altLang="ja-JP" sz="1600" baseline="-25000" dirty="0">
                <a:latin typeface="Calibri"/>
                <a:cs typeface="Calibri"/>
              </a:rPr>
              <a:t>2</a:t>
            </a:r>
            <a:r>
              <a:rPr lang="en-US" altLang="ja-JP" sz="1600" dirty="0">
                <a:latin typeface="Calibri"/>
                <a:cs typeface="Calibri"/>
              </a:rPr>
              <a:t>: photosynthesis &amp; respiration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ja-JP" sz="1600" dirty="0">
                <a:latin typeface="Calibri"/>
                <a:cs typeface="Calibri"/>
              </a:rPr>
              <a:t>- CH</a:t>
            </a:r>
            <a:r>
              <a:rPr lang="en-US" altLang="ja-JP" sz="1600" baseline="-25000" dirty="0">
                <a:latin typeface="Calibri"/>
                <a:cs typeface="Calibri"/>
              </a:rPr>
              <a:t>4</a:t>
            </a:r>
            <a:r>
              <a:rPr lang="en-US" altLang="ja-JP" sz="1600" dirty="0">
                <a:latin typeface="Calibri"/>
                <a:cs typeface="Calibri"/>
              </a:rPr>
              <a:t>: production &amp; oxidation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ja-JP" sz="1600" dirty="0">
                <a:latin typeface="Calibri"/>
                <a:cs typeface="Calibri"/>
              </a:rPr>
              <a:t>- N</a:t>
            </a:r>
            <a:r>
              <a:rPr lang="en-US" altLang="ja-JP" sz="1600" baseline="-25000" dirty="0">
                <a:latin typeface="Calibri"/>
                <a:cs typeface="Calibri"/>
              </a:rPr>
              <a:t>2</a:t>
            </a:r>
            <a:r>
              <a:rPr lang="en-US" altLang="ja-JP" sz="1600" dirty="0">
                <a:latin typeface="Calibri"/>
                <a:cs typeface="Calibri"/>
              </a:rPr>
              <a:t>O: nitrification &amp; </a:t>
            </a:r>
            <a:r>
              <a:rPr lang="en-US" altLang="ja-JP" sz="1600" dirty="0" err="1">
                <a:latin typeface="Calibri"/>
                <a:cs typeface="Calibri"/>
              </a:rPr>
              <a:t>denitrification</a:t>
            </a:r>
            <a:endParaRPr lang="en-US" altLang="ja-JP" sz="160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ja-JP" sz="1600" dirty="0">
                <a:latin typeface="Calibri"/>
                <a:cs typeface="Calibri"/>
              </a:rPr>
              <a:t>- LUC emission: cropland conversion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ja-JP" sz="1600" dirty="0">
                <a:latin typeface="Calibri"/>
                <a:cs typeface="Calibri"/>
              </a:rPr>
              <a:t>- Fire emission: CO</a:t>
            </a:r>
            <a:r>
              <a:rPr lang="en-US" altLang="ja-JP" sz="1600" baseline="-25000" dirty="0">
                <a:latin typeface="Calibri"/>
                <a:cs typeface="Calibri"/>
              </a:rPr>
              <a:t>2</a:t>
            </a:r>
            <a:r>
              <a:rPr lang="en-US" altLang="ja-JP" sz="1600" dirty="0">
                <a:latin typeface="Calibri"/>
                <a:cs typeface="Calibri"/>
              </a:rPr>
              <a:t>, CO, BC, etc.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ja-JP" sz="1600" dirty="0">
                <a:latin typeface="Calibri"/>
                <a:cs typeface="Calibri"/>
              </a:rPr>
              <a:t>- BVOC emission: isoprene etc.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ja-JP" sz="1600" dirty="0">
                <a:latin typeface="Calibri"/>
                <a:cs typeface="Calibri"/>
              </a:rPr>
              <a:t>- Others: N</a:t>
            </a:r>
            <a:r>
              <a:rPr lang="en-US" altLang="ja-JP" sz="1600" baseline="-25000" dirty="0">
                <a:latin typeface="Calibri"/>
                <a:cs typeface="Calibri"/>
              </a:rPr>
              <a:t>2</a:t>
            </a:r>
            <a:r>
              <a:rPr lang="en-US" altLang="ja-JP" sz="1600" dirty="0">
                <a:latin typeface="Calibri"/>
                <a:cs typeface="Calibri"/>
              </a:rPr>
              <a:t>, NO, NH</a:t>
            </a:r>
            <a:r>
              <a:rPr lang="en-US" altLang="ja-JP" sz="1600" baseline="-25000" dirty="0">
                <a:latin typeface="Calibri"/>
                <a:cs typeface="Calibri"/>
              </a:rPr>
              <a:t>3</a:t>
            </a:r>
            <a:r>
              <a:rPr lang="en-US" altLang="ja-JP" sz="1600" dirty="0">
                <a:latin typeface="Calibri"/>
                <a:cs typeface="Calibri"/>
              </a:rPr>
              <a:t>, erosion</a:t>
            </a:r>
          </a:p>
        </p:txBody>
      </p:sp>
      <p:sp>
        <p:nvSpPr>
          <p:cNvPr id="11" name="Text Box 23"/>
          <p:cNvSpPr txBox="1">
            <a:spLocks noChangeArrowheads="1"/>
          </p:cNvSpPr>
          <p:nvPr/>
        </p:nvSpPr>
        <p:spPr bwMode="auto">
          <a:xfrm>
            <a:off x="4785834" y="1553536"/>
            <a:ext cx="3429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1200" dirty="0">
                <a:latin typeface="Calibri"/>
                <a:cs typeface="Calibri"/>
              </a:rPr>
              <a:t>(Developed in NIES &amp; FRCGC-JAMSTEC)</a:t>
            </a:r>
          </a:p>
        </p:txBody>
      </p:sp>
      <p:pic>
        <p:nvPicPr>
          <p:cNvPr id="12" name="Picture 24" descr="名称未設定-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6441" y="3277661"/>
            <a:ext cx="1997122" cy="2847875"/>
          </a:xfrm>
          <a:prstGeom prst="rect">
            <a:avLst/>
          </a:prstGeom>
          <a:noFill/>
        </p:spPr>
      </p:pic>
      <p:pic>
        <p:nvPicPr>
          <p:cNvPr id="13" name="図 12" descr="n_cycle.bm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91" y="3277661"/>
            <a:ext cx="2339532" cy="2847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78310"/>
          </a:xfrm>
        </p:spPr>
        <p:txBody>
          <a:bodyPr>
            <a:normAutofit/>
          </a:bodyPr>
          <a:lstStyle/>
          <a:p>
            <a:r>
              <a:rPr kumimoji="1" lang="en-US" altLang="ja-JP" sz="3200" dirty="0"/>
              <a:t>Model</a:t>
            </a:r>
            <a:endParaRPr kumimoji="1" lang="ja-JP" altLang="en-US" sz="3200" dirty="0"/>
          </a:p>
        </p:txBody>
      </p:sp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2402219" y="754201"/>
            <a:ext cx="632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 b="1" dirty="0">
                <a:latin typeface="Arial"/>
                <a:cs typeface="Arial"/>
              </a:rPr>
              <a:t>Vegetation Integrated </a:t>
            </a:r>
            <a:r>
              <a:rPr lang="en-US" altLang="ja-JP" sz="2000" b="1" dirty="0" err="1">
                <a:latin typeface="Arial"/>
                <a:cs typeface="Arial"/>
              </a:rPr>
              <a:t>SImulator</a:t>
            </a:r>
            <a:r>
              <a:rPr lang="en-US" altLang="ja-JP" sz="2000" b="1" dirty="0">
                <a:latin typeface="Arial"/>
                <a:cs typeface="Arial"/>
              </a:rPr>
              <a:t> for Trace gases</a:t>
            </a:r>
          </a:p>
        </p:txBody>
      </p:sp>
      <p:pic>
        <p:nvPicPr>
          <p:cNvPr id="4" name="Picture 18" descr="visit_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034" y="754201"/>
            <a:ext cx="1447800" cy="392113"/>
          </a:xfrm>
          <a:prstGeom prst="rect">
            <a:avLst/>
          </a:prstGeom>
          <a:noFill/>
        </p:spPr>
      </p:pic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988792" y="1292447"/>
            <a:ext cx="7991603" cy="1297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ja-JP" sz="1800" b="1" dirty="0">
                <a:latin typeface="Arial"/>
                <a:cs typeface="Arial"/>
              </a:rPr>
              <a:t>Objectives</a:t>
            </a:r>
            <a:endParaRPr lang="en-US" altLang="ja-JP" dirty="0">
              <a:latin typeface="Arial"/>
              <a:cs typeface="Arial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ja-JP" sz="1800" dirty="0">
                <a:latin typeface="Arial"/>
                <a:cs typeface="Arial"/>
              </a:rPr>
              <a:t>• Atmosphere-ecosystem biogeochemical interactions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ja-JP" sz="1800" dirty="0">
                <a:latin typeface="Arial"/>
                <a:cs typeface="Arial"/>
              </a:rPr>
              <a:t>• Assessment of climatic impacts and biotic feedbacks</a:t>
            </a:r>
            <a:endParaRPr lang="en-US" altLang="ja-JP" dirty="0">
              <a:latin typeface="Arial"/>
              <a:cs typeface="Arial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ja-JP" dirty="0">
                <a:latin typeface="Arial"/>
                <a:cs typeface="Arial"/>
              </a:rPr>
              <a:t>• Ecosystem functions related to ecosystem services</a:t>
            </a:r>
            <a:endParaRPr lang="en-US" altLang="ja-JP" sz="1800" dirty="0">
              <a:latin typeface="Arial"/>
              <a:cs typeface="Arial"/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1658499" y="6376349"/>
            <a:ext cx="1442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ja-JP" sz="1600" i="1" dirty="0">
                <a:latin typeface="Arial"/>
                <a:cs typeface="Arial"/>
              </a:rPr>
              <a:t>Carbon-cycle</a:t>
            </a: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6309279" y="6414834"/>
            <a:ext cx="15449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ja-JP" sz="1600" i="1" dirty="0">
                <a:latin typeface="Arial"/>
                <a:cs typeface="Arial"/>
              </a:rPr>
              <a:t>Nitrogen-cycle</a:t>
            </a: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5679946" y="1211401"/>
            <a:ext cx="286252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1200" dirty="0">
                <a:latin typeface="Arial"/>
                <a:cs typeface="Arial"/>
              </a:rPr>
              <a:t>(Developed by NIES &amp; JAMSTEC)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4224917" y="6414834"/>
            <a:ext cx="130924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ja-JP" sz="1600" i="1" dirty="0">
                <a:latin typeface="Arial"/>
                <a:cs typeface="Arial"/>
              </a:rPr>
              <a:t>Water-cycle</a:t>
            </a:r>
          </a:p>
        </p:txBody>
      </p:sp>
      <p:pic>
        <p:nvPicPr>
          <p:cNvPr id="10" name="図 9" descr="時計, 駐車 が含まれている画像&#10;&#10;自動的に生成された説明">
            <a:extLst>
              <a:ext uri="{FF2B5EF4-FFF2-40B4-BE49-F238E27FC236}">
                <a16:creationId xmlns:a16="http://schemas.microsoft.com/office/drawing/2014/main" id="{8B7ACFC9-D558-2343-AB79-FA304F4D5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383" y="2727404"/>
            <a:ext cx="7103076" cy="366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96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Concepts</a:t>
            </a:r>
            <a:endParaRPr lang="ja-JP" altLang="en-US" sz="32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35017" y="1314804"/>
            <a:ext cx="7879558" cy="415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What </a:t>
            </a:r>
            <a:r>
              <a:rPr lang="en-US" altLang="ja-JP" sz="2400" b="1" dirty="0"/>
              <a:t>are characteristics of VISIT?</a:t>
            </a:r>
          </a:p>
          <a:p>
            <a:endParaRPr kumimoji="1" lang="en-US" altLang="ja-JP" sz="2400" dirty="0"/>
          </a:p>
          <a:p>
            <a:r>
              <a:rPr lang="en-US" altLang="ja-JP" sz="2400" dirty="0"/>
              <a:t>• Origin in </a:t>
            </a:r>
            <a:r>
              <a:rPr lang="en-US" altLang="ja-JP" sz="2400" dirty="0" err="1"/>
              <a:t>ecophysiology</a:t>
            </a:r>
            <a:r>
              <a:rPr lang="en-US" altLang="ja-JP" sz="2400" dirty="0"/>
              <a:t>, especially the dry-matter production theory</a:t>
            </a:r>
          </a:p>
          <a:p>
            <a:endParaRPr kumimoji="1" lang="en-US" altLang="ja-JP" sz="2400" dirty="0"/>
          </a:p>
          <a:p>
            <a:r>
              <a:rPr lang="en-US" altLang="ja-JP" sz="2400" dirty="0"/>
              <a:t>• Generality in simulating atmosphere-biosphere trace gas exchange</a:t>
            </a:r>
          </a:p>
          <a:p>
            <a:endParaRPr kumimoji="1" lang="en-US" altLang="ja-JP" sz="2400" dirty="0"/>
          </a:p>
          <a:p>
            <a:r>
              <a:rPr lang="en-US" altLang="ja-JP" sz="2400" dirty="0"/>
              <a:t>• Intermediate complexity</a:t>
            </a:r>
          </a:p>
          <a:p>
            <a:endParaRPr kumimoji="1" lang="en-US" altLang="ja-JP" sz="2400" dirty="0"/>
          </a:p>
          <a:p>
            <a:r>
              <a:rPr lang="en-US" altLang="ja-JP" sz="2400" dirty="0"/>
              <a:t>• Broad scalability: from point to the globe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Pioneers of plant </a:t>
            </a:r>
            <a:r>
              <a:rPr lang="en-US" altLang="ja-JP" sz="3200" dirty="0" err="1"/>
              <a:t>ecophysiology</a:t>
            </a:r>
            <a:endParaRPr lang="ja-JP" altLang="en-US" sz="3200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5055" y="4058479"/>
            <a:ext cx="4055745" cy="2464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903470" y="6490653"/>
            <a:ext cx="4098290" cy="1844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85725" indent="-85725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r>
              <a:rPr lang="en-GB" altLang="ja-JP" sz="1000" dirty="0">
                <a:solidFill>
                  <a:srgbClr val="000000"/>
                </a:solidFill>
                <a:latin typeface="Calibri"/>
                <a:ea typeface="msgothic" charset="0"/>
                <a:cs typeface="Calibri"/>
              </a:rPr>
              <a:t>Annals of Botany 95/3 © Annals of Botany Company 2004; all rights reserved</a:t>
            </a:r>
          </a:p>
        </p:txBody>
      </p:sp>
      <p:pic>
        <p:nvPicPr>
          <p:cNvPr id="7" name="図 6" descr="スクリーンショット（2011-01-24 11.24.01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685" y="1087120"/>
            <a:ext cx="1859915" cy="2877806"/>
          </a:xfrm>
          <a:prstGeom prst="rect">
            <a:avLst/>
          </a:prstGeom>
        </p:spPr>
      </p:pic>
      <p:pic>
        <p:nvPicPr>
          <p:cNvPr id="8" name="図 7" descr="スクリーンショット（2011-01-24 11.23.35）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718" y="1077826"/>
            <a:ext cx="2011362" cy="2901197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197472" y="1280160"/>
            <a:ext cx="456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Peter </a:t>
            </a:r>
            <a:r>
              <a:rPr kumimoji="1" lang="en-US" altLang="ja-JP" dirty="0" err="1"/>
              <a:t>Boysen</a:t>
            </a:r>
            <a:r>
              <a:rPr kumimoji="1" lang="en-US" altLang="ja-JP" dirty="0"/>
              <a:t>-Jensen (1883-1959)</a:t>
            </a:r>
          </a:p>
          <a:p>
            <a:r>
              <a:rPr lang="en-US" altLang="ja-JP" dirty="0"/>
              <a:t> - first measurement of canopy photosynthesis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97472" y="3982720"/>
            <a:ext cx="455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Masami </a:t>
            </a:r>
            <a:r>
              <a:rPr kumimoji="1" lang="en-US" altLang="ja-JP" dirty="0" err="1"/>
              <a:t>Monsi</a:t>
            </a:r>
            <a:r>
              <a:rPr kumimoji="1" lang="en-US" altLang="ja-JP" dirty="0"/>
              <a:t> (</a:t>
            </a:r>
            <a:r>
              <a:rPr kumimoji="1" lang="ja-JP" altLang="en-US" dirty="0"/>
              <a:t>門司正三</a:t>
            </a:r>
            <a:r>
              <a:rPr kumimoji="1" lang="en-US" altLang="ja-JP" dirty="0"/>
              <a:t>: 1914-1997: left)</a:t>
            </a:r>
            <a:endParaRPr kumimoji="1" lang="ja-JP" altLang="en-US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97472" y="4318000"/>
            <a:ext cx="4820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Toshio Saeki (</a:t>
            </a:r>
            <a:r>
              <a:rPr kumimoji="1" lang="ja-JP" altLang="en-US" dirty="0"/>
              <a:t>佐伯敏郎</a:t>
            </a:r>
            <a:r>
              <a:rPr kumimoji="1" lang="en-US" altLang="ja-JP" dirty="0"/>
              <a:t>: 1927-2004: right)</a:t>
            </a:r>
          </a:p>
          <a:p>
            <a:r>
              <a:rPr lang="en-US" altLang="ja-JP" dirty="0"/>
              <a:t> - first model of canopy photosynthesis</a:t>
            </a:r>
          </a:p>
          <a:p>
            <a:r>
              <a:rPr lang="en-US" altLang="ja-JP" dirty="0"/>
              <a:t> - dry-matter production theory (</a:t>
            </a:r>
            <a:r>
              <a:rPr lang="ja-JP" altLang="en-US" dirty="0"/>
              <a:t>物質生産理論</a:t>
            </a:r>
            <a:r>
              <a:rPr lang="en-US" altLang="ja-JP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Short history of modeling</a:t>
            </a:r>
            <a:endParaRPr lang="ja-JP" altLang="en-US" sz="32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710019" y="1220089"/>
            <a:ext cx="8160224" cy="5078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1953	Mathematical model </a:t>
            </a:r>
            <a:r>
              <a:rPr lang="en-US" altLang="ja-JP" dirty="0"/>
              <a:t>of canopy photosynthesis (</a:t>
            </a:r>
            <a:r>
              <a:rPr lang="en-US" altLang="ja-JP" dirty="0" err="1"/>
              <a:t>Monsi</a:t>
            </a:r>
            <a:r>
              <a:rPr lang="en-US" altLang="ja-JP" dirty="0"/>
              <a:t> &amp; Saeki)</a:t>
            </a:r>
          </a:p>
          <a:p>
            <a:endParaRPr kumimoji="1" lang="en-US" altLang="ja-JP" dirty="0"/>
          </a:p>
          <a:p>
            <a:r>
              <a:rPr lang="en-US" altLang="ja-JP" dirty="0"/>
              <a:t>1985	Box-flow model of carbon cycle (T. Oikawa)</a:t>
            </a:r>
          </a:p>
          <a:p>
            <a:endParaRPr kumimoji="1" lang="en-US" altLang="ja-JP" dirty="0"/>
          </a:p>
          <a:p>
            <a:r>
              <a:rPr lang="en-US" altLang="ja-JP" dirty="0"/>
              <a:t>1997	Global terrestrial carbon cycle model, </a:t>
            </a:r>
            <a:r>
              <a:rPr lang="en-US" altLang="ja-JP" dirty="0" err="1"/>
              <a:t>Sim</a:t>
            </a:r>
            <a:r>
              <a:rPr lang="en-US" altLang="ja-JP" dirty="0"/>
              <a:t>-CYCLE (</a:t>
            </a:r>
            <a:r>
              <a:rPr lang="en-US" altLang="ja-JP" dirty="0" err="1"/>
              <a:t>A.Ito</a:t>
            </a:r>
            <a:r>
              <a:rPr lang="en-US" altLang="ja-JP" dirty="0"/>
              <a:t>)</a:t>
            </a:r>
          </a:p>
          <a:p>
            <a:r>
              <a:rPr kumimoji="1" lang="en-US" altLang="ja-JP" dirty="0"/>
              <a:t>2000		Interannual variability (e.g., ENSO: Ito &amp; Oikawa 2000a, </a:t>
            </a:r>
            <a:r>
              <a:rPr kumimoji="1" lang="en-US" altLang="ja-JP" dirty="0" err="1"/>
              <a:t>b</a:t>
            </a:r>
            <a:r>
              <a:rPr kumimoji="1" lang="en-US" altLang="ja-JP" dirty="0"/>
              <a:t>)</a:t>
            </a:r>
          </a:p>
          <a:p>
            <a:r>
              <a:rPr kumimoji="1" lang="en-US" altLang="ja-JP" dirty="0"/>
              <a:t>2002		Description paper (Ito &amp; Oikawa 2002)</a:t>
            </a:r>
          </a:p>
          <a:p>
            <a:r>
              <a:rPr kumimoji="1" lang="en-US" altLang="ja-JP" dirty="0"/>
              <a:t>2003		Carbon isotope (Ito 2003a), East Asian simulation (Ito 2003b)</a:t>
            </a:r>
          </a:p>
          <a:p>
            <a:r>
              <a:rPr lang="en-US" altLang="ja-JP" dirty="0"/>
              <a:t>2004		Global radiation use efficiency (Ito &amp; Oikawa 2004)</a:t>
            </a:r>
          </a:p>
          <a:p>
            <a:r>
              <a:rPr kumimoji="1" lang="en-US" altLang="ja-JP" dirty="0"/>
              <a:t>2005		Global warming impacts (Ito 2005a, </a:t>
            </a:r>
            <a:r>
              <a:rPr kumimoji="1" lang="en-US" altLang="ja-JP" dirty="0" err="1"/>
              <a:t>b</a:t>
            </a:r>
            <a:r>
              <a:rPr kumimoji="1" lang="en-US" altLang="ja-JP" dirty="0"/>
              <a:t>), Siberian </a:t>
            </a:r>
            <a:r>
              <a:rPr lang="en-US" altLang="ja-JP" dirty="0"/>
              <a:t>fire (Ito 2005c)</a:t>
            </a:r>
          </a:p>
          <a:p>
            <a:r>
              <a:rPr kumimoji="1" lang="en-US" altLang="ja-JP" dirty="0"/>
              <a:t>			Simulation at </a:t>
            </a:r>
            <a:r>
              <a:rPr kumimoji="1" lang="en-US" altLang="ja-JP" dirty="0" err="1"/>
              <a:t>Takayama</a:t>
            </a:r>
            <a:r>
              <a:rPr kumimoji="1" lang="en-US" altLang="ja-JP" dirty="0"/>
              <a:t> site (Ito et al. 2005)</a:t>
            </a:r>
          </a:p>
          <a:p>
            <a:r>
              <a:rPr lang="en-US" altLang="ja-JP" dirty="0"/>
              <a:t>2006		Model </a:t>
            </a:r>
            <a:r>
              <a:rPr lang="en-US" altLang="ja-JP" dirty="0" err="1"/>
              <a:t>intercomparison</a:t>
            </a:r>
            <a:r>
              <a:rPr lang="en-US" altLang="ja-JP" dirty="0"/>
              <a:t> (Ito &amp; </a:t>
            </a:r>
            <a:r>
              <a:rPr lang="en-US" altLang="ja-JP" dirty="0" err="1"/>
              <a:t>Sasai</a:t>
            </a:r>
            <a:r>
              <a:rPr lang="en-US" altLang="ja-JP" dirty="0"/>
              <a:t> 2006)</a:t>
            </a:r>
          </a:p>
          <a:p>
            <a:r>
              <a:rPr kumimoji="1" lang="en-US" altLang="ja-JP" dirty="0"/>
              <a:t>2007		Erosion (Ito 2007)</a:t>
            </a:r>
          </a:p>
          <a:p>
            <a:r>
              <a:rPr lang="en-US" altLang="ja-JP" dirty="0"/>
              <a:t>2008		East Asian carbon budget (Ito 2008), ecosystem resp. (Ito et al. 2008)</a:t>
            </a:r>
          </a:p>
          <a:p>
            <a:r>
              <a:rPr kumimoji="1" lang="en-US" altLang="ja-JP" dirty="0"/>
              <a:t>2009		Climate-carbon coupling (Kato, Ito, </a:t>
            </a:r>
            <a:r>
              <a:rPr kumimoji="1" lang="en-US" altLang="ja-JP" dirty="0" err="1"/>
              <a:t>Kawamiya</a:t>
            </a:r>
            <a:r>
              <a:rPr kumimoji="1" lang="en-US" altLang="ja-JP" dirty="0"/>
              <a:t> 2009)</a:t>
            </a:r>
          </a:p>
          <a:p>
            <a:r>
              <a:rPr lang="en-US" altLang="ja-JP" dirty="0"/>
              <a:t>2010	 	Typhoon impact (Ito 2010), East Asian MIP (Ito et al. 2010)</a:t>
            </a:r>
          </a:p>
          <a:p>
            <a:r>
              <a:rPr lang="en-US" altLang="ja-JP" dirty="0"/>
              <a:t>			GHG evaluation (</a:t>
            </a:r>
            <a:r>
              <a:rPr lang="en-US" altLang="ja-JP" dirty="0" err="1"/>
              <a:t>Inatomi</a:t>
            </a:r>
            <a:r>
              <a:rPr lang="en-US" altLang="ja-JP" dirty="0"/>
              <a:t>, Ito, et al. 2010)</a:t>
            </a:r>
          </a:p>
          <a:p>
            <a:r>
              <a:rPr kumimoji="1" lang="en-US" altLang="ja-JP" dirty="0"/>
              <a:t>2011		?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3 lines of VISIT</a:t>
            </a:r>
            <a:endParaRPr lang="ja-JP" altLang="en-US" sz="32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10016" y="1440105"/>
            <a:ext cx="8320227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 err="1"/>
              <a:t>VISITa</a:t>
            </a:r>
            <a:endParaRPr kumimoji="1" lang="en-US" altLang="ja-JP" b="1" dirty="0"/>
          </a:p>
          <a:p>
            <a:r>
              <a:rPr lang="en-US" altLang="ja-JP" dirty="0"/>
              <a:t>- applicable mainly at global scale</a:t>
            </a:r>
          </a:p>
          <a:p>
            <a:r>
              <a:rPr kumimoji="1" lang="en-US" altLang="ja-JP" dirty="0"/>
              <a:t>- monthly time-step</a:t>
            </a:r>
          </a:p>
          <a:p>
            <a:r>
              <a:rPr kumimoji="1" lang="en-US" altLang="ja-JP" dirty="0"/>
              <a:t>- includes major trace gas exchange schemes</a:t>
            </a:r>
          </a:p>
          <a:p>
            <a:r>
              <a:rPr kumimoji="1" lang="en-US" altLang="ja-JP" dirty="0"/>
              <a:t>- simple: 1-layer vegetation  + 2-component soil carbon</a:t>
            </a:r>
          </a:p>
          <a:p>
            <a:r>
              <a:rPr kumimoji="1" lang="en-US" altLang="ja-JP" dirty="0"/>
              <a:t>- fast (&lt;2days for the globe at 0.5°x0.5° resolution)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10016" y="3430151"/>
            <a:ext cx="83002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 err="1"/>
              <a:t>VISITb</a:t>
            </a:r>
            <a:endParaRPr kumimoji="1" lang="en-US" altLang="ja-JP" b="1" dirty="0"/>
          </a:p>
          <a:p>
            <a:r>
              <a:rPr lang="en-US" altLang="ja-JP" dirty="0"/>
              <a:t>- applicable at point, region, and global scales</a:t>
            </a:r>
          </a:p>
          <a:p>
            <a:r>
              <a:rPr kumimoji="1" lang="en-US" altLang="ja-JP" dirty="0"/>
              <a:t>- daily (and 30-min) time-step</a:t>
            </a:r>
          </a:p>
          <a:p>
            <a:r>
              <a:rPr lang="en-US" altLang="ja-JP" dirty="0"/>
              <a:t>- includes major trace gas exchange schemes and biochemical photosynthesis scheme</a:t>
            </a:r>
          </a:p>
          <a:p>
            <a:r>
              <a:rPr kumimoji="1" lang="en-US" altLang="ja-JP" dirty="0"/>
              <a:t>- fine: 2-layer vegetation + 9-component soil carbon</a:t>
            </a:r>
          </a:p>
          <a:p>
            <a:r>
              <a:rPr lang="en-US" altLang="ja-JP" dirty="0"/>
              <a:t>- not so fast?</a:t>
            </a:r>
          </a:p>
          <a:p>
            <a:pPr marL="285750" indent="-285750">
              <a:buFontTx/>
              <a:buChar char="-"/>
            </a:pPr>
            <a:r>
              <a:rPr kumimoji="1" lang="en-US" altLang="ja-JP" dirty="0"/>
              <a:t>used </a:t>
            </a:r>
            <a:r>
              <a:rPr lang="en-US" altLang="ja-JP" dirty="0"/>
              <a:t>by ongoing projects</a:t>
            </a:r>
          </a:p>
          <a:p>
            <a:pPr marL="285750" indent="-285750">
              <a:buFontTx/>
              <a:buChar char="-"/>
            </a:pPr>
            <a:endParaRPr kumimoji="1" lang="en-US" altLang="ja-JP" dirty="0"/>
          </a:p>
          <a:p>
            <a:r>
              <a:rPr lang="en-US" altLang="ja-JP" b="1" dirty="0" err="1"/>
              <a:t>VISITc</a:t>
            </a:r>
            <a:endParaRPr lang="en-US" altLang="ja-JP" b="1" dirty="0"/>
          </a:p>
          <a:p>
            <a:r>
              <a:rPr kumimoji="1" lang="en-US" altLang="ja-JP" dirty="0"/>
              <a:t>- hourly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Explanation of Sim-CYCLE (-2007)</a:t>
            </a:r>
            <a:endParaRPr lang="ja-JP" altLang="en-US" sz="3200" dirty="0"/>
          </a:p>
        </p:txBody>
      </p:sp>
      <p:pic>
        <p:nvPicPr>
          <p:cNvPr id="3" name="Picture 5" descr="ENVIRONMENTS のコピー [更新済み のコピー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371600"/>
            <a:ext cx="7010400" cy="5032375"/>
          </a:xfrm>
          <a:prstGeom prst="rect">
            <a:avLst/>
          </a:prstGeom>
          <a:noFill/>
        </p:spPr>
      </p:pic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0" y="6581001"/>
            <a:ext cx="155891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ja-JP" sz="1200" dirty="0"/>
              <a:t>Ito and Oikawa (2000)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Model scaling</a:t>
            </a:r>
            <a:endParaRPr lang="ja-JP" altLang="en-US" sz="3200" dirty="0"/>
          </a:p>
        </p:txBody>
      </p:sp>
      <p:pic>
        <p:nvPicPr>
          <p:cNvPr id="3" name="Picture 10" descr="mode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4010" y="1219200"/>
            <a:ext cx="6705600" cy="5165725"/>
          </a:xfrm>
          <a:prstGeom prst="rect">
            <a:avLst/>
          </a:prstGeom>
          <a:noFill/>
        </p:spPr>
      </p:pic>
      <p:sp>
        <p:nvSpPr>
          <p:cNvPr id="4" name="テキスト ボックス 3"/>
          <p:cNvSpPr txBox="1"/>
          <p:nvPr/>
        </p:nvSpPr>
        <p:spPr>
          <a:xfrm>
            <a:off x="7879762" y="5302840"/>
            <a:ext cx="787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VISITb</a:t>
            </a:r>
            <a:endParaRPr kumimoji="1" lang="en-US" altLang="ja-JP" dirty="0"/>
          </a:p>
          <a:p>
            <a:r>
              <a:rPr lang="en-US" altLang="ja-JP" dirty="0" err="1"/>
              <a:t>VISITc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879762" y="1492583"/>
            <a:ext cx="78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VISITa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Overview</a:t>
            </a:r>
            <a:endParaRPr lang="ja-JP" altLang="en-US" sz="3200" dirty="0"/>
          </a:p>
        </p:txBody>
      </p:sp>
      <p:pic>
        <p:nvPicPr>
          <p:cNvPr id="5" name="図 4" descr="SHEET05 [更新済み]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20" y="1551459"/>
            <a:ext cx="8839200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Data</a:t>
            </a:r>
            <a:endParaRPr lang="ja-JP" altLang="en-US" sz="3200" dirty="0"/>
          </a:p>
        </p:txBody>
      </p:sp>
      <p:sp>
        <p:nvSpPr>
          <p:cNvPr id="3" name="角丸四角形 2"/>
          <p:cNvSpPr/>
          <p:nvPr/>
        </p:nvSpPr>
        <p:spPr>
          <a:xfrm>
            <a:off x="4140114" y="3449584"/>
            <a:ext cx="1910052" cy="84073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</a:rPr>
              <a:t>MODEL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(e.g. VSIT)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2740075" y="3840281"/>
            <a:ext cx="1600044" cy="45673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000000"/>
                </a:solidFill>
              </a:rPr>
              <a:t>P</a:t>
            </a:r>
            <a:r>
              <a:rPr lang="en-US" altLang="ja-JP" dirty="0">
                <a:solidFill>
                  <a:srgbClr val="000000"/>
                </a:solidFill>
              </a:rPr>
              <a:t>arameter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220006" y="3430253"/>
            <a:ext cx="1880052" cy="71004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000000"/>
                </a:solidFill>
              </a:rPr>
              <a:t>Characteristics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4030110" y="2490185"/>
            <a:ext cx="1370038" cy="456731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000000"/>
                </a:solidFill>
              </a:rPr>
              <a:t>Input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110111" y="4860355"/>
            <a:ext cx="1210034" cy="456731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rgbClr val="000000"/>
                </a:solidFill>
              </a:rPr>
              <a:t>Output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9" name="下矢印 8"/>
          <p:cNvSpPr/>
          <p:nvPr/>
        </p:nvSpPr>
        <p:spPr>
          <a:xfrm>
            <a:off x="4540124" y="2990219"/>
            <a:ext cx="390011" cy="440032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下矢印 9"/>
          <p:cNvSpPr/>
          <p:nvPr/>
        </p:nvSpPr>
        <p:spPr>
          <a:xfrm>
            <a:off x="4540124" y="4390321"/>
            <a:ext cx="390011" cy="440032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/>
          <p:cNvCxnSpPr/>
          <p:nvPr/>
        </p:nvCxnSpPr>
        <p:spPr>
          <a:xfrm>
            <a:off x="2090057" y="3621852"/>
            <a:ext cx="2050056" cy="1588"/>
          </a:xfrm>
          <a:prstGeom prst="straightConnector1">
            <a:avLst/>
          </a:prstGeom>
          <a:ln w="31750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>
            <a:off x="2100058" y="4011880"/>
            <a:ext cx="610016" cy="1588"/>
          </a:xfrm>
          <a:prstGeom prst="straightConnector1">
            <a:avLst/>
          </a:prstGeom>
          <a:ln w="31750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図形グループ 79"/>
          <p:cNvGrpSpPr/>
          <p:nvPr/>
        </p:nvGrpSpPr>
        <p:grpSpPr>
          <a:xfrm>
            <a:off x="3050083" y="1180085"/>
            <a:ext cx="4630127" cy="5260388"/>
            <a:chOff x="3050083" y="1180085"/>
            <a:chExt cx="4630127" cy="5260388"/>
          </a:xfrm>
        </p:grpSpPr>
        <p:cxnSp>
          <p:nvCxnSpPr>
            <p:cNvPr id="22" name="直線矢印コネクタ 21"/>
            <p:cNvCxnSpPr/>
            <p:nvPr/>
          </p:nvCxnSpPr>
          <p:spPr>
            <a:xfrm rot="5400000">
              <a:off x="4477733" y="2220957"/>
              <a:ext cx="501620" cy="1588"/>
            </a:xfrm>
            <a:prstGeom prst="straightConnector1">
              <a:avLst/>
            </a:prstGeom>
            <a:ln w="66675"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/>
            <p:cNvCxnSpPr/>
            <p:nvPr/>
          </p:nvCxnSpPr>
          <p:spPr>
            <a:xfrm rot="5400000">
              <a:off x="4492735" y="1545907"/>
              <a:ext cx="471617" cy="1588"/>
            </a:xfrm>
            <a:prstGeom prst="straightConnector1">
              <a:avLst/>
            </a:prstGeom>
            <a:ln w="66675"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>
              <a:off x="4700129" y="1990144"/>
              <a:ext cx="2180059" cy="1588"/>
            </a:xfrm>
            <a:prstGeom prst="line">
              <a:avLst/>
            </a:prstGeom>
            <a:ln w="66675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/>
            <p:cNvCxnSpPr/>
            <p:nvPr/>
          </p:nvCxnSpPr>
          <p:spPr>
            <a:xfrm>
              <a:off x="4830132" y="5713592"/>
              <a:ext cx="2010055" cy="1588"/>
            </a:xfrm>
            <a:prstGeom prst="line">
              <a:avLst/>
            </a:prstGeom>
            <a:ln w="66675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/>
            <p:cNvCxnSpPr/>
            <p:nvPr/>
          </p:nvCxnSpPr>
          <p:spPr>
            <a:xfrm rot="5400000">
              <a:off x="4505510" y="5535802"/>
              <a:ext cx="449242" cy="1588"/>
            </a:xfrm>
            <a:prstGeom prst="straightConnector1">
              <a:avLst/>
            </a:prstGeom>
            <a:ln w="66675"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 rot="5400000" flipH="1" flipV="1">
              <a:off x="4962902" y="3865679"/>
              <a:ext cx="3771069" cy="1588"/>
            </a:xfrm>
            <a:prstGeom prst="line">
              <a:avLst/>
            </a:prstGeom>
            <a:ln w="66675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/>
            <p:cNvCxnSpPr/>
            <p:nvPr/>
          </p:nvCxnSpPr>
          <p:spPr>
            <a:xfrm>
              <a:off x="4700129" y="1330095"/>
              <a:ext cx="2980081" cy="1588"/>
            </a:xfrm>
            <a:prstGeom prst="line">
              <a:avLst/>
            </a:prstGeom>
            <a:ln w="66675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rot="5400000" flipH="1" flipV="1">
              <a:off x="5090175" y="3857935"/>
              <a:ext cx="5140374" cy="24701"/>
            </a:xfrm>
            <a:prstGeom prst="line">
              <a:avLst/>
            </a:prstGeom>
            <a:ln w="66675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矢印コネクタ 37"/>
            <p:cNvCxnSpPr/>
            <p:nvPr/>
          </p:nvCxnSpPr>
          <p:spPr>
            <a:xfrm rot="5400000">
              <a:off x="4475509" y="6085843"/>
              <a:ext cx="509244" cy="1588"/>
            </a:xfrm>
            <a:prstGeom prst="straightConnector1">
              <a:avLst/>
            </a:prstGeom>
            <a:ln w="66675"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/>
            <p:cNvCxnSpPr/>
            <p:nvPr/>
          </p:nvCxnSpPr>
          <p:spPr>
            <a:xfrm>
              <a:off x="4830132" y="6393641"/>
              <a:ext cx="2820077" cy="1588"/>
            </a:xfrm>
            <a:prstGeom prst="line">
              <a:avLst/>
            </a:prstGeom>
            <a:ln w="66675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テキスト ボックス 54"/>
            <p:cNvSpPr txBox="1"/>
            <p:nvPr/>
          </p:nvSpPr>
          <p:spPr>
            <a:xfrm>
              <a:off x="3280089" y="1760128"/>
              <a:ext cx="13402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/>
                <a:t>spatial loop</a:t>
              </a:r>
              <a:endParaRPr kumimoji="1" lang="ja-JP" altLang="en-US" i="1" dirty="0"/>
            </a:p>
          </p:txBody>
        </p:sp>
        <p:sp>
          <p:nvSpPr>
            <p:cNvPr id="56" name="テキスト ボックス 55"/>
            <p:cNvSpPr txBox="1"/>
            <p:nvPr/>
          </p:nvSpPr>
          <p:spPr>
            <a:xfrm>
              <a:off x="3050083" y="1180085"/>
              <a:ext cx="1568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/>
                <a:t>temporal loop</a:t>
              </a:r>
              <a:endParaRPr kumimoji="1" lang="ja-JP" altLang="en-US" i="1" dirty="0"/>
            </a:p>
          </p:txBody>
        </p:sp>
        <p:sp>
          <p:nvSpPr>
            <p:cNvPr id="58" name="角丸四角形 57"/>
            <p:cNvSpPr/>
            <p:nvPr/>
          </p:nvSpPr>
          <p:spPr>
            <a:xfrm>
              <a:off x="5270144" y="2380176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Input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64" name="角丸四角形 63"/>
            <p:cNvSpPr/>
            <p:nvPr/>
          </p:nvSpPr>
          <p:spPr>
            <a:xfrm>
              <a:off x="5230142" y="2450181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Input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65" name="角丸四角形 64"/>
            <p:cNvSpPr/>
            <p:nvPr/>
          </p:nvSpPr>
          <p:spPr>
            <a:xfrm>
              <a:off x="5200142" y="2530187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Input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66" name="角丸四角形 65"/>
            <p:cNvSpPr/>
            <p:nvPr/>
          </p:nvSpPr>
          <p:spPr>
            <a:xfrm>
              <a:off x="5140140" y="2620194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Input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67" name="角丸四角形 66"/>
            <p:cNvSpPr/>
            <p:nvPr/>
          </p:nvSpPr>
          <p:spPr>
            <a:xfrm>
              <a:off x="5100139" y="2710200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rgbClr val="000000"/>
                  </a:solidFill>
                </a:rPr>
                <a:t>Input </a:t>
              </a:r>
            </a:p>
            <a:p>
              <a:pPr algn="ctr"/>
              <a:r>
                <a:rPr kumimoji="1" lang="en-US" altLang="ja-JP" sz="1200" dirty="0">
                  <a:solidFill>
                    <a:srgbClr val="000000"/>
                  </a:solidFill>
                </a:rPr>
                <a:t>[space </a:t>
              </a:r>
              <a:r>
                <a:rPr kumimoji="1" lang="en-US" altLang="ja-JP" sz="1200" dirty="0" err="1">
                  <a:solidFill>
                    <a:srgbClr val="000000"/>
                  </a:solidFill>
                </a:rPr>
                <a:t>x</a:t>
              </a:r>
              <a:r>
                <a:rPr kumimoji="1" lang="en-US" altLang="ja-JP" sz="1200" dirty="0">
                  <a:solidFill>
                    <a:srgbClr val="000000"/>
                  </a:solidFill>
                </a:rPr>
                <a:t> </a:t>
              </a:r>
              <a:r>
                <a:rPr lang="en-US" altLang="ja-JP" sz="1200" dirty="0">
                  <a:solidFill>
                    <a:srgbClr val="000000"/>
                  </a:solidFill>
                </a:rPr>
                <a:t>time</a:t>
              </a:r>
              <a:r>
                <a:rPr kumimoji="1" lang="en-US" altLang="ja-JP" sz="1200" dirty="0">
                  <a:solidFill>
                    <a:srgbClr val="000000"/>
                  </a:solidFill>
                </a:rPr>
                <a:t>]</a:t>
              </a:r>
              <a:endParaRPr kumimoji="1" lang="ja-JP" alt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68" name="角丸四角形 67"/>
            <p:cNvSpPr/>
            <p:nvPr/>
          </p:nvSpPr>
          <p:spPr>
            <a:xfrm>
              <a:off x="5270144" y="4730347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Input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69" name="角丸四角形 68"/>
            <p:cNvSpPr/>
            <p:nvPr/>
          </p:nvSpPr>
          <p:spPr>
            <a:xfrm>
              <a:off x="5230142" y="4800352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Input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70" name="角丸四角形 69"/>
            <p:cNvSpPr/>
            <p:nvPr/>
          </p:nvSpPr>
          <p:spPr>
            <a:xfrm>
              <a:off x="5200142" y="4880358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Input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71" name="角丸四角形 70"/>
            <p:cNvSpPr/>
            <p:nvPr/>
          </p:nvSpPr>
          <p:spPr>
            <a:xfrm>
              <a:off x="5140140" y="4970365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rgbClr val="000000"/>
                  </a:solidFill>
                </a:rPr>
                <a:t>Input</a:t>
              </a:r>
              <a:endParaRPr kumimoji="1" lang="ja-JP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72" name="角丸四角形 71"/>
            <p:cNvSpPr/>
            <p:nvPr/>
          </p:nvSpPr>
          <p:spPr>
            <a:xfrm>
              <a:off x="5100139" y="5060371"/>
              <a:ext cx="1370038" cy="4567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rgbClr val="000000"/>
                  </a:solidFill>
                </a:rPr>
                <a:t>Output</a:t>
              </a:r>
            </a:p>
            <a:p>
              <a:pPr algn="ctr"/>
              <a:r>
                <a:rPr kumimoji="1" lang="en-US" altLang="ja-JP" sz="1200" dirty="0">
                  <a:solidFill>
                    <a:srgbClr val="000000"/>
                  </a:solidFill>
                </a:rPr>
                <a:t>[space </a:t>
              </a:r>
              <a:r>
                <a:rPr kumimoji="1" lang="en-US" altLang="ja-JP" sz="1200" dirty="0" err="1">
                  <a:solidFill>
                    <a:srgbClr val="000000"/>
                  </a:solidFill>
                </a:rPr>
                <a:t>x</a:t>
              </a:r>
              <a:r>
                <a:rPr kumimoji="1" lang="en-US" altLang="ja-JP" sz="1200" dirty="0">
                  <a:solidFill>
                    <a:srgbClr val="000000"/>
                  </a:solidFill>
                </a:rPr>
                <a:t> </a:t>
              </a:r>
              <a:r>
                <a:rPr lang="en-US" altLang="ja-JP" sz="1200" dirty="0">
                  <a:solidFill>
                    <a:srgbClr val="000000"/>
                  </a:solidFill>
                </a:rPr>
                <a:t>time</a:t>
              </a:r>
              <a:r>
                <a:rPr kumimoji="1" lang="en-US" altLang="ja-JP" sz="1200" dirty="0">
                  <a:solidFill>
                    <a:srgbClr val="000000"/>
                  </a:solidFill>
                </a:rPr>
                <a:t>]</a:t>
              </a:r>
              <a:endParaRPr kumimoji="1" lang="ja-JP" altLang="en-US" sz="1200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Data: inputs</a:t>
            </a:r>
            <a:endParaRPr lang="ja-JP" altLang="en-US" sz="3200" dirty="0"/>
          </a:p>
        </p:txBody>
      </p:sp>
      <p:pic>
        <p:nvPicPr>
          <p:cNvPr id="3" name="図 2" descr="model_data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936580" y="2566311"/>
            <a:ext cx="7169150" cy="412750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15787" y="973423"/>
            <a:ext cx="7425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Definition</a:t>
            </a:r>
            <a:r>
              <a:rPr lang="ja-JP" altLang="en-US" dirty="0"/>
              <a:t>：</a:t>
            </a:r>
            <a:r>
              <a:rPr lang="en-US" altLang="ja-JP" dirty="0"/>
              <a:t>data that drive model simulation (i.e., required at every time-step)</a:t>
            </a:r>
          </a:p>
          <a:p>
            <a:r>
              <a:rPr lang="ja-JP" altLang="en-US" dirty="0"/>
              <a:t>　　　　</a:t>
            </a:r>
            <a:r>
              <a:rPr lang="en-US" altLang="ja-JP" dirty="0"/>
              <a:t>=&gt; gaps should be filled by interpolation, look-up table, etc.</a:t>
            </a:r>
          </a:p>
        </p:txBody>
      </p:sp>
      <p:sp>
        <p:nvSpPr>
          <p:cNvPr id="5" name="下矢印 4"/>
          <p:cNvSpPr/>
          <p:nvPr/>
        </p:nvSpPr>
        <p:spPr>
          <a:xfrm>
            <a:off x="2107793" y="2421126"/>
            <a:ext cx="565489" cy="63967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下矢印 5"/>
          <p:cNvSpPr/>
          <p:nvPr/>
        </p:nvSpPr>
        <p:spPr>
          <a:xfrm>
            <a:off x="1237628" y="2421126"/>
            <a:ext cx="565489" cy="63967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下矢印 6"/>
          <p:cNvSpPr/>
          <p:nvPr/>
        </p:nvSpPr>
        <p:spPr>
          <a:xfrm>
            <a:off x="5187297" y="2421126"/>
            <a:ext cx="565489" cy="63967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下矢印 7"/>
          <p:cNvSpPr/>
          <p:nvPr/>
        </p:nvSpPr>
        <p:spPr>
          <a:xfrm>
            <a:off x="5885785" y="2421126"/>
            <a:ext cx="565489" cy="63967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下矢印 8"/>
          <p:cNvSpPr/>
          <p:nvPr/>
        </p:nvSpPr>
        <p:spPr>
          <a:xfrm>
            <a:off x="6739515" y="2421126"/>
            <a:ext cx="565489" cy="63967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938523" y="1994673"/>
            <a:ext cx="138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Temperature</a:t>
            </a:r>
            <a:endParaRPr kumimoji="1" lang="ja-JP" altLang="en-US" dirty="0"/>
          </a:p>
        </p:txBody>
      </p:sp>
      <p:sp>
        <p:nvSpPr>
          <p:cNvPr id="11" name="下矢印 10"/>
          <p:cNvSpPr/>
          <p:nvPr/>
        </p:nvSpPr>
        <p:spPr>
          <a:xfrm>
            <a:off x="3689583" y="2421126"/>
            <a:ext cx="565489" cy="639678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309501" y="1994673"/>
            <a:ext cx="158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Atm. CO</a:t>
            </a:r>
            <a:r>
              <a:rPr kumimoji="1" lang="en-US" altLang="ja-JP" baseline="-25000" dirty="0"/>
              <a:t>2</a:t>
            </a:r>
            <a:r>
              <a:rPr kumimoji="1" lang="en-US" altLang="ja-JP" dirty="0"/>
              <a:t> conc.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914918" y="1994673"/>
            <a:ext cx="107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Radiation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904009" y="1994673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Humidity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890235" y="1994673"/>
            <a:ext cx="6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Wind</a:t>
            </a:r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611824" y="1994673"/>
            <a:ext cx="2556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Others</a:t>
            </a:r>
            <a:r>
              <a:rPr kumimoji="1" lang="ja-JP" altLang="en-US" dirty="0"/>
              <a:t>（</a:t>
            </a:r>
            <a:r>
              <a:rPr kumimoji="1" lang="en-US" altLang="ja-JP" dirty="0"/>
              <a:t>veg. prop.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r>
              <a:rPr lang="ja-JP" altLang="en-US" dirty="0"/>
              <a:t>　　　　（</a:t>
            </a:r>
            <a:r>
              <a:rPr lang="en-US" altLang="ja-JP" dirty="0"/>
              <a:t>land-use change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18" name="図 17" descr="visi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403" y="4800778"/>
            <a:ext cx="2145823" cy="5769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Data: characteristics</a:t>
            </a:r>
            <a:endParaRPr lang="ja-JP" altLang="en-US" sz="3200" dirty="0"/>
          </a:p>
        </p:txBody>
      </p:sp>
      <p:pic>
        <p:nvPicPr>
          <p:cNvPr id="17" name="図 16" descr="model_data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936580" y="2566311"/>
            <a:ext cx="7169150" cy="4127500"/>
          </a:xfrm>
          <a:prstGeom prst="rect">
            <a:avLst/>
          </a:prstGeom>
        </p:spPr>
      </p:pic>
      <p:sp>
        <p:nvSpPr>
          <p:cNvPr id="18" name="テキスト ボックス 17"/>
          <p:cNvSpPr txBox="1"/>
          <p:nvPr/>
        </p:nvSpPr>
        <p:spPr>
          <a:xfrm>
            <a:off x="358927" y="973423"/>
            <a:ext cx="8682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Definition</a:t>
            </a:r>
            <a:r>
              <a:rPr lang="ja-JP" altLang="en-US" dirty="0"/>
              <a:t>：</a:t>
            </a:r>
            <a:r>
              <a:rPr lang="en-US" altLang="ja-JP" dirty="0"/>
              <a:t>data that characterize simulation point </a:t>
            </a:r>
            <a:r>
              <a:rPr lang="ja-JP" altLang="en-US" dirty="0"/>
              <a:t>（</a:t>
            </a:r>
            <a:r>
              <a:rPr lang="en-US" altLang="ja-JP" dirty="0"/>
              <a:t>i.e., fixed throughout time-steps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　　　　</a:t>
            </a:r>
            <a:r>
              <a:rPr lang="en-US" altLang="ja-JP" dirty="0"/>
              <a:t>=&gt; hopefully, they should be obtained by observation; otherwise, from datasets</a:t>
            </a:r>
          </a:p>
        </p:txBody>
      </p:sp>
      <p:sp>
        <p:nvSpPr>
          <p:cNvPr id="19" name="下矢印 18"/>
          <p:cNvSpPr/>
          <p:nvPr/>
        </p:nvSpPr>
        <p:spPr>
          <a:xfrm>
            <a:off x="5229257" y="2421126"/>
            <a:ext cx="565489" cy="639678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040662" y="3162781"/>
            <a:ext cx="38921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Vegetation data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biome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plant functional type (composition)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species composition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disturbance history</a:t>
            </a:r>
            <a:r>
              <a:rPr lang="ja-JP" altLang="en-US" dirty="0"/>
              <a:t>（</a:t>
            </a:r>
            <a:r>
              <a:rPr lang="en-US" altLang="ja-JP" dirty="0"/>
              <a:t>logging, fire, etc.</a:t>
            </a:r>
            <a:r>
              <a:rPr lang="ja-JP" altLang="en-US" dirty="0"/>
              <a:t>）</a:t>
            </a:r>
            <a:endParaRPr kumimoji="1" lang="en-US" altLang="ja-JP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925146" y="1994673"/>
            <a:ext cx="955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Latitude</a:t>
            </a:r>
            <a:endParaRPr kumimoji="1" lang="ja-JP" altLang="en-US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915261" y="1994673"/>
            <a:ext cx="112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Longitude</a:t>
            </a:r>
            <a:endParaRPr kumimoji="1" lang="ja-JP" altLang="en-US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974401" y="1994673"/>
            <a:ext cx="93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Altitude</a:t>
            </a:r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195871" y="5304314"/>
            <a:ext cx="233059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Soil </a:t>
            </a:r>
            <a:r>
              <a:rPr lang="en-US" altLang="ja-JP" dirty="0"/>
              <a:t>type</a:t>
            </a:r>
            <a:endParaRPr kumimoji="1" lang="en-US" altLang="ja-JP" dirty="0"/>
          </a:p>
          <a:p>
            <a:r>
              <a:rPr lang="ja-JP" altLang="en-US" sz="1400" dirty="0"/>
              <a:t>（</a:t>
            </a:r>
            <a:r>
              <a:rPr lang="en-US" altLang="ja-JP" sz="1400" dirty="0"/>
              <a:t>e.g., </a:t>
            </a:r>
            <a:r>
              <a:rPr lang="en-US" altLang="ja-JP" sz="1400" dirty="0" err="1"/>
              <a:t>spodosol</a:t>
            </a:r>
            <a:r>
              <a:rPr lang="en-US" altLang="ja-JP" sz="1400" dirty="0"/>
              <a:t>, </a:t>
            </a:r>
            <a:r>
              <a:rPr lang="en-US" altLang="ja-JP" sz="1400" dirty="0" err="1"/>
              <a:t>andisol</a:t>
            </a:r>
            <a:r>
              <a:rPr lang="en-US" altLang="ja-JP" sz="1400" dirty="0"/>
              <a:t>, etc.</a:t>
            </a:r>
            <a:r>
              <a:rPr lang="ja-JP" altLang="en-US" sz="1400" dirty="0"/>
              <a:t>）</a:t>
            </a:r>
            <a:endParaRPr lang="en-US" altLang="ja-JP" sz="1400" dirty="0"/>
          </a:p>
        </p:txBody>
      </p:sp>
      <p:sp>
        <p:nvSpPr>
          <p:cNvPr id="25" name="下矢印 24"/>
          <p:cNvSpPr/>
          <p:nvPr/>
        </p:nvSpPr>
        <p:spPr>
          <a:xfrm>
            <a:off x="6044240" y="2421126"/>
            <a:ext cx="565489" cy="639678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下矢印 25"/>
          <p:cNvSpPr/>
          <p:nvPr/>
        </p:nvSpPr>
        <p:spPr>
          <a:xfrm>
            <a:off x="7020751" y="2421126"/>
            <a:ext cx="565489" cy="639678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821754" y="5193066"/>
            <a:ext cx="21712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Soil properties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sand/clay fractions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bulk density, </a:t>
            </a:r>
            <a:r>
              <a:rPr kumimoji="1" lang="en-US" altLang="ja-JP" dirty="0" err="1"/>
              <a:t>albedo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pH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soil depth etc.</a:t>
            </a:r>
            <a:endParaRPr kumimoji="1" lang="ja-JP" altLang="en-US" dirty="0"/>
          </a:p>
        </p:txBody>
      </p:sp>
      <p:pic>
        <p:nvPicPr>
          <p:cNvPr id="15" name="図 14" descr="visi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403" y="4800778"/>
            <a:ext cx="2145823" cy="5769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3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Data: parameters</a:t>
            </a:r>
            <a:endParaRPr lang="ja-JP" altLang="en-US" sz="3200" dirty="0"/>
          </a:p>
        </p:txBody>
      </p:sp>
      <p:pic>
        <p:nvPicPr>
          <p:cNvPr id="3" name="図 2" descr="model_data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6580" y="2566311"/>
            <a:ext cx="7169150" cy="412750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15787" y="973423"/>
            <a:ext cx="7080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Definition</a:t>
            </a:r>
            <a:r>
              <a:rPr lang="ja-JP" altLang="en-US" dirty="0"/>
              <a:t>：</a:t>
            </a:r>
            <a:r>
              <a:rPr lang="en-US" altLang="ja-JP" dirty="0"/>
              <a:t>data that characterize model behavior (medium variables)</a:t>
            </a:r>
          </a:p>
          <a:p>
            <a:r>
              <a:rPr lang="ja-JP" altLang="en-US" dirty="0"/>
              <a:t>　　　　　</a:t>
            </a:r>
            <a:r>
              <a:rPr lang="en-US" altLang="ja-JP" dirty="0"/>
              <a:t>→e.g.,</a:t>
            </a:r>
            <a:r>
              <a:rPr lang="ja-JP" altLang="en-US" dirty="0"/>
              <a:t>：</a:t>
            </a:r>
            <a:r>
              <a:rPr lang="en-US" altLang="ja-JP" dirty="0"/>
              <a:t>light-photosynthesis</a:t>
            </a:r>
            <a:r>
              <a:rPr lang="ja-JP" altLang="en-US" dirty="0"/>
              <a:t>　　　　　　　　　　</a:t>
            </a:r>
            <a:r>
              <a:rPr lang="en-US" altLang="ja-JP" dirty="0"/>
              <a:t>parameters: A</a:t>
            </a:r>
            <a:r>
              <a:rPr lang="en-US" altLang="ja-JP" baseline="-25000" dirty="0"/>
              <a:t>max</a:t>
            </a:r>
            <a:r>
              <a:rPr lang="en-US" altLang="ja-JP" dirty="0"/>
              <a:t>, </a:t>
            </a:r>
            <a:r>
              <a:rPr lang="en-US" altLang="ja-JP" dirty="0">
                <a:latin typeface="Symbol" charset="2"/>
                <a:cs typeface="Symbol" charset="2"/>
              </a:rPr>
              <a:t>F</a:t>
            </a:r>
          </a:p>
          <a:p>
            <a:endParaRPr lang="en-US" altLang="ja-JP" dirty="0"/>
          </a:p>
          <a:p>
            <a:r>
              <a:rPr lang="ja-JP" altLang="en-US" dirty="0"/>
              <a:t>　　　　　</a:t>
            </a:r>
            <a:r>
              <a:rPr lang="en-US" altLang="ja-JP" dirty="0"/>
              <a:t>→observation of representative parameter values is difficult</a:t>
            </a:r>
          </a:p>
          <a:p>
            <a:r>
              <a:rPr lang="ja-JP" altLang="en-US" dirty="0"/>
              <a:t>　　　　　</a:t>
            </a:r>
            <a:r>
              <a:rPr lang="en-US" altLang="ja-JP" dirty="0"/>
              <a:t>→limited observation and biome-specific values are used</a:t>
            </a:r>
            <a:r>
              <a:rPr lang="ja-JP" altLang="en-US" dirty="0"/>
              <a:t>　　　　</a:t>
            </a:r>
            <a:endParaRPr lang="en-US" altLang="ja-JP" dirty="0"/>
          </a:p>
        </p:txBody>
      </p:sp>
      <p:graphicFrame>
        <p:nvGraphicFramePr>
          <p:cNvPr id="5" name="オブジェクト 4"/>
          <p:cNvGraphicFramePr>
            <a:graphicFrameLocks noChangeAspect="1"/>
          </p:cNvGraphicFramePr>
          <p:nvPr/>
        </p:nvGraphicFramePr>
        <p:xfrm>
          <a:off x="4417938" y="1322386"/>
          <a:ext cx="1136592" cy="457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数式" r:id="rId5" imgW="977900" imgH="393700" progId="Equation.3">
                  <p:embed/>
                </p:oleObj>
              </mc:Choice>
              <mc:Fallback>
                <p:oleObj name="数式" r:id="rId5" imgW="977900" imgH="3937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7938" y="1322386"/>
                        <a:ext cx="1136592" cy="4575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2252685" y="3051532"/>
            <a:ext cx="208294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Leaf N</a:t>
            </a:r>
            <a:r>
              <a:rPr lang="ja-JP" altLang="en-US" sz="1400" dirty="0"/>
              <a:t>（</a:t>
            </a:r>
            <a:r>
              <a:rPr lang="en-US" altLang="ja-JP" sz="1400" dirty="0"/>
              <a:t>profile</a:t>
            </a:r>
            <a:r>
              <a:rPr lang="ja-JP" altLang="en-US" sz="1400" dirty="0"/>
              <a:t>）</a:t>
            </a:r>
            <a:endParaRPr lang="en-US" altLang="ja-JP" sz="1400" dirty="0"/>
          </a:p>
          <a:p>
            <a:r>
              <a:rPr lang="en-US" altLang="ja-JP" sz="1400" dirty="0"/>
              <a:t>Max. rates</a:t>
            </a:r>
            <a:r>
              <a:rPr lang="ja-JP" altLang="en-US" sz="1400" dirty="0"/>
              <a:t>（</a:t>
            </a:r>
            <a:r>
              <a:rPr lang="en-US" altLang="ja-JP" sz="1400" dirty="0" err="1"/>
              <a:t>Vcmax</a:t>
            </a:r>
            <a:r>
              <a:rPr lang="ja-JP" altLang="en-US" sz="1400" dirty="0"/>
              <a:t>、</a:t>
            </a:r>
            <a:r>
              <a:rPr lang="en-US" altLang="ja-JP" sz="1400" dirty="0" err="1"/>
              <a:t>Jmax</a:t>
            </a:r>
            <a:r>
              <a:rPr lang="ja-JP" altLang="en-US" sz="1400" dirty="0"/>
              <a:t>）</a:t>
            </a:r>
            <a:endParaRPr lang="en-US" altLang="ja-JP" sz="1400" dirty="0"/>
          </a:p>
          <a:p>
            <a:r>
              <a:rPr lang="en-US" altLang="ja-JP" sz="1400" dirty="0"/>
              <a:t>Quantum yield</a:t>
            </a:r>
          </a:p>
          <a:p>
            <a:r>
              <a:rPr lang="en-US" altLang="ja-JP" sz="1400" dirty="0"/>
              <a:t>Dark respiration</a:t>
            </a:r>
          </a:p>
          <a:p>
            <a:r>
              <a:rPr kumimoji="1" lang="en-US" altLang="ja-JP" sz="1400" dirty="0"/>
              <a:t>Arrhenius-</a:t>
            </a:r>
            <a:r>
              <a:rPr kumimoji="1" lang="en-US" altLang="ja-JP" sz="1400" dirty="0" err="1"/>
              <a:t>eq</a:t>
            </a:r>
            <a:r>
              <a:rPr kumimoji="1" lang="en-US" altLang="ja-JP" sz="1400" dirty="0"/>
              <a:t>. parameters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24361" y="4405054"/>
            <a:ext cx="27013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Stem resp.</a:t>
            </a:r>
            <a:r>
              <a:rPr lang="ja-JP" altLang="en-US" sz="1400" dirty="0"/>
              <a:t>：</a:t>
            </a:r>
            <a:r>
              <a:rPr lang="en-US" altLang="ja-JP" sz="1400" dirty="0"/>
              <a:t>sap-wood, heart-wood</a:t>
            </a:r>
          </a:p>
          <a:p>
            <a:r>
              <a:rPr kumimoji="1" lang="ja-JP" altLang="en-US" sz="1400" dirty="0"/>
              <a:t>（</a:t>
            </a:r>
            <a:r>
              <a:rPr kumimoji="1" lang="en-US" altLang="ja-JP" sz="1400" dirty="0"/>
              <a:t>maintenance, construction</a:t>
            </a:r>
            <a:r>
              <a:rPr kumimoji="1" lang="ja-JP" altLang="en-US" sz="1400" dirty="0"/>
              <a:t>）</a:t>
            </a:r>
            <a:endParaRPr kumimoji="1" lang="en-US" altLang="ja-JP" sz="1400" dirty="0"/>
          </a:p>
          <a:p>
            <a:r>
              <a:rPr lang="ja-JP" altLang="en-US" sz="1400" dirty="0"/>
              <a:t>（</a:t>
            </a:r>
            <a:r>
              <a:rPr lang="en-US" altLang="ja-JP" sz="1400" dirty="0"/>
              <a:t>temperature dependence, Q</a:t>
            </a:r>
            <a:r>
              <a:rPr lang="en-US" altLang="ja-JP" sz="1400" baseline="-25000" dirty="0"/>
              <a:t>10</a:t>
            </a:r>
            <a:r>
              <a:rPr lang="ja-JP" altLang="en-US" sz="1400" dirty="0"/>
              <a:t>）</a:t>
            </a:r>
            <a:endParaRPr kumimoji="1" lang="en-US" altLang="ja-JP" sz="1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70467" y="5653136"/>
            <a:ext cx="25590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Root resp.</a:t>
            </a:r>
            <a:r>
              <a:rPr lang="ja-JP" altLang="en-US" sz="1400" dirty="0"/>
              <a:t>：</a:t>
            </a:r>
            <a:r>
              <a:rPr lang="en-US" altLang="ja-JP" sz="1400" dirty="0"/>
              <a:t>fine/coarse roots</a:t>
            </a:r>
          </a:p>
          <a:p>
            <a:r>
              <a:rPr lang="ja-JP" altLang="en-US" sz="1400" dirty="0"/>
              <a:t>（</a:t>
            </a:r>
            <a:r>
              <a:rPr lang="en-US" altLang="ja-JP" sz="1400" dirty="0"/>
              <a:t>maintenance, construction</a:t>
            </a:r>
            <a:r>
              <a:rPr lang="ja-JP" altLang="en-US" sz="1400" dirty="0"/>
              <a:t>）</a:t>
            </a:r>
            <a:endParaRPr lang="en-US" altLang="ja-JP" sz="1400" dirty="0"/>
          </a:p>
          <a:p>
            <a:r>
              <a:rPr lang="ja-JP" altLang="en-US" sz="1400" dirty="0"/>
              <a:t>（</a:t>
            </a:r>
            <a:r>
              <a:rPr lang="en-US" altLang="ja-JP" sz="1400" dirty="0"/>
              <a:t>temperature dependence, Q</a:t>
            </a:r>
            <a:r>
              <a:rPr lang="en-US" altLang="ja-JP" sz="1400" baseline="-25000" dirty="0"/>
              <a:t>10</a:t>
            </a:r>
            <a:r>
              <a:rPr lang="ja-JP" altLang="en-US" sz="1400" dirty="0"/>
              <a:t>）</a:t>
            </a:r>
            <a:endParaRPr lang="en-US" altLang="ja-JP" sz="1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188987" y="5430966"/>
            <a:ext cx="1700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Allocation, </a:t>
            </a:r>
            <a:r>
              <a:rPr lang="en-US" altLang="ja-JP" sz="1400" dirty="0" err="1"/>
              <a:t>allometry</a:t>
            </a:r>
            <a:endParaRPr kumimoji="1" lang="en-US" altLang="ja-JP" sz="14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599628" y="3867352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Mortality</a:t>
            </a:r>
            <a:endParaRPr kumimoji="1" lang="en-US" altLang="ja-JP" sz="14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376780" y="5267228"/>
            <a:ext cx="280004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Decomposition for each component </a:t>
            </a:r>
          </a:p>
          <a:p>
            <a:r>
              <a:rPr kumimoji="1" lang="ja-JP" altLang="en-US" sz="1400" dirty="0"/>
              <a:t>（</a:t>
            </a:r>
            <a:r>
              <a:rPr kumimoji="1" lang="en-US" altLang="ja-JP" sz="1400" dirty="0"/>
              <a:t>mean residence time</a:t>
            </a:r>
            <a:r>
              <a:rPr kumimoji="1" lang="ja-JP" altLang="en-US" sz="1400" dirty="0"/>
              <a:t>）</a:t>
            </a:r>
            <a:endParaRPr kumimoji="1" lang="en-US" altLang="ja-JP" sz="1400" dirty="0"/>
          </a:p>
          <a:p>
            <a:r>
              <a:rPr lang="ja-JP" altLang="en-US" sz="1400" dirty="0"/>
              <a:t>・</a:t>
            </a:r>
            <a:r>
              <a:rPr lang="en-US" altLang="ja-JP" sz="1400" dirty="0"/>
              <a:t>temperature dependence</a:t>
            </a:r>
          </a:p>
          <a:p>
            <a:r>
              <a:rPr kumimoji="1" lang="ja-JP" altLang="en-US" sz="1400" dirty="0"/>
              <a:t>・</a:t>
            </a:r>
            <a:r>
              <a:rPr kumimoji="1" lang="en-US" altLang="ja-JP" sz="1400" dirty="0"/>
              <a:t>water dependence</a:t>
            </a:r>
          </a:p>
          <a:p>
            <a:r>
              <a:rPr lang="en-US" altLang="ja-JP" sz="1400" dirty="0"/>
              <a:t>Mineralization </a:t>
            </a:r>
            <a:r>
              <a:rPr lang="ja-JP" altLang="en-US" sz="1400" dirty="0"/>
              <a:t>（</a:t>
            </a:r>
            <a:r>
              <a:rPr lang="en-US" altLang="ja-JP" sz="1400" dirty="0"/>
              <a:t>CO</a:t>
            </a:r>
            <a:r>
              <a:rPr lang="en-US" altLang="ja-JP" sz="1400" baseline="-25000" dirty="0"/>
              <a:t>2</a:t>
            </a:r>
            <a:r>
              <a:rPr lang="ja-JP" altLang="en-US" sz="1400" dirty="0"/>
              <a:t>）</a:t>
            </a:r>
            <a:r>
              <a:rPr lang="en-US" altLang="ja-JP" sz="1400" dirty="0"/>
              <a:t> coefficient</a:t>
            </a:r>
            <a:endParaRPr kumimoji="1" lang="en-US" altLang="ja-JP" sz="14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902084" y="2717786"/>
            <a:ext cx="4059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Stomatal</a:t>
            </a:r>
            <a:r>
              <a:rPr kumimoji="1" lang="en-US" altLang="ja-JP" sz="1400" dirty="0"/>
              <a:t> conductance</a:t>
            </a:r>
            <a:r>
              <a:rPr kumimoji="1" lang="ja-JP" altLang="en-US" sz="1400" dirty="0"/>
              <a:t>：</a:t>
            </a:r>
            <a:r>
              <a:rPr kumimoji="1" lang="en-US" altLang="ja-JP" sz="1400" dirty="0" err="1"/>
              <a:t>mon</a:t>
            </a:r>
            <a:r>
              <a:rPr kumimoji="1" lang="en-US" altLang="ja-JP" sz="1400" dirty="0"/>
              <a:t>., max., VPD-dependence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681507" y="3181321"/>
            <a:ext cx="16484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Leaf thickness</a:t>
            </a:r>
            <a:r>
              <a:rPr kumimoji="1" lang="ja-JP" altLang="en-US" sz="1400" dirty="0"/>
              <a:t>（</a:t>
            </a:r>
            <a:r>
              <a:rPr kumimoji="1" lang="en-US" altLang="ja-JP" sz="1400" dirty="0"/>
              <a:t>SLA</a:t>
            </a:r>
            <a:r>
              <a:rPr kumimoji="1" lang="ja-JP" altLang="en-US" sz="1400" dirty="0"/>
              <a:t>）</a:t>
            </a:r>
            <a:endParaRPr kumimoji="1" lang="en-US" altLang="ja-JP" sz="1400" dirty="0"/>
          </a:p>
          <a:p>
            <a:r>
              <a:rPr kumimoji="1" lang="en-US" altLang="ja-JP" sz="1400" dirty="0"/>
              <a:t>Reflectance</a:t>
            </a:r>
          </a:p>
          <a:p>
            <a:r>
              <a:rPr lang="en-US" altLang="ja-JP" sz="1400" dirty="0" err="1"/>
              <a:t>Attenulation</a:t>
            </a:r>
            <a:r>
              <a:rPr lang="ja-JP" altLang="en-US" sz="1400" dirty="0"/>
              <a:t>（</a:t>
            </a:r>
            <a:r>
              <a:rPr lang="en-US" altLang="ja-JP" sz="1400" dirty="0"/>
              <a:t>K</a:t>
            </a:r>
            <a:r>
              <a:rPr lang="ja-JP" altLang="en-US" sz="1400" dirty="0"/>
              <a:t>）</a:t>
            </a:r>
            <a:endParaRPr kumimoji="1" lang="en-US" altLang="ja-JP" sz="14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433595" y="2753398"/>
            <a:ext cx="25493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6">
                    <a:lumMod val="75000"/>
                  </a:schemeClr>
                </a:solidFill>
              </a:rPr>
              <a:t>Parameters are required for each biome, plant functional type, and soil type</a:t>
            </a:r>
          </a:p>
          <a:p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（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e.g</a:t>
            </a:r>
            <a:r>
              <a:rPr lang="en-US" altLang="ja-JP" sz="1600" dirty="0">
                <a:solidFill>
                  <a:schemeClr val="accent6">
                    <a:lumMod val="75000"/>
                  </a:schemeClr>
                </a:solidFill>
              </a:rPr>
              <a:t>.,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：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kumimoji="1" lang="en-US" altLang="ja-JP" sz="1600" baseline="-25000" dirty="0">
                <a:solidFill>
                  <a:schemeClr val="accent6">
                    <a:lumMod val="75000"/>
                  </a:schemeClr>
                </a:solidFill>
              </a:rPr>
              <a:t>3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/C</a:t>
            </a:r>
            <a:r>
              <a:rPr kumimoji="1" lang="en-US" altLang="ja-JP" sz="1600" baseline="-25000" dirty="0">
                <a:solidFill>
                  <a:schemeClr val="accent6">
                    <a:lumMod val="75000"/>
                  </a:schemeClr>
                </a:solidFill>
              </a:rPr>
              <a:t>4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、</a:t>
            </a:r>
            <a:r>
              <a:rPr kumimoji="1" lang="en-US" altLang="ja-JP" sz="1600" dirty="0">
                <a:solidFill>
                  <a:schemeClr val="accent6">
                    <a:lumMod val="75000"/>
                  </a:schemeClr>
                </a:solidFill>
              </a:rPr>
              <a:t>tree/grass</a:t>
            </a:r>
            <a:r>
              <a:rPr kumimoji="1" lang="ja-JP" altLang="en-US" sz="1600" dirty="0">
                <a:solidFill>
                  <a:schemeClr val="accent6">
                    <a:lumMod val="75000"/>
                  </a:schemeClr>
                </a:solidFill>
              </a:rPr>
              <a:t>）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332259" y="4789773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Mortality</a:t>
            </a:r>
            <a:endParaRPr kumimoji="1" lang="en-US" altLang="ja-JP" sz="1400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703944" y="5779037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Mortality</a:t>
            </a:r>
            <a:endParaRPr kumimoji="1" lang="en-US" altLang="ja-JP" sz="1400" dirty="0"/>
          </a:p>
        </p:txBody>
      </p:sp>
      <p:pic>
        <p:nvPicPr>
          <p:cNvPr id="19" name="図 18" descr="visit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0403" y="4800778"/>
            <a:ext cx="2145823" cy="5769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Data: outputs</a:t>
            </a:r>
            <a:endParaRPr lang="ja-JP" altLang="en-US" sz="3200" dirty="0"/>
          </a:p>
        </p:txBody>
      </p:sp>
      <p:pic>
        <p:nvPicPr>
          <p:cNvPr id="3" name="図 2" descr="model_data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936580" y="2566311"/>
            <a:ext cx="7169150" cy="412750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510781" y="973423"/>
            <a:ext cx="8360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Definition</a:t>
            </a:r>
            <a:r>
              <a:rPr lang="ja-JP" altLang="en-US" dirty="0"/>
              <a:t>：</a:t>
            </a:r>
            <a:r>
              <a:rPr lang="en-US" altLang="ja-JP" dirty="0"/>
              <a:t>data that are obtained from model simulation at every time step</a:t>
            </a:r>
          </a:p>
          <a:p>
            <a:r>
              <a:rPr lang="ja-JP" altLang="en-US" dirty="0"/>
              <a:t>　　　　</a:t>
            </a:r>
            <a:r>
              <a:rPr lang="en-US" altLang="ja-JP" dirty="0"/>
              <a:t>=&gt; these data are compared with observation for validation</a:t>
            </a:r>
          </a:p>
        </p:txBody>
      </p:sp>
      <p:sp>
        <p:nvSpPr>
          <p:cNvPr id="5" name="下矢印 4"/>
          <p:cNvSpPr/>
          <p:nvPr/>
        </p:nvSpPr>
        <p:spPr>
          <a:xfrm flipV="1">
            <a:off x="4089710" y="2242573"/>
            <a:ext cx="565489" cy="663845"/>
          </a:xfrm>
          <a:prstGeom prst="downArrow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58317" y="2924759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photosynthesis</a:t>
            </a:r>
          </a:p>
          <a:p>
            <a:r>
              <a:rPr lang="ja-JP" altLang="en-US" dirty="0"/>
              <a:t>（</a:t>
            </a:r>
            <a:r>
              <a:rPr lang="en-US" altLang="ja-JP" dirty="0"/>
              <a:t>GPP</a:t>
            </a:r>
            <a:r>
              <a:rPr lang="ja-JP" altLang="en-US" dirty="0"/>
              <a:t>）</a:t>
            </a:r>
            <a:endParaRPr lang="en-US" altLang="ja-JP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056638" y="2939533"/>
            <a:ext cx="11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respiration</a:t>
            </a:r>
            <a:endParaRPr kumimoji="1" lang="ja-JP" altLang="en-US" dirty="0"/>
          </a:p>
        </p:txBody>
      </p:sp>
      <p:sp>
        <p:nvSpPr>
          <p:cNvPr id="8" name="下矢印 7"/>
          <p:cNvSpPr/>
          <p:nvPr/>
        </p:nvSpPr>
        <p:spPr>
          <a:xfrm flipV="1">
            <a:off x="2926248" y="2249526"/>
            <a:ext cx="565489" cy="663845"/>
          </a:xfrm>
          <a:prstGeom prst="downArrow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下矢印 8"/>
          <p:cNvSpPr/>
          <p:nvPr/>
        </p:nvSpPr>
        <p:spPr>
          <a:xfrm flipV="1">
            <a:off x="1657308" y="2237227"/>
            <a:ext cx="565489" cy="663845"/>
          </a:xfrm>
          <a:prstGeom prst="downArrow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895851" y="2918185"/>
            <a:ext cx="1580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decomposition</a:t>
            </a:r>
            <a:endParaRPr kumimoji="1" lang="ja-JP" altLang="en-US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112497" y="1764547"/>
            <a:ext cx="2254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Net </a:t>
            </a:r>
            <a:r>
              <a:rPr kumimoji="1" lang="en-US" altLang="ja-JP" dirty="0"/>
              <a:t>CO</a:t>
            </a:r>
            <a:r>
              <a:rPr kumimoji="1" lang="en-US" altLang="ja-JP" baseline="-25000" dirty="0"/>
              <a:t>2</a:t>
            </a:r>
            <a:r>
              <a:rPr kumimoji="1" lang="en-US" altLang="ja-JP" dirty="0"/>
              <a:t> budget</a:t>
            </a:r>
            <a:r>
              <a:rPr kumimoji="1" lang="ja-JP" altLang="en-US" dirty="0"/>
              <a:t>（</a:t>
            </a:r>
            <a:r>
              <a:rPr kumimoji="1" lang="en-US" altLang="ja-JP" dirty="0"/>
              <a:t>NEP</a:t>
            </a:r>
            <a:r>
              <a:rPr kumimoji="1" lang="ja-JP" altLang="en-US" dirty="0"/>
              <a:t>）</a:t>
            </a:r>
          </a:p>
        </p:txBody>
      </p:sp>
      <p:sp>
        <p:nvSpPr>
          <p:cNvPr id="12" name="下矢印 11"/>
          <p:cNvSpPr/>
          <p:nvPr/>
        </p:nvSpPr>
        <p:spPr>
          <a:xfrm flipV="1">
            <a:off x="2032545" y="4252020"/>
            <a:ext cx="565489" cy="663845"/>
          </a:xfrm>
          <a:prstGeom prst="downArrow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354676" y="4922884"/>
            <a:ext cx="1767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Biomass</a:t>
            </a:r>
          </a:p>
          <a:p>
            <a:pPr algn="ctr"/>
            <a:r>
              <a:rPr lang="ja-JP" altLang="en-US" dirty="0"/>
              <a:t>（</a:t>
            </a:r>
            <a:r>
              <a:rPr lang="en-US" altLang="ja-JP" dirty="0"/>
              <a:t>for each organ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0" y="5601665"/>
            <a:ext cx="2309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Soil carbon</a:t>
            </a:r>
          </a:p>
          <a:p>
            <a:pPr algn="ctr"/>
            <a:r>
              <a:rPr lang="ja-JP" altLang="en-US" dirty="0"/>
              <a:t>（</a:t>
            </a:r>
            <a:r>
              <a:rPr lang="en-US" altLang="ja-JP" dirty="0"/>
              <a:t>for each component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15" name="下矢印 14"/>
          <p:cNvSpPr/>
          <p:nvPr/>
        </p:nvSpPr>
        <p:spPr>
          <a:xfrm flipV="1">
            <a:off x="728695" y="4967559"/>
            <a:ext cx="565489" cy="663845"/>
          </a:xfrm>
          <a:prstGeom prst="downArrow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下矢印 15"/>
          <p:cNvSpPr/>
          <p:nvPr/>
        </p:nvSpPr>
        <p:spPr>
          <a:xfrm flipV="1">
            <a:off x="5762403" y="4252020"/>
            <a:ext cx="565489" cy="663845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768921" y="4896787"/>
            <a:ext cx="21332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Water budget</a:t>
            </a:r>
          </a:p>
          <a:p>
            <a:r>
              <a:rPr lang="ja-JP" altLang="en-US" dirty="0"/>
              <a:t>（</a:t>
            </a:r>
            <a:r>
              <a:rPr lang="en-US" altLang="ja-JP" dirty="0" err="1"/>
              <a:t>evapotranspiration</a:t>
            </a:r>
            <a:r>
              <a:rPr lang="en-US" altLang="ja-JP" dirty="0"/>
              <a:t>, </a:t>
            </a:r>
          </a:p>
          <a:p>
            <a:r>
              <a:rPr lang="en-US" altLang="ja-JP" dirty="0"/>
              <a:t>runoff</a:t>
            </a:r>
            <a:r>
              <a:rPr lang="ja-JP" altLang="en-US" dirty="0"/>
              <a:t>）</a:t>
            </a:r>
            <a:endParaRPr kumimoji="1" lang="en-US" altLang="ja-JP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216138" y="4896787"/>
            <a:ext cx="13541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GHG budget</a:t>
            </a:r>
          </a:p>
          <a:p>
            <a:r>
              <a:rPr kumimoji="1" lang="ja-JP" altLang="en-US" dirty="0"/>
              <a:t>（</a:t>
            </a:r>
            <a:r>
              <a:rPr kumimoji="1" lang="en-US" altLang="ja-JP" dirty="0"/>
              <a:t>CH</a:t>
            </a:r>
            <a:r>
              <a:rPr kumimoji="1" lang="en-US" altLang="ja-JP" baseline="-25000" dirty="0"/>
              <a:t>4</a:t>
            </a:r>
            <a:r>
              <a:rPr kumimoji="1" lang="ja-JP" altLang="en-US" dirty="0"/>
              <a:t>、</a:t>
            </a:r>
            <a:r>
              <a:rPr kumimoji="1" lang="en-US" altLang="ja-JP" dirty="0"/>
              <a:t>N</a:t>
            </a:r>
            <a:r>
              <a:rPr kumimoji="1" lang="en-US" altLang="ja-JP" baseline="-25000" dirty="0"/>
              <a:t>2</a:t>
            </a:r>
            <a:r>
              <a:rPr kumimoji="1" lang="en-US" altLang="ja-JP" dirty="0"/>
              <a:t>O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r>
              <a:rPr lang="en-US" altLang="ja-JP" dirty="0"/>
              <a:t>Other gases</a:t>
            </a:r>
          </a:p>
          <a:p>
            <a:r>
              <a:rPr lang="ja-JP" altLang="en-US" dirty="0"/>
              <a:t>（</a:t>
            </a:r>
            <a:r>
              <a:rPr lang="en-US" altLang="ja-JP" dirty="0"/>
              <a:t>BVOC etc.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19" name="下矢印 18"/>
          <p:cNvSpPr/>
          <p:nvPr/>
        </p:nvSpPr>
        <p:spPr>
          <a:xfrm flipV="1">
            <a:off x="7188910" y="4252020"/>
            <a:ext cx="565489" cy="663845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図形グループ 19"/>
          <p:cNvGrpSpPr/>
          <p:nvPr/>
        </p:nvGrpSpPr>
        <p:grpSpPr>
          <a:xfrm>
            <a:off x="2102176" y="2216476"/>
            <a:ext cx="5723953" cy="2516982"/>
            <a:chOff x="2102176" y="2216476"/>
            <a:chExt cx="5723953" cy="2516982"/>
          </a:xfrm>
        </p:grpSpPr>
        <p:sp>
          <p:nvSpPr>
            <p:cNvPr id="21" name="テキスト ボックス 20"/>
            <p:cNvSpPr txBox="1"/>
            <p:nvPr/>
          </p:nvSpPr>
          <p:spPr>
            <a:xfrm>
              <a:off x="4128860" y="3600651"/>
              <a:ext cx="15388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dirty="0"/>
                <a:t>Light absorption</a:t>
              </a:r>
              <a:endParaRPr kumimoji="1" lang="ja-JP" altLang="en-US" sz="1600" dirty="0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5946788" y="2495890"/>
              <a:ext cx="187934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 dirty="0"/>
                <a:t>Water-use efficiency</a:t>
              </a:r>
            </a:p>
            <a:p>
              <a:r>
                <a:rPr lang="en-US" altLang="ja-JP" sz="1600" dirty="0"/>
                <a:t>Light-use efficiency</a:t>
              </a:r>
              <a:endParaRPr kumimoji="1" lang="ja-JP" altLang="en-US" sz="1600" dirty="0"/>
            </a:p>
          </p:txBody>
        </p:sp>
        <p:sp>
          <p:nvSpPr>
            <p:cNvPr id="23" name="下矢印 22"/>
            <p:cNvSpPr/>
            <p:nvPr/>
          </p:nvSpPr>
          <p:spPr>
            <a:xfrm flipV="1">
              <a:off x="5484060" y="2216476"/>
              <a:ext cx="565489" cy="663845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2102176" y="3600651"/>
              <a:ext cx="19190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 dirty="0"/>
                <a:t>Canopy conductance</a:t>
              </a:r>
              <a:endParaRPr kumimoji="1" lang="ja-JP" altLang="en-US" sz="1600" dirty="0"/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4128860" y="4148682"/>
              <a:ext cx="119205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dirty="0"/>
                <a:t>Growth rate</a:t>
              </a:r>
            </a:p>
            <a:p>
              <a:r>
                <a:rPr kumimoji="1" lang="ja-JP" altLang="en-US" sz="1600" dirty="0"/>
                <a:t>（</a:t>
              </a:r>
              <a:r>
                <a:rPr kumimoji="1" lang="en-US" altLang="ja-JP" sz="1600" dirty="0"/>
                <a:t>RGR etc.</a:t>
              </a:r>
              <a:r>
                <a:rPr kumimoji="1" lang="ja-JP" altLang="en-US" sz="1600" dirty="0"/>
                <a:t>）</a:t>
              </a:r>
            </a:p>
          </p:txBody>
        </p:sp>
      </p:grpSp>
      <p:pic>
        <p:nvPicPr>
          <p:cNvPr id="26" name="図 25" descr="visi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403" y="4800778"/>
            <a:ext cx="2145823" cy="576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Data sources</a:t>
            </a:r>
            <a:endParaRPr lang="ja-JP" altLang="en-US" sz="3200" dirty="0"/>
          </a:p>
        </p:txBody>
      </p:sp>
      <p:sp>
        <p:nvSpPr>
          <p:cNvPr id="3" name="Line 45"/>
          <p:cNvSpPr>
            <a:spLocks noChangeShapeType="1"/>
          </p:cNvSpPr>
          <p:nvPr/>
        </p:nvSpPr>
        <p:spPr bwMode="auto">
          <a:xfrm>
            <a:off x="1304154" y="3426335"/>
            <a:ext cx="170477" cy="818231"/>
          </a:xfrm>
          <a:prstGeom prst="line">
            <a:avLst/>
          </a:prstGeom>
          <a:noFill/>
          <a:ln w="44450">
            <a:solidFill>
              <a:srgbClr val="FFCC00"/>
            </a:solidFill>
            <a:round/>
            <a:headEnd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ja-JP" altLang="en-US">
              <a:latin typeface="ＭＳ Ｐゴシック"/>
              <a:ea typeface="ＭＳ Ｐゴシック"/>
              <a:cs typeface="ＭＳ Ｐゴシック"/>
            </a:endParaRPr>
          </a:p>
        </p:txBody>
      </p:sp>
      <p:pic>
        <p:nvPicPr>
          <p:cNvPr id="4" name="図 3" descr="スクリーンショット（2010-09-06 18.43.36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22" y="4125242"/>
            <a:ext cx="1468821" cy="20195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 descr="スクリーンショット（2010-09-06 18.54.40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373" y="1808604"/>
            <a:ext cx="2673880" cy="18299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図 5" descr="20060901-BIBLIOTECA-DE-LA-REAL-ACAD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95" y="1548429"/>
            <a:ext cx="1938867" cy="19388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図 6" descr="スクリーンショット（2010-09-07 9.57.24）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146" y="2846059"/>
            <a:ext cx="2534040" cy="17430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 descr="スクリーンショット（2010-09-07 9.58.30）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289" y="4023389"/>
            <a:ext cx="2647337" cy="16104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18" descr="名称未設定-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984327" y="3779385"/>
            <a:ext cx="1414463" cy="2368550"/>
          </a:xfrm>
          <a:prstGeom prst="rect">
            <a:avLst/>
          </a:prstGeom>
          <a:noFill/>
        </p:spPr>
      </p:pic>
      <p:sp>
        <p:nvSpPr>
          <p:cNvPr id="10" name="テキスト ボックス 9"/>
          <p:cNvSpPr txBox="1"/>
          <p:nvPr/>
        </p:nvSpPr>
        <p:spPr>
          <a:xfrm>
            <a:off x="6324723" y="1176205"/>
            <a:ext cx="1860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On-line dataset</a:t>
            </a:r>
          </a:p>
          <a:p>
            <a:r>
              <a:rPr lang="ja-JP" altLang="en-US" sz="1400" dirty="0"/>
              <a:t>（</a:t>
            </a:r>
            <a:r>
              <a:rPr lang="en-US" altLang="ja-JP" sz="1400" dirty="0"/>
              <a:t>problems: credibility</a:t>
            </a:r>
            <a:r>
              <a:rPr lang="ja-JP" altLang="en-US" sz="1400" dirty="0"/>
              <a:t>）</a:t>
            </a:r>
            <a:endParaRPr kumimoji="1" lang="ja-JP" altLang="en-US" sz="14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88146" y="1116542"/>
            <a:ext cx="28247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Past data </a:t>
            </a:r>
            <a:r>
              <a:rPr kumimoji="1" lang="ja-JP" altLang="en-US" sz="1400" dirty="0"/>
              <a:t>（</a:t>
            </a:r>
            <a:r>
              <a:rPr kumimoji="1" lang="en-US" altLang="ja-JP" sz="1400" dirty="0"/>
              <a:t>problems</a:t>
            </a:r>
            <a:r>
              <a:rPr kumimoji="1" lang="ja-JP" altLang="en-US" sz="1400" dirty="0"/>
              <a:t>：</a:t>
            </a:r>
            <a:r>
              <a:rPr kumimoji="1" lang="en-US" altLang="ja-JP" sz="1400" dirty="0"/>
              <a:t>bias, time-lag</a:t>
            </a:r>
            <a:r>
              <a:rPr kumimoji="1" lang="ja-JP" altLang="en-US" sz="1400" dirty="0"/>
              <a:t>）</a:t>
            </a:r>
          </a:p>
        </p:txBody>
      </p:sp>
      <p:pic>
        <p:nvPicPr>
          <p:cNvPr id="12" name="図 11" descr="スクリーンショット（2010-09-07 10.04.11）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6565" y="1916350"/>
            <a:ext cx="857993" cy="1332287"/>
          </a:xfrm>
          <a:prstGeom prst="rect">
            <a:avLst/>
          </a:prstGeom>
        </p:spPr>
      </p:pic>
      <p:pic>
        <p:nvPicPr>
          <p:cNvPr id="13" name="図 12" descr="スクリーンショット（2010-09-07 10.04.44）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8413" y="1822203"/>
            <a:ext cx="825745" cy="1226545"/>
          </a:xfrm>
          <a:prstGeom prst="rect">
            <a:avLst/>
          </a:prstGeom>
        </p:spPr>
      </p:pic>
      <p:pic>
        <p:nvPicPr>
          <p:cNvPr id="14" name="図 13" descr="スクリーンショット（2010-09-07 10.05.19）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4872" y="1948553"/>
            <a:ext cx="835774" cy="1319366"/>
          </a:xfrm>
          <a:prstGeom prst="rect">
            <a:avLst/>
          </a:prstGeom>
        </p:spPr>
      </p:pic>
      <p:sp>
        <p:nvSpPr>
          <p:cNvPr id="15" name="テキスト ボックス 14"/>
          <p:cNvSpPr txBox="1"/>
          <p:nvPr/>
        </p:nvSpPr>
        <p:spPr>
          <a:xfrm>
            <a:off x="6256530" y="6034235"/>
            <a:ext cx="2311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Other models</a:t>
            </a:r>
          </a:p>
          <a:p>
            <a:r>
              <a:rPr kumimoji="1" lang="ja-JP" altLang="en-US" sz="1400" dirty="0"/>
              <a:t>（</a:t>
            </a:r>
            <a:r>
              <a:rPr kumimoji="1" lang="en-US" altLang="ja-JP" sz="1400" dirty="0"/>
              <a:t>papers, codes, </a:t>
            </a:r>
            <a:r>
              <a:rPr kumimoji="1" lang="en-US" altLang="ja-JP" sz="1400" dirty="0" err="1"/>
              <a:t>pers.comm</a:t>
            </a:r>
            <a:r>
              <a:rPr kumimoji="1" lang="en-US" altLang="ja-JP" sz="1400" dirty="0"/>
              <a:t>.</a:t>
            </a:r>
            <a:r>
              <a:rPr kumimoji="1" lang="ja-JP" altLang="en-US" sz="1400" dirty="0"/>
              <a:t>）</a:t>
            </a:r>
          </a:p>
        </p:txBody>
      </p:sp>
      <p:sp>
        <p:nvSpPr>
          <p:cNvPr id="16" name="Line 45"/>
          <p:cNvSpPr>
            <a:spLocks noChangeShapeType="1"/>
          </p:cNvSpPr>
          <p:nvPr/>
        </p:nvSpPr>
        <p:spPr bwMode="auto">
          <a:xfrm>
            <a:off x="4099989" y="3162117"/>
            <a:ext cx="51621" cy="530344"/>
          </a:xfrm>
          <a:prstGeom prst="line">
            <a:avLst/>
          </a:prstGeom>
          <a:noFill/>
          <a:ln w="44450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ja-JP" altLang="en-US"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17" name="Line 45"/>
          <p:cNvSpPr>
            <a:spLocks noChangeShapeType="1"/>
          </p:cNvSpPr>
          <p:nvPr/>
        </p:nvSpPr>
        <p:spPr bwMode="auto">
          <a:xfrm>
            <a:off x="1926400" y="4713343"/>
            <a:ext cx="1747396" cy="17047"/>
          </a:xfrm>
          <a:prstGeom prst="line">
            <a:avLst/>
          </a:prstGeom>
          <a:noFill/>
          <a:ln w="44450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ja-JP" altLang="en-US"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18" name="Line 45"/>
          <p:cNvSpPr>
            <a:spLocks noChangeShapeType="1"/>
          </p:cNvSpPr>
          <p:nvPr/>
        </p:nvSpPr>
        <p:spPr bwMode="auto">
          <a:xfrm flipH="1" flipV="1">
            <a:off x="5497907" y="5898071"/>
            <a:ext cx="681911" cy="315359"/>
          </a:xfrm>
          <a:prstGeom prst="line">
            <a:avLst/>
          </a:prstGeom>
          <a:noFill/>
          <a:ln w="44450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ja-JP" altLang="en-US"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19" name="Line 45"/>
          <p:cNvSpPr>
            <a:spLocks noChangeShapeType="1"/>
          </p:cNvSpPr>
          <p:nvPr/>
        </p:nvSpPr>
        <p:spPr bwMode="auto">
          <a:xfrm>
            <a:off x="2301449" y="2497305"/>
            <a:ext cx="741580" cy="25570"/>
          </a:xfrm>
          <a:prstGeom prst="line">
            <a:avLst/>
          </a:prstGeom>
          <a:noFill/>
          <a:ln w="44450">
            <a:solidFill>
              <a:srgbClr val="FFCC00"/>
            </a:solidFill>
            <a:round/>
            <a:headEnd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ja-JP" altLang="en-US"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20" name="Line 45"/>
          <p:cNvSpPr>
            <a:spLocks noChangeShapeType="1"/>
          </p:cNvSpPr>
          <p:nvPr/>
        </p:nvSpPr>
        <p:spPr bwMode="auto">
          <a:xfrm flipH="1">
            <a:off x="5489383" y="4679251"/>
            <a:ext cx="502910" cy="59662"/>
          </a:xfrm>
          <a:prstGeom prst="line">
            <a:avLst/>
          </a:prstGeom>
          <a:noFill/>
          <a:ln w="44450">
            <a:solidFill>
              <a:srgbClr val="FFCC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ja-JP" altLang="en-US"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2689752" y="1457470"/>
            <a:ext cx="3332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Text</a:t>
            </a:r>
            <a:r>
              <a:rPr kumimoji="1" lang="ja-JP" altLang="en-US" sz="1400" dirty="0"/>
              <a:t>（</a:t>
            </a:r>
            <a:r>
              <a:rPr kumimoji="1" lang="en-US" altLang="ja-JP" sz="1400" dirty="0"/>
              <a:t>equation</a:t>
            </a:r>
            <a:r>
              <a:rPr lang="en-US" altLang="ja-JP" sz="1400" dirty="0"/>
              <a:t>, representative parameters</a:t>
            </a:r>
            <a:r>
              <a:rPr kumimoji="1" lang="ja-JP" altLang="en-US" sz="1400" dirty="0"/>
              <a:t>）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392098" y="3775579"/>
            <a:ext cx="2765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Literature</a:t>
            </a:r>
            <a:r>
              <a:rPr kumimoji="1" lang="ja-JP" altLang="en-US" sz="1400" dirty="0"/>
              <a:t>（</a:t>
            </a:r>
            <a:r>
              <a:rPr kumimoji="1" lang="en-US" altLang="ja-JP" sz="1400" dirty="0"/>
              <a:t>reviews, meta-analyses</a:t>
            </a:r>
            <a:r>
              <a:rPr kumimoji="1" lang="ja-JP" altLang="en-US" sz="1400" dirty="0"/>
              <a:t>）</a:t>
            </a:r>
          </a:p>
        </p:txBody>
      </p:sp>
      <p:pic>
        <p:nvPicPr>
          <p:cNvPr id="23" name="図 22" descr="スクリーンショット（2010-09-07 10.11.27）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6751" y="4500261"/>
            <a:ext cx="1371290" cy="18351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Box-flow approximation</a:t>
            </a:r>
            <a:endParaRPr lang="ja-JP" altLang="en-US" sz="3200" dirty="0"/>
          </a:p>
        </p:txBody>
      </p:sp>
      <p:pic>
        <p:nvPicPr>
          <p:cNvPr id="3" name="Picture 4" descr="mode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2365" y="1806221"/>
            <a:ext cx="3004642" cy="4645433"/>
          </a:xfrm>
          <a:prstGeom prst="rect">
            <a:avLst/>
          </a:prstGeom>
          <a:noFill/>
        </p:spPr>
      </p:pic>
      <p:sp>
        <p:nvSpPr>
          <p:cNvPr id="4" name="テキスト ボックス 3"/>
          <p:cNvSpPr txBox="1"/>
          <p:nvPr/>
        </p:nvSpPr>
        <p:spPr>
          <a:xfrm>
            <a:off x="5710509" y="1223731"/>
            <a:ext cx="1962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/>
              <a:t>Sim</a:t>
            </a:r>
            <a:r>
              <a:rPr lang="en-US" altLang="ja-JP" dirty="0"/>
              <a:t>-CYCLE </a:t>
            </a:r>
            <a:r>
              <a:rPr kumimoji="1" lang="en-US" altLang="ja-JP" dirty="0"/>
              <a:t>(</a:t>
            </a:r>
            <a:r>
              <a:rPr lang="en-US" altLang="ja-JP" dirty="0" err="1"/>
              <a:t>VISITa</a:t>
            </a:r>
            <a:r>
              <a:rPr lang="en-US" altLang="ja-JP" dirty="0"/>
              <a:t> 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図 4" descr="DSC069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350" y="2649391"/>
            <a:ext cx="2949186" cy="2211889"/>
          </a:xfrm>
          <a:prstGeom prst="rect">
            <a:avLst/>
          </a:prstGeom>
        </p:spPr>
      </p:pic>
      <p:pic>
        <p:nvPicPr>
          <p:cNvPr id="6" name="図 5" descr="DSC0798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26" y="3941073"/>
            <a:ext cx="2831924" cy="2123943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517410" y="1345259"/>
            <a:ext cx="4035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• simplification (low computational cost)</a:t>
            </a:r>
          </a:p>
          <a:p>
            <a:r>
              <a:rPr lang="en-US" altLang="ja-JP" dirty="0"/>
              <a:t>• generalization (global applicability)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84297" y="460963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diversity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135481" y="3311407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complexity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834444" y="557859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uncertainty</a:t>
            </a:r>
            <a:endParaRPr kumimoji="1" lang="ja-JP" altLang="en-US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464741" y="419570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non-linearity</a:t>
            </a:r>
            <a:endParaRPr kumimoji="1" lang="ja-JP" altLang="en-US" dirty="0"/>
          </a:p>
        </p:txBody>
      </p:sp>
      <p:sp>
        <p:nvSpPr>
          <p:cNvPr id="12" name="右矢印 11"/>
          <p:cNvSpPr/>
          <p:nvPr/>
        </p:nvSpPr>
        <p:spPr>
          <a:xfrm>
            <a:off x="4489828" y="3506144"/>
            <a:ext cx="429306" cy="1574187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Box-flow system of </a:t>
            </a:r>
            <a:r>
              <a:rPr lang="en-US" altLang="ja-JP" sz="3200" dirty="0" err="1"/>
              <a:t>VISITb</a:t>
            </a:r>
            <a:endParaRPr lang="ja-JP" altLang="en-US" sz="3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4224" y="2336215"/>
            <a:ext cx="3448791" cy="3140731"/>
          </a:xfrm>
          <a:prstGeom prst="rect">
            <a:avLst/>
          </a:prstGeom>
          <a:noFill/>
        </p:spPr>
      </p:pic>
      <p:sp>
        <p:nvSpPr>
          <p:cNvPr id="5" name="テキスト ボックス 4"/>
          <p:cNvSpPr txBox="1"/>
          <p:nvPr/>
        </p:nvSpPr>
        <p:spPr>
          <a:xfrm>
            <a:off x="5191372" y="1474041"/>
            <a:ext cx="2457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C-N cycling </a:t>
            </a:r>
            <a:r>
              <a:rPr lang="en-US" altLang="ja-JP" dirty="0"/>
              <a:t>expression</a:t>
            </a:r>
            <a:endParaRPr kumimoji="1" lang="en-US" altLang="ja-JP" dirty="0"/>
          </a:p>
          <a:p>
            <a:r>
              <a:rPr lang="en-US" altLang="ja-JP" dirty="0"/>
              <a:t>(carbon cycle simplified)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95273" y="1446228"/>
            <a:ext cx="2959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Full carbon cycling expression</a:t>
            </a:r>
          </a:p>
          <a:p>
            <a:r>
              <a:rPr lang="en-US" altLang="ja-JP" dirty="0"/>
              <a:t>(nitrogen cycle ignored)</a:t>
            </a:r>
            <a:endParaRPr kumimoji="1" lang="ja-JP" altLang="en-US" dirty="0"/>
          </a:p>
        </p:txBody>
      </p:sp>
      <p:pic>
        <p:nvPicPr>
          <p:cNvPr id="7" name="図 6" descr="時計, 駐車 が含まれている画像&#10;&#10;自動的に生成された説明">
            <a:extLst>
              <a:ext uri="{FF2B5EF4-FFF2-40B4-BE49-F238E27FC236}">
                <a16:creationId xmlns:a16="http://schemas.microsoft.com/office/drawing/2014/main" id="{22A66A51-026E-014F-957F-9B5EF6D21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950" y="2615877"/>
            <a:ext cx="4961830" cy="2558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7635E-6 -4.08702E-6 L 0.2678 -4.0870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3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GPP: biochemistry</a:t>
            </a:r>
            <a:endParaRPr lang="ja-JP" altLang="en-US" sz="3200" dirty="0"/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763629" y="4446633"/>
          <a:ext cx="1346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9" name="数式" r:id="rId4" imgW="1346200" imgH="292100" progId="Equation.3">
                  <p:embed/>
                </p:oleObj>
              </mc:Choice>
              <mc:Fallback>
                <p:oleObj name="数式" r:id="rId4" imgW="1346200" imgH="2921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629" y="4446633"/>
                        <a:ext cx="13462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742638" y="5026707"/>
          <a:ext cx="236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0" name="数式" r:id="rId6" imgW="2362200" imgH="419100" progId="Equation.3">
                  <p:embed/>
                </p:oleObj>
              </mc:Choice>
              <mc:Fallback>
                <p:oleObj name="数式" r:id="rId6" imgW="2362200" imgH="4191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638" y="5026707"/>
                        <a:ext cx="2362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742638" y="5737384"/>
          <a:ext cx="240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1" name="数式" r:id="rId8" imgW="2400300" imgH="457200" progId="Equation.3">
                  <p:embed/>
                </p:oleObj>
              </mc:Choice>
              <mc:Fallback>
                <p:oleObj name="数式" r:id="rId8" imgW="240030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638" y="5737384"/>
                        <a:ext cx="2400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919754" y="1765048"/>
          <a:ext cx="1104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2" name="数式" r:id="rId10" imgW="1104900" imgH="241300" progId="Equation.3">
                  <p:embed/>
                </p:oleObj>
              </mc:Choice>
              <mc:Fallback>
                <p:oleObj name="数式" r:id="rId10" imgW="1104900" imgH="2413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754" y="1765048"/>
                        <a:ext cx="11049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919754" y="2401060"/>
          <a:ext cx="1955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3" name="数式" r:id="rId12" imgW="1955800" imgH="241300" progId="Equation.3">
                  <p:embed/>
                </p:oleObj>
              </mc:Choice>
              <mc:Fallback>
                <p:oleObj name="数式" r:id="rId12" imgW="1955800" imgH="2413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754" y="2401060"/>
                        <a:ext cx="19558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919754" y="3047543"/>
          <a:ext cx="92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4" name="数式" r:id="rId14" imgW="927100" imgH="393700" progId="Equation.3">
                  <p:embed/>
                </p:oleObj>
              </mc:Choice>
              <mc:Fallback>
                <p:oleObj name="数式" r:id="rId14" imgW="927100" imgH="3937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754" y="3047543"/>
                        <a:ext cx="927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919754" y="3724642"/>
          <a:ext cx="736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5" name="数式" r:id="rId16" imgW="736600" imgH="419100" progId="Equation.3">
                  <p:embed/>
                </p:oleObj>
              </mc:Choice>
              <mc:Fallback>
                <p:oleObj name="数式" r:id="rId16" imgW="736600" imgH="4191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754" y="3724642"/>
                        <a:ext cx="736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919754" y="4406149"/>
          <a:ext cx="1841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6" name="数式" r:id="rId18" imgW="1841500" imgH="444500" progId="Equation.3">
                  <p:embed/>
                </p:oleObj>
              </mc:Choice>
              <mc:Fallback>
                <p:oleObj name="数式" r:id="rId18" imgW="1841500" imgH="4445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754" y="4406149"/>
                        <a:ext cx="18415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919754" y="5156703"/>
          <a:ext cx="2654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7" name="数式" r:id="rId20" imgW="2654300" imgH="241300" progId="Equation.3">
                  <p:embed/>
                </p:oleObj>
              </mc:Choice>
              <mc:Fallback>
                <p:oleObj name="数式" r:id="rId20" imgW="2654300" imgH="2413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754" y="5156703"/>
                        <a:ext cx="26543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919754" y="5772150"/>
          <a:ext cx="3238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8" name="数式" r:id="rId22" imgW="3238500" imgH="901700" progId="Equation.3">
                  <p:embed/>
                </p:oleObj>
              </mc:Choice>
              <mc:Fallback>
                <p:oleObj name="数式" r:id="rId22" imgW="3238500" imgH="9017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754" y="5772150"/>
                        <a:ext cx="32385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テキスト ボックス 12"/>
          <p:cNvSpPr txBox="1"/>
          <p:nvPr/>
        </p:nvSpPr>
        <p:spPr>
          <a:xfrm>
            <a:off x="430466" y="1067493"/>
            <a:ext cx="443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Leaf biochemical photosynthesis scheme</a:t>
            </a:r>
            <a:r>
              <a:rPr lang="ja-JP" altLang="en-US" dirty="0"/>
              <a:t>（</a:t>
            </a:r>
            <a:r>
              <a:rPr lang="en-US" altLang="ja-JP" dirty="0"/>
              <a:t>C</a:t>
            </a:r>
            <a:r>
              <a:rPr lang="en-US" altLang="ja-JP" baseline="-25000" dirty="0"/>
              <a:t>3</a:t>
            </a:r>
            <a:r>
              <a:rPr lang="ja-JP" altLang="en-US" dirty="0"/>
              <a:t>）</a:t>
            </a:r>
            <a:endParaRPr kumimoji="1" lang="en-US" altLang="ja-JP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85426" y="4116366"/>
            <a:ext cx="1994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Net photosynthesis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85426" y="4714653"/>
            <a:ext cx="2247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/>
              <a:t>Rubisco-limitated</a:t>
            </a:r>
            <a:r>
              <a:rPr lang="en-US" altLang="ja-JP" dirty="0"/>
              <a:t> rate</a:t>
            </a:r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85426" y="5417903"/>
            <a:ext cx="31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RUBP-regeneration-limited </a:t>
            </a:r>
            <a:r>
              <a:rPr lang="en-US" altLang="ja-JP" dirty="0"/>
              <a:t>rate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534164" y="1439609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Effective </a:t>
            </a:r>
            <a:r>
              <a:rPr lang="en-US" altLang="ja-JP" dirty="0" err="1"/>
              <a:t>Michaelis-Menten</a:t>
            </a:r>
            <a:r>
              <a:rPr lang="en-US" altLang="ja-JP" dirty="0"/>
              <a:t> constant</a:t>
            </a:r>
            <a:endParaRPr kumimoji="1" lang="ja-JP" altLang="en-US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534164" y="2117835"/>
            <a:ext cx="2408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Light-electron transport</a:t>
            </a:r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534164" y="2720362"/>
            <a:ext cx="214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 absorbed by PSII</a:t>
            </a:r>
            <a:endParaRPr kumimoji="1" lang="ja-JP" altLang="en-US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534164" y="3381627"/>
            <a:ext cx="4113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respiration/maximum photosynthetic rate</a:t>
            </a:r>
            <a:endParaRPr kumimoji="1" lang="ja-JP" altLang="en-US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534164" y="4063884"/>
            <a:ext cx="3911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Arrhenius equations</a:t>
            </a:r>
            <a:r>
              <a:rPr lang="ja-JP" altLang="en-US" dirty="0"/>
              <a:t>：</a:t>
            </a:r>
            <a:r>
              <a:rPr lang="en-US" altLang="ja-JP" dirty="0" err="1"/>
              <a:t>K</a:t>
            </a:r>
            <a:r>
              <a:rPr lang="en-US" altLang="ja-JP" baseline="-25000" dirty="0" err="1"/>
              <a:t>c</a:t>
            </a:r>
            <a:r>
              <a:rPr lang="en-US" altLang="ja-JP" dirty="0"/>
              <a:t>, </a:t>
            </a:r>
            <a:r>
              <a:rPr lang="en-US" altLang="ja-JP" dirty="0" err="1"/>
              <a:t>K</a:t>
            </a:r>
            <a:r>
              <a:rPr lang="en-US" altLang="ja-JP" baseline="-25000" dirty="0" err="1"/>
              <a:t>o</a:t>
            </a:r>
            <a:r>
              <a:rPr lang="en-US" altLang="ja-JP" dirty="0"/>
              <a:t>, </a:t>
            </a:r>
            <a:r>
              <a:rPr lang="en-US" altLang="ja-JP" dirty="0" err="1"/>
              <a:t>V</a:t>
            </a:r>
            <a:r>
              <a:rPr lang="en-US" altLang="ja-JP" baseline="-25000" dirty="0" err="1"/>
              <a:t>l</a:t>
            </a:r>
            <a:r>
              <a:rPr lang="en-US" altLang="ja-JP" dirty="0"/>
              <a:t>, </a:t>
            </a:r>
            <a:r>
              <a:rPr lang="en-US" altLang="ja-JP" dirty="0" err="1"/>
              <a:t>J</a:t>
            </a:r>
            <a:r>
              <a:rPr lang="en-US" altLang="ja-JP" baseline="-25000" dirty="0" err="1"/>
              <a:t>m</a:t>
            </a:r>
            <a:r>
              <a:rPr lang="en-US" altLang="ja-JP" dirty="0"/>
              <a:t>, </a:t>
            </a:r>
            <a:r>
              <a:rPr lang="en-US" altLang="ja-JP" dirty="0" err="1"/>
              <a:t>R</a:t>
            </a:r>
            <a:r>
              <a:rPr lang="en-US" altLang="ja-JP" baseline="-25000" dirty="0" err="1"/>
              <a:t>l</a:t>
            </a:r>
            <a:r>
              <a:rPr lang="en-US" altLang="ja-JP" dirty="0"/>
              <a:t>, </a:t>
            </a:r>
            <a:r>
              <a:rPr lang="en-US" altLang="ja-JP" dirty="0">
                <a:latin typeface="Symbol" charset="2"/>
                <a:cs typeface="Symbol" charset="2"/>
              </a:rPr>
              <a:t>G</a:t>
            </a:r>
            <a:r>
              <a:rPr lang="en-US" altLang="ja-JP" dirty="0"/>
              <a:t>*</a:t>
            </a:r>
            <a:endParaRPr kumimoji="1" lang="ja-JP" altLang="en-US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534164" y="4809120"/>
            <a:ext cx="2972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Temperature dependence</a:t>
            </a:r>
            <a:r>
              <a:rPr lang="ja-JP" altLang="en-US" dirty="0"/>
              <a:t>：</a:t>
            </a:r>
            <a:r>
              <a:rPr lang="en-US" altLang="ja-JP" dirty="0">
                <a:latin typeface="Symbol" charset="2"/>
                <a:cs typeface="Symbol" charset="2"/>
              </a:rPr>
              <a:t>G</a:t>
            </a:r>
            <a:r>
              <a:rPr lang="en-US" altLang="ja-JP" dirty="0"/>
              <a:t>*</a:t>
            </a:r>
            <a:endParaRPr kumimoji="1" lang="ja-JP" altLang="en-US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4534164" y="5386415"/>
            <a:ext cx="2914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Temperature dependence</a:t>
            </a:r>
            <a:r>
              <a:rPr lang="ja-JP" altLang="en-US" dirty="0"/>
              <a:t>：</a:t>
            </a:r>
            <a:r>
              <a:rPr lang="en-US" altLang="ja-JP" dirty="0" err="1"/>
              <a:t>J</a:t>
            </a:r>
            <a:r>
              <a:rPr lang="en-US" altLang="ja-JP" baseline="-25000" dirty="0" err="1"/>
              <a:t>m</a:t>
            </a:r>
            <a:endParaRPr kumimoji="1" lang="ja-JP" altLang="en-US" baseline="-25000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0" y="6550223"/>
            <a:ext cx="3100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Farquhar, von </a:t>
            </a:r>
            <a:r>
              <a:rPr lang="en-US" altLang="ja-JP" sz="1400" dirty="0" err="1"/>
              <a:t>Caemmerer</a:t>
            </a:r>
            <a:r>
              <a:rPr lang="en-US" altLang="ja-JP" sz="1400" dirty="0"/>
              <a:t>, Berry (1980)</a:t>
            </a:r>
            <a:endParaRPr lang="ja-JP" altLang="en-US" sz="1400" dirty="0"/>
          </a:p>
        </p:txBody>
      </p:sp>
      <p:pic>
        <p:nvPicPr>
          <p:cNvPr id="25" name="図 24" descr="スクリーンショット（2010-09-07 18.46.44）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4613" y="1396973"/>
            <a:ext cx="3208891" cy="27832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4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GPP: 1-layer canopy</a:t>
            </a:r>
            <a:endParaRPr lang="ja-JP" altLang="en-US" sz="3200" dirty="0"/>
          </a:p>
        </p:txBody>
      </p:sp>
      <p:pic>
        <p:nvPicPr>
          <p:cNvPr id="3" name="図 2" descr="スクリーンショット（2010-08-20 10.19.58）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70" y="1472610"/>
            <a:ext cx="3535148" cy="3808837"/>
          </a:xfrm>
          <a:prstGeom prst="rect">
            <a:avLst/>
          </a:prstGeom>
        </p:spPr>
      </p:pic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4357565" y="2381150"/>
          <a:ext cx="4013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3" name="数式" r:id="rId6" imgW="4013200" imgH="673100" progId="Equation.3">
                  <p:embed/>
                </p:oleObj>
              </mc:Choice>
              <mc:Fallback>
                <p:oleObj name="数式" r:id="rId6" imgW="4013200" imgH="6731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565" y="2381150"/>
                        <a:ext cx="4013200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4357565" y="3472291"/>
          <a:ext cx="2489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4" name="数式" r:id="rId8" imgW="2489200" imgH="901700" progId="Equation.3">
                  <p:embed/>
                </p:oleObj>
              </mc:Choice>
              <mc:Fallback>
                <p:oleObj name="数式" r:id="rId8" imgW="2489200" imgH="9017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565" y="3472291"/>
                        <a:ext cx="24892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357565" y="4768874"/>
          <a:ext cx="2235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5" name="数式" r:id="rId10" imgW="2235200" imgH="825500" progId="Equation.3">
                  <p:embed/>
                </p:oleObj>
              </mc:Choice>
              <mc:Fallback>
                <p:oleObj name="数式" r:id="rId10" imgW="2235200" imgH="8255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565" y="4768874"/>
                        <a:ext cx="22352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962432" y="5849660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6" name="数式" r:id="rId12" imgW="1397000" imgH="393700" progId="Equation.3">
                  <p:embed/>
                </p:oleObj>
              </mc:Choice>
              <mc:Fallback>
                <p:oleObj name="数式" r:id="rId12" imgW="1397000" imgH="3937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432" y="5849660"/>
                        <a:ext cx="1397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4009352" y="1490686"/>
            <a:ext cx="1909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Leaf area index: </a:t>
            </a:r>
            <a:r>
              <a:rPr kumimoji="1" lang="en-US" altLang="ja-JP" dirty="0" err="1"/>
              <a:t>Lc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009352" y="2018025"/>
            <a:ext cx="2871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Absorption of solar radiation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009352" y="3088645"/>
            <a:ext cx="837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Total N</a:t>
            </a:r>
            <a:endParaRPr kumimoji="1" lang="ja-JP" altLang="en-US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009352" y="4337701"/>
            <a:ext cx="3544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Max. </a:t>
            </a:r>
            <a:r>
              <a:rPr kumimoji="1" lang="en-US" altLang="ja-JP" dirty="0" err="1"/>
              <a:t>carboxylation</a:t>
            </a:r>
            <a:r>
              <a:rPr kumimoji="1" lang="en-US" altLang="ja-JP" dirty="0"/>
              <a:t> rate (</a:t>
            </a:r>
            <a:r>
              <a:rPr kumimoji="1" lang="en-US" altLang="ja-JP" dirty="0" err="1"/>
              <a:t>V</a:t>
            </a:r>
            <a:r>
              <a:rPr kumimoji="1" lang="en-US" altLang="ja-JP" baseline="-25000" dirty="0" err="1"/>
              <a:t>c</a:t>
            </a:r>
            <a:r>
              <a:rPr kumimoji="1" lang="en-US" altLang="ja-JP" dirty="0"/>
              <a:t> or </a:t>
            </a:r>
            <a:r>
              <a:rPr kumimoji="1" lang="en-US" altLang="ja-JP" dirty="0" err="1"/>
              <a:t>V</a:t>
            </a:r>
            <a:r>
              <a:rPr kumimoji="1" lang="en-US" altLang="ja-JP" baseline="-25000" dirty="0" err="1"/>
              <a:t>cmax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14219" y="5368049"/>
            <a:ext cx="168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Dark respiration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727681" y="3039490"/>
            <a:ext cx="538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beam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035078" y="3039490"/>
            <a:ext cx="608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diffuse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211768" y="1790434"/>
            <a:ext cx="538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beam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430607" y="1769441"/>
            <a:ext cx="608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diffuse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899944" y="3301896"/>
            <a:ext cx="608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diffuse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802452" y="2987009"/>
            <a:ext cx="538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beam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009352" y="5709301"/>
            <a:ext cx="3221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Max. electron transport rate (</a:t>
            </a:r>
            <a:r>
              <a:rPr kumimoji="1" lang="en-US" altLang="ja-JP" dirty="0" err="1"/>
              <a:t>J</a:t>
            </a:r>
            <a:r>
              <a:rPr kumimoji="1" lang="en-US" altLang="ja-JP" baseline="-25000" dirty="0" err="1"/>
              <a:t>m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4446588" y="6117166"/>
          <a:ext cx="3479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7" name="数式" r:id="rId14" imgW="3479800" imgH="317500" progId="Equation.3">
                  <p:embed/>
                </p:oleObj>
              </mc:Choice>
              <mc:Fallback>
                <p:oleObj name="数式" r:id="rId14" imgW="3479800" imgH="3175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6117166"/>
                        <a:ext cx="34798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テキスト ボックス 20"/>
          <p:cNvSpPr txBox="1"/>
          <p:nvPr/>
        </p:nvSpPr>
        <p:spPr>
          <a:xfrm>
            <a:off x="0" y="6550223"/>
            <a:ext cx="2129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De </a:t>
            </a:r>
            <a:r>
              <a:rPr kumimoji="1" lang="en-US" altLang="ja-JP" sz="1400" dirty="0" err="1"/>
              <a:t>Pury</a:t>
            </a:r>
            <a:r>
              <a:rPr kumimoji="1" lang="en-US" altLang="ja-JP" sz="1400" dirty="0"/>
              <a:t> &amp; Farquhar (1997)</a:t>
            </a:r>
            <a:endParaRPr kumimoji="1" lang="ja-JP" altLang="en-US" sz="140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883511" y="1090654"/>
            <a:ext cx="176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1-layer</a:t>
            </a:r>
            <a:r>
              <a:rPr kumimoji="1" lang="ja-JP" altLang="en-US" dirty="0"/>
              <a:t>（</a:t>
            </a:r>
            <a:r>
              <a:rPr kumimoji="1" lang="en-US" altLang="ja-JP" dirty="0"/>
              <a:t>big-leaf</a:t>
            </a:r>
            <a:r>
              <a:rPr kumimoji="1" lang="ja-JP" altLang="en-US" dirty="0"/>
              <a:t>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3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GPP: 2-layer canopy</a:t>
            </a:r>
            <a:endParaRPr lang="ja-JP" altLang="en-US" sz="3200" dirty="0"/>
          </a:p>
        </p:txBody>
      </p:sp>
      <p:pic>
        <p:nvPicPr>
          <p:cNvPr id="3" name="図 2" descr="スクリーンショット（2010-08-31 17.05.40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15" y="1301538"/>
            <a:ext cx="3290198" cy="214124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629715" y="3873124"/>
            <a:ext cx="2665798" cy="110210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accent3">
                    <a:lumMod val="50000"/>
                  </a:schemeClr>
                </a:solidFill>
              </a:rPr>
              <a:t>Sunny canopy</a:t>
            </a:r>
            <a:endParaRPr kumimoji="1" lang="ja-JP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29715" y="5290120"/>
            <a:ext cx="2665798" cy="110210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Shade canopy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cxnSp>
        <p:nvCxnSpPr>
          <p:cNvPr id="6" name="直線矢印コネクタ 5"/>
          <p:cNvCxnSpPr/>
          <p:nvPr/>
        </p:nvCxnSpPr>
        <p:spPr>
          <a:xfrm rot="5400000">
            <a:off x="79806" y="3112542"/>
            <a:ext cx="2066975" cy="1588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/>
          <p:cNvCxnSpPr/>
          <p:nvPr/>
        </p:nvCxnSpPr>
        <p:spPr>
          <a:xfrm rot="5400000">
            <a:off x="-386062" y="4346250"/>
            <a:ext cx="2454544" cy="1588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1563796" y="4534387"/>
            <a:ext cx="64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V</a:t>
            </a:r>
            <a:r>
              <a:rPr lang="en-US" altLang="ja-JP" baseline="-25000" dirty="0" err="1"/>
              <a:t>c</a:t>
            </a:r>
            <a:r>
              <a:rPr kumimoji="1" lang="en-US" altLang="ja-JP" baseline="-25000" dirty="0" err="1"/>
              <a:t>Sun</a:t>
            </a:r>
            <a:endParaRPr kumimoji="1" lang="ja-JP" altLang="en-US" baseline="-250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469336" y="3810145"/>
            <a:ext cx="540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I</a:t>
            </a:r>
            <a:r>
              <a:rPr kumimoji="1" lang="en-US" altLang="ja-JP" baseline="-25000" dirty="0" err="1"/>
              <a:t>cSun</a:t>
            </a:r>
            <a:endParaRPr kumimoji="1" lang="ja-JP" altLang="en-US" baseline="-250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448346" y="5248134"/>
            <a:ext cx="459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I</a:t>
            </a:r>
            <a:r>
              <a:rPr kumimoji="1" lang="en-US" altLang="ja-JP" baseline="-25000" dirty="0" err="1"/>
              <a:t>cSh</a:t>
            </a:r>
            <a:endParaRPr kumimoji="1" lang="ja-JP" altLang="en-US" baseline="-250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049528" y="4534387"/>
            <a:ext cx="64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L</a:t>
            </a:r>
            <a:r>
              <a:rPr kumimoji="1" lang="en-US" altLang="ja-JP" baseline="-25000" dirty="0" err="1"/>
              <a:t>Sun</a:t>
            </a:r>
            <a:endParaRPr kumimoji="1" lang="ja-JP" altLang="en-US" baseline="-250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049528" y="5946137"/>
            <a:ext cx="4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/>
              <a:t>L</a:t>
            </a:r>
            <a:r>
              <a:rPr kumimoji="1" lang="en-US" altLang="ja-JP" baseline="-25000" dirty="0" err="1"/>
              <a:t>Sh</a:t>
            </a:r>
            <a:endParaRPr kumimoji="1" lang="ja-JP" altLang="en-US" baseline="-250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563796" y="5946137"/>
            <a:ext cx="64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V</a:t>
            </a:r>
            <a:r>
              <a:rPr lang="en-US" altLang="ja-JP" baseline="-25000" dirty="0" err="1"/>
              <a:t>c</a:t>
            </a:r>
            <a:r>
              <a:rPr kumimoji="1" lang="en-US" altLang="ja-JP" baseline="-25000" dirty="0" err="1"/>
              <a:t>Sh</a:t>
            </a:r>
            <a:endParaRPr kumimoji="1" lang="ja-JP" altLang="en-US" baseline="-250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707779" y="3810147"/>
            <a:ext cx="64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A</a:t>
            </a:r>
            <a:r>
              <a:rPr kumimoji="1" lang="en-US" altLang="ja-JP" baseline="-25000" dirty="0" err="1"/>
              <a:t>Sun</a:t>
            </a:r>
            <a:endParaRPr kumimoji="1" lang="ja-JP" altLang="en-US" baseline="-25000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791742" y="5237637"/>
            <a:ext cx="64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A</a:t>
            </a:r>
            <a:r>
              <a:rPr kumimoji="1" lang="en-US" altLang="ja-JP" baseline="-25000" dirty="0" err="1"/>
              <a:t>Sh</a:t>
            </a:r>
            <a:endParaRPr kumimoji="1" lang="ja-JP" altLang="en-US" baseline="-250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707779" y="4146028"/>
            <a:ext cx="64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pi</a:t>
            </a:r>
            <a:r>
              <a:rPr kumimoji="1" lang="en-US" altLang="ja-JP" baseline="-25000" dirty="0" err="1"/>
              <a:t>Sun</a:t>
            </a:r>
            <a:endParaRPr kumimoji="1" lang="ja-JP" altLang="en-US" baseline="-250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791742" y="5573518"/>
            <a:ext cx="64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pi</a:t>
            </a:r>
            <a:r>
              <a:rPr kumimoji="1" lang="en-US" altLang="ja-JP" baseline="-25000" dirty="0" err="1"/>
              <a:t>Sh</a:t>
            </a:r>
            <a:endParaRPr kumimoji="1" lang="ja-JP" altLang="en-US" baseline="-25000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707779" y="4513397"/>
            <a:ext cx="64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gs</a:t>
            </a:r>
            <a:r>
              <a:rPr kumimoji="1" lang="en-US" altLang="ja-JP" baseline="-25000" dirty="0" err="1"/>
              <a:t>Sun</a:t>
            </a:r>
            <a:endParaRPr kumimoji="1" lang="ja-JP" altLang="en-US" baseline="-250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791742" y="5940887"/>
            <a:ext cx="64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gs</a:t>
            </a:r>
            <a:r>
              <a:rPr kumimoji="1" lang="en-US" altLang="ja-JP" baseline="-25000" dirty="0" err="1"/>
              <a:t>Sh</a:t>
            </a:r>
            <a:endParaRPr kumimoji="1" lang="ja-JP" altLang="en-US" baseline="-25000" dirty="0"/>
          </a:p>
        </p:txBody>
      </p:sp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4234224" y="1615762"/>
          <a:ext cx="1257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7" name="数式" r:id="rId5" imgW="1257300" imgH="203200" progId="Equation.3">
                  <p:embed/>
                </p:oleObj>
              </mc:Choice>
              <mc:Fallback>
                <p:oleObj name="数式" r:id="rId5" imgW="1257300" imgH="203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4224" y="1615762"/>
                        <a:ext cx="12573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/>
          <p:cNvGraphicFramePr>
            <a:graphicFrameLocks noChangeAspect="1"/>
          </p:cNvGraphicFramePr>
          <p:nvPr/>
        </p:nvGraphicFramePr>
        <p:xfrm>
          <a:off x="4490815" y="3803559"/>
          <a:ext cx="1727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8" name="数式" r:id="rId7" imgW="1727200" imgH="635000" progId="Equation.3">
                  <p:embed/>
                </p:oleObj>
              </mc:Choice>
              <mc:Fallback>
                <p:oleObj name="数式" r:id="rId7" imgW="1727200" imgH="635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0815" y="3803559"/>
                        <a:ext cx="17272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5"/>
          <p:cNvGraphicFramePr>
            <a:graphicFrameLocks noChangeAspect="1"/>
          </p:cNvGraphicFramePr>
          <p:nvPr/>
        </p:nvGraphicFramePr>
        <p:xfrm>
          <a:off x="4493621" y="4908305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9" name="数式" r:id="rId9" imgW="762000" imgH="393700" progId="Equation.3">
                  <p:embed/>
                </p:oleObj>
              </mc:Choice>
              <mc:Fallback>
                <p:oleObj name="数式" r:id="rId9" imgW="762000" imgH="3937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3621" y="4908305"/>
                        <a:ext cx="762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6"/>
          <p:cNvGraphicFramePr>
            <a:graphicFrameLocks noChangeAspect="1"/>
          </p:cNvGraphicFramePr>
          <p:nvPr/>
        </p:nvGraphicFramePr>
        <p:xfrm>
          <a:off x="4435976" y="1963777"/>
          <a:ext cx="1346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0" name="数式" r:id="rId11" imgW="1346200" imgH="292100" progId="Equation.3">
                  <p:embed/>
                </p:oleObj>
              </mc:Choice>
              <mc:Fallback>
                <p:oleObj name="数式" r:id="rId11" imgW="1346200" imgH="2921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976" y="1963777"/>
                        <a:ext cx="13462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7"/>
          <p:cNvGraphicFramePr>
            <a:graphicFrameLocks noChangeAspect="1"/>
          </p:cNvGraphicFramePr>
          <p:nvPr/>
        </p:nvGraphicFramePr>
        <p:xfrm>
          <a:off x="4435976" y="2333927"/>
          <a:ext cx="236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1" name="数式" r:id="rId13" imgW="2362200" imgH="419100" progId="Equation.3">
                  <p:embed/>
                </p:oleObj>
              </mc:Choice>
              <mc:Fallback>
                <p:oleObj name="数式" r:id="rId13" imgW="2362200" imgH="4191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976" y="2333927"/>
                        <a:ext cx="2362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8"/>
          <p:cNvGraphicFramePr>
            <a:graphicFrameLocks noChangeAspect="1"/>
          </p:cNvGraphicFramePr>
          <p:nvPr/>
        </p:nvGraphicFramePr>
        <p:xfrm>
          <a:off x="4435976" y="2855671"/>
          <a:ext cx="240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2" name="数式" r:id="rId15" imgW="2400300" imgH="457200" progId="Equation.3">
                  <p:embed/>
                </p:oleObj>
              </mc:Choice>
              <mc:Fallback>
                <p:oleObj name="数式" r:id="rId15" imgW="240030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976" y="2855671"/>
                        <a:ext cx="2400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テキスト ボックス 25"/>
          <p:cNvSpPr txBox="1"/>
          <p:nvPr/>
        </p:nvSpPr>
        <p:spPr>
          <a:xfrm>
            <a:off x="4009352" y="1199315"/>
            <a:ext cx="2355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Canopy </a:t>
            </a:r>
            <a:r>
              <a:rPr lang="en-US" altLang="ja-JP" dirty="0"/>
              <a:t>photosynthesis</a:t>
            </a:r>
            <a:endParaRPr kumimoji="1" lang="ja-JP" altLang="en-US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4009352" y="3424525"/>
            <a:ext cx="2268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Stomatal</a:t>
            </a:r>
            <a:r>
              <a:rPr kumimoji="1" lang="en-US" altLang="ja-JP" dirty="0"/>
              <a:t> conductance</a:t>
            </a:r>
            <a:endParaRPr kumimoji="1" lang="ja-JP" altLang="en-US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7186079" y="2374897"/>
            <a:ext cx="1153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 err="1"/>
              <a:t>Rubisco</a:t>
            </a:r>
            <a:r>
              <a:rPr kumimoji="1" lang="en-US" altLang="ja-JP" sz="1200" dirty="0"/>
              <a:t>-limited</a:t>
            </a:r>
            <a:endParaRPr kumimoji="1" lang="ja-JP" altLang="en-US" sz="1200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7186079" y="2910207"/>
            <a:ext cx="1800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Electron transport</a:t>
            </a:r>
            <a:r>
              <a:rPr kumimoji="1" lang="en-US" altLang="ja-JP" sz="1200" dirty="0"/>
              <a:t>-limited</a:t>
            </a:r>
            <a:endParaRPr kumimoji="1" lang="ja-JP" altLang="en-US" sz="1200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009352" y="4537130"/>
            <a:ext cx="3111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Intercellular CO</a:t>
            </a:r>
            <a:r>
              <a:rPr kumimoji="1" lang="en-US" altLang="ja-JP" baseline="-25000" dirty="0"/>
              <a:t>2</a:t>
            </a:r>
            <a:r>
              <a:rPr kumimoji="1" lang="en-US" altLang="ja-JP" dirty="0"/>
              <a:t> concentration</a:t>
            </a:r>
            <a:endParaRPr kumimoji="1" lang="ja-JP" altLang="en-US" dirty="0"/>
          </a:p>
        </p:txBody>
      </p:sp>
      <p:grpSp>
        <p:nvGrpSpPr>
          <p:cNvPr id="31" name="図形グループ 30"/>
          <p:cNvGrpSpPr/>
          <p:nvPr/>
        </p:nvGrpSpPr>
        <p:grpSpPr>
          <a:xfrm>
            <a:off x="4009352" y="5345343"/>
            <a:ext cx="4544289" cy="982211"/>
            <a:chOff x="4009352" y="5345343"/>
            <a:chExt cx="4544289" cy="982211"/>
          </a:xfrm>
        </p:grpSpPr>
        <p:sp>
          <p:nvSpPr>
            <p:cNvPr id="32" name="テキスト ボックス 31"/>
            <p:cNvSpPr txBox="1"/>
            <p:nvPr/>
          </p:nvSpPr>
          <p:spPr>
            <a:xfrm>
              <a:off x="4009352" y="5345343"/>
              <a:ext cx="349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Solution of simul</a:t>
              </a:r>
              <a:r>
                <a:rPr lang="en-US" altLang="ja-JP" dirty="0"/>
                <a:t>taneous equations</a:t>
              </a:r>
              <a:endParaRPr kumimoji="1" lang="ja-JP" altLang="en-US" dirty="0"/>
            </a:p>
          </p:txBody>
        </p:sp>
        <p:sp>
          <p:nvSpPr>
            <p:cNvPr id="33" name="テキスト ボックス 32"/>
            <p:cNvSpPr txBox="1"/>
            <p:nvPr/>
          </p:nvSpPr>
          <p:spPr>
            <a:xfrm>
              <a:off x="4429162" y="5681223"/>
              <a:ext cx="41244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- numerical: Newton-</a:t>
              </a:r>
              <a:r>
                <a:rPr kumimoji="1" lang="en-US" altLang="ja-JP" dirty="0" err="1"/>
                <a:t>Raphson</a:t>
              </a:r>
              <a:r>
                <a:rPr kumimoji="1" lang="en-US" altLang="ja-JP" dirty="0"/>
                <a:t> method</a:t>
              </a:r>
            </a:p>
            <a:p>
              <a:r>
                <a:rPr kumimoji="1" lang="en-US" altLang="ja-JP" dirty="0"/>
                <a:t>- analytical: </a:t>
              </a:r>
              <a:r>
                <a:rPr kumimoji="1" lang="en-US" altLang="ja-JP" dirty="0" err="1"/>
                <a:t>Baldocchi</a:t>
              </a:r>
              <a:r>
                <a:rPr kumimoji="1" lang="en-US" altLang="ja-JP" dirty="0"/>
                <a:t> (1994) </a:t>
              </a:r>
              <a:endParaRPr kumimoji="1" lang="ja-JP" altLang="en-US" dirty="0"/>
            </a:p>
          </p:txBody>
        </p:sp>
      </p:grpSp>
      <p:grpSp>
        <p:nvGrpSpPr>
          <p:cNvPr id="34" name="図形グループ 33"/>
          <p:cNvGrpSpPr/>
          <p:nvPr/>
        </p:nvGrpSpPr>
        <p:grpSpPr>
          <a:xfrm>
            <a:off x="4544450" y="2183224"/>
            <a:ext cx="1175471" cy="3012429"/>
            <a:chOff x="4544450" y="2183224"/>
            <a:chExt cx="1175471" cy="3012429"/>
          </a:xfrm>
        </p:grpSpPr>
        <p:grpSp>
          <p:nvGrpSpPr>
            <p:cNvPr id="35" name="図形グループ 87"/>
            <p:cNvGrpSpPr/>
            <p:nvPr/>
          </p:nvGrpSpPr>
          <p:grpSpPr>
            <a:xfrm>
              <a:off x="4544450" y="2183224"/>
              <a:ext cx="1175471" cy="3012429"/>
              <a:chOff x="4544450" y="2183224"/>
              <a:chExt cx="1175471" cy="3012429"/>
            </a:xfrm>
          </p:grpSpPr>
          <p:cxnSp>
            <p:nvCxnSpPr>
              <p:cNvPr id="37" name="直線矢印コネクタ 36"/>
              <p:cNvCxnSpPr/>
              <p:nvPr/>
            </p:nvCxnSpPr>
            <p:spPr>
              <a:xfrm rot="16200000" flipV="1">
                <a:off x="3458058" y="3269617"/>
                <a:ext cx="2771015" cy="598230"/>
              </a:xfrm>
              <a:prstGeom prst="straightConnector1">
                <a:avLst/>
              </a:prstGeom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矢印コネクタ 37"/>
              <p:cNvCxnSpPr/>
              <p:nvPr/>
            </p:nvCxnSpPr>
            <p:spPr>
              <a:xfrm rot="5400000">
                <a:off x="3967127" y="3936123"/>
                <a:ext cx="1710896" cy="451298"/>
              </a:xfrm>
              <a:prstGeom prst="straightConnector1">
                <a:avLst/>
              </a:prstGeom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矢印コネクタ 38"/>
              <p:cNvCxnSpPr/>
              <p:nvPr/>
            </p:nvCxnSpPr>
            <p:spPr>
              <a:xfrm rot="16200000" flipV="1">
                <a:off x="4344993" y="4450442"/>
                <a:ext cx="1028630" cy="461792"/>
              </a:xfrm>
              <a:prstGeom prst="straightConnector1">
                <a:avLst/>
              </a:prstGeom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矢印コネクタ 39"/>
              <p:cNvCxnSpPr/>
              <p:nvPr/>
            </p:nvCxnSpPr>
            <p:spPr>
              <a:xfrm rot="5400000">
                <a:off x="3646995" y="3636982"/>
                <a:ext cx="2309180" cy="514269"/>
              </a:xfrm>
              <a:prstGeom prst="straightConnector1">
                <a:avLst/>
              </a:prstGeom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矢印コネクタ 40"/>
              <p:cNvCxnSpPr/>
              <p:nvPr/>
            </p:nvCxnSpPr>
            <p:spPr>
              <a:xfrm rot="16200000" flipV="1">
                <a:off x="4407938" y="2519155"/>
                <a:ext cx="1595431" cy="1028535"/>
              </a:xfrm>
              <a:prstGeom prst="straightConnector1">
                <a:avLst/>
              </a:prstGeom>
              <a:ln w="12700">
                <a:solidFill>
                  <a:schemeClr val="accent6">
                    <a:lumMod val="60000"/>
                    <a:lumOff val="40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直線矢印コネクタ 35"/>
            <p:cNvCxnSpPr/>
            <p:nvPr/>
          </p:nvCxnSpPr>
          <p:spPr>
            <a:xfrm rot="5400000">
              <a:off x="4570654" y="4445193"/>
              <a:ext cx="692757" cy="451296"/>
            </a:xfrm>
            <a:prstGeom prst="straightConnector1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テキスト ボックス 41"/>
          <p:cNvSpPr txBox="1"/>
          <p:nvPr/>
        </p:nvSpPr>
        <p:spPr>
          <a:xfrm>
            <a:off x="1275361" y="1779476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494407" y="2841689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2247116" y="2831193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2834851" y="2726230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1779134" y="2146845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1779134" y="2692651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2744698" y="1947416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3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GPP: 2-layer canopy</a:t>
            </a:r>
            <a:endParaRPr lang="ja-JP" altLang="en-US" sz="3200" dirty="0"/>
          </a:p>
        </p:txBody>
      </p:sp>
      <p:pic>
        <p:nvPicPr>
          <p:cNvPr id="3" name="図 2" descr="スクリーンショット（2010-08-20 10.19.58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70" y="1472610"/>
            <a:ext cx="3535148" cy="3808837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1287518" y="2093309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813035" y="2434896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662621" y="2102068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170621" y="2268481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39380" y="2040757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348828" y="2881585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909380" y="3004205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88275" y="3135585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233449" y="2697654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750208" y="2995447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85380" y="283779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347311" y="3144345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/>
        </p:nvGraphicFramePr>
        <p:xfrm>
          <a:off x="4264901" y="1535070"/>
          <a:ext cx="2273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5" name="数式" r:id="rId5" imgW="2273300" imgH="444500" progId="Equation.3">
                  <p:embed/>
                </p:oleObj>
              </mc:Choice>
              <mc:Fallback>
                <p:oleObj name="数式" r:id="rId5" imgW="2273300" imgH="4445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901" y="1535070"/>
                        <a:ext cx="22733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4264901" y="2054420"/>
          <a:ext cx="901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6" name="数式" r:id="rId7" imgW="901700" imgH="177800" progId="Equation.3">
                  <p:embed/>
                </p:oleObj>
              </mc:Choice>
              <mc:Fallback>
                <p:oleObj name="数式" r:id="rId7" imgW="901700" imgH="177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901" y="2054420"/>
                        <a:ext cx="9017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テキスト ボックス 17"/>
          <p:cNvSpPr txBox="1"/>
          <p:nvPr/>
        </p:nvSpPr>
        <p:spPr>
          <a:xfrm>
            <a:off x="4009352" y="1220307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Leaf area index</a:t>
            </a:r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009352" y="2303640"/>
            <a:ext cx="2489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Absorbed solar radiation</a:t>
            </a:r>
            <a:endParaRPr kumimoji="1" lang="ja-JP" altLang="en-US" dirty="0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4264901" y="2674357"/>
          <a:ext cx="876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7" name="数式" r:id="rId9" imgW="876300" imgH="177800" progId="Equation.3">
                  <p:embed/>
                </p:oleObj>
              </mc:Choice>
              <mc:Fallback>
                <p:oleObj name="数式" r:id="rId9" imgW="876300" imgH="177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901" y="2674357"/>
                        <a:ext cx="876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4245850" y="3235294"/>
          <a:ext cx="4406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8" name="数式" r:id="rId11" imgW="4406900" imgH="647700" progId="Equation.3">
                  <p:embed/>
                </p:oleObj>
              </mc:Choice>
              <mc:Fallback>
                <p:oleObj name="数式" r:id="rId11" imgW="4406900" imgH="6477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850" y="3235294"/>
                        <a:ext cx="44069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/>
          <p:cNvGraphicFramePr>
            <a:graphicFrameLocks noChangeAspect="1"/>
          </p:cNvGraphicFramePr>
          <p:nvPr/>
        </p:nvGraphicFramePr>
        <p:xfrm>
          <a:off x="4245850" y="4623745"/>
          <a:ext cx="4076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9" name="数式" r:id="rId13" imgW="4076700" imgH="393700" progId="Equation.3">
                  <p:embed/>
                </p:oleObj>
              </mc:Choice>
              <mc:Fallback>
                <p:oleObj name="数式" r:id="rId13" imgW="4076700" imgH="3937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850" y="4623745"/>
                        <a:ext cx="4076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/>
          <p:cNvGraphicFramePr>
            <a:graphicFrameLocks noChangeAspect="1"/>
          </p:cNvGraphicFramePr>
          <p:nvPr/>
        </p:nvGraphicFramePr>
        <p:xfrm>
          <a:off x="4245850" y="5040830"/>
          <a:ext cx="4216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0" name="数式" r:id="rId15" imgW="4216400" imgH="749300" progId="Equation.3">
                  <p:embed/>
                </p:oleObj>
              </mc:Choice>
              <mc:Fallback>
                <p:oleObj name="数式" r:id="rId15" imgW="4216400" imgH="7493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850" y="5040830"/>
                        <a:ext cx="42164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テキスト ボックス 23"/>
          <p:cNvSpPr txBox="1"/>
          <p:nvPr/>
        </p:nvSpPr>
        <p:spPr>
          <a:xfrm>
            <a:off x="4993013" y="3847703"/>
            <a:ext cx="538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beam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6300410" y="3847703"/>
            <a:ext cx="608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diffuse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7595357" y="3847703"/>
            <a:ext cx="764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scattered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27" name="Object 8"/>
          <p:cNvGraphicFramePr>
            <a:graphicFrameLocks noChangeAspect="1"/>
          </p:cNvGraphicFramePr>
          <p:nvPr/>
        </p:nvGraphicFramePr>
        <p:xfrm>
          <a:off x="4245850" y="4234380"/>
          <a:ext cx="3073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1" name="数式" r:id="rId17" imgW="3073400" imgH="292100" progId="Equation.3">
                  <p:embed/>
                </p:oleObj>
              </mc:Choice>
              <mc:Fallback>
                <p:oleObj name="数式" r:id="rId17" imgW="3073400" imgH="2921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850" y="4234380"/>
                        <a:ext cx="30734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テキスト ボックス 27"/>
          <p:cNvSpPr txBox="1"/>
          <p:nvPr/>
        </p:nvSpPr>
        <p:spPr>
          <a:xfrm>
            <a:off x="4158769" y="2863985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Sun leaves</a:t>
            </a:r>
            <a:endParaRPr kumimoji="1" lang="ja-JP" altLang="en-US" dirty="0"/>
          </a:p>
        </p:txBody>
      </p:sp>
      <p:grpSp>
        <p:nvGrpSpPr>
          <p:cNvPr id="29" name="図形グループ 28"/>
          <p:cNvGrpSpPr/>
          <p:nvPr/>
        </p:nvGrpSpPr>
        <p:grpSpPr>
          <a:xfrm>
            <a:off x="3075497" y="1780652"/>
            <a:ext cx="1157980" cy="1307471"/>
            <a:chOff x="3075497" y="1780652"/>
            <a:chExt cx="1157980" cy="1307471"/>
          </a:xfrm>
        </p:grpSpPr>
        <p:cxnSp>
          <p:nvCxnSpPr>
            <p:cNvPr id="30" name="直線矢印コネクタ 29"/>
            <p:cNvCxnSpPr/>
            <p:nvPr/>
          </p:nvCxnSpPr>
          <p:spPr>
            <a:xfrm rot="10800000" flipV="1">
              <a:off x="3112851" y="1780652"/>
              <a:ext cx="1083272" cy="47318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矢印コネクタ 30"/>
            <p:cNvCxnSpPr/>
            <p:nvPr/>
          </p:nvCxnSpPr>
          <p:spPr>
            <a:xfrm rot="10800000" flipV="1">
              <a:off x="3075497" y="2141762"/>
              <a:ext cx="1157980" cy="94636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直線矢印コネクタ 31"/>
          <p:cNvCxnSpPr/>
          <p:nvPr/>
        </p:nvCxnSpPr>
        <p:spPr>
          <a:xfrm rot="10800000">
            <a:off x="3050595" y="2390805"/>
            <a:ext cx="1095723" cy="9837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Object 11"/>
          <p:cNvGraphicFramePr>
            <a:graphicFrameLocks noChangeAspect="1"/>
          </p:cNvGraphicFramePr>
          <p:nvPr/>
        </p:nvGraphicFramePr>
        <p:xfrm>
          <a:off x="561974" y="5732464"/>
          <a:ext cx="267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2" name="数式" r:id="rId19" imgW="2679700" imgH="825500" progId="Equation.3">
                  <p:embed/>
                </p:oleObj>
              </mc:Choice>
              <mc:Fallback>
                <p:oleObj name="数式" r:id="rId19" imgW="2679700" imgH="8255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4" y="5732464"/>
                        <a:ext cx="26797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テキスト ボックス 33"/>
          <p:cNvSpPr txBox="1"/>
          <p:nvPr/>
        </p:nvSpPr>
        <p:spPr>
          <a:xfrm>
            <a:off x="360219" y="5326240"/>
            <a:ext cx="3378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Carboxylation</a:t>
            </a:r>
            <a:r>
              <a:rPr kumimoji="1" lang="en-US" altLang="ja-JP" dirty="0"/>
              <a:t> capacity: sun leaves</a:t>
            </a:r>
            <a:endParaRPr kumimoji="1" lang="ja-JP" altLang="en-US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034752" y="5887100"/>
            <a:ext cx="317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Electron transport </a:t>
            </a:r>
            <a:r>
              <a:rPr kumimoji="1" lang="en-US" altLang="ja-JP" dirty="0"/>
              <a:t>capacity (</a:t>
            </a:r>
            <a:r>
              <a:rPr kumimoji="1" lang="en-US" altLang="ja-JP" dirty="0" err="1"/>
              <a:t>J</a:t>
            </a:r>
            <a:r>
              <a:rPr kumimoji="1" lang="en-US" altLang="ja-JP" baseline="-25000" dirty="0" err="1"/>
              <a:t>m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graphicFrame>
        <p:nvGraphicFramePr>
          <p:cNvPr id="36" name="Object 4"/>
          <p:cNvGraphicFramePr>
            <a:graphicFrameLocks noChangeAspect="1"/>
          </p:cNvGraphicFramePr>
          <p:nvPr/>
        </p:nvGraphicFramePr>
        <p:xfrm>
          <a:off x="4421188" y="6294438"/>
          <a:ext cx="3581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3" name="数式" r:id="rId21" imgW="3581400" imgH="317500" progId="Equation.3">
                  <p:embed/>
                </p:oleObj>
              </mc:Choice>
              <mc:Fallback>
                <p:oleObj name="数式" r:id="rId21" imgW="3581400" imgH="3175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6294438"/>
                        <a:ext cx="35814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3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GPP: 2-layer canopy</a:t>
            </a:r>
            <a:endParaRPr lang="ja-JP" altLang="en-US" sz="3200" dirty="0"/>
          </a:p>
        </p:txBody>
      </p:sp>
      <p:pic>
        <p:nvPicPr>
          <p:cNvPr id="3" name="図 2" descr="スクリーンショット（2010-08-20 10.19.58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70" y="1472610"/>
            <a:ext cx="3535148" cy="3808837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1287518" y="2093309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813035" y="2434896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662621" y="2102068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170621" y="2268481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39380" y="2040757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348828" y="2881585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909380" y="3004205"/>
            <a:ext cx="44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FF0000"/>
                </a:solidFill>
              </a:rPr>
              <a:t>sun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88275" y="3135585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233449" y="2697654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750208" y="2995447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85380" y="283779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347311" y="3144345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rgbClr val="0000FF"/>
                </a:solidFill>
              </a:rPr>
              <a:t>shade</a:t>
            </a:r>
            <a:endParaRPr kumimoji="1" lang="ja-JP" altLang="en-US" sz="1400" dirty="0">
              <a:solidFill>
                <a:srgbClr val="0000FF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009352" y="1182951"/>
            <a:ext cx="3625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Absorbed solar radiation (continued)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980561" y="2602492"/>
            <a:ext cx="608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0000FF"/>
                </a:solidFill>
              </a:rPr>
              <a:t>diffuse</a:t>
            </a:r>
            <a:endParaRPr kumimoji="1" lang="ja-JP" altLang="en-US" sz="1200" dirty="0">
              <a:solidFill>
                <a:srgbClr val="0000FF"/>
              </a:solidFill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474730" y="2627396"/>
            <a:ext cx="764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0000FF"/>
                </a:solidFill>
              </a:rPr>
              <a:t>scattered</a:t>
            </a:r>
            <a:endParaRPr kumimoji="1" lang="ja-JP" altLang="en-US" sz="1200" dirty="0">
              <a:solidFill>
                <a:srgbClr val="0000FF"/>
              </a:solidFill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158769" y="1534283"/>
            <a:ext cx="139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Shade leaves</a:t>
            </a:r>
            <a:endParaRPr kumimoji="1" lang="ja-JP" altLang="en-US" dirty="0"/>
          </a:p>
        </p:txBody>
      </p:sp>
      <p:graphicFrame>
        <p:nvGraphicFramePr>
          <p:cNvPr id="20" name="Object 14"/>
          <p:cNvGraphicFramePr>
            <a:graphicFrameLocks noChangeAspect="1"/>
          </p:cNvGraphicFramePr>
          <p:nvPr/>
        </p:nvGraphicFramePr>
        <p:xfrm>
          <a:off x="4178300" y="1977134"/>
          <a:ext cx="3644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7" name="数式" r:id="rId5" imgW="3644900" imgH="698500" progId="Equation.3">
                  <p:embed/>
                </p:oleObj>
              </mc:Choice>
              <mc:Fallback>
                <p:oleObj name="数式" r:id="rId5" imgW="3644900" imgH="6985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1977134"/>
                        <a:ext cx="364490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5"/>
          <p:cNvGraphicFramePr>
            <a:graphicFrameLocks noChangeAspect="1"/>
          </p:cNvGraphicFramePr>
          <p:nvPr/>
        </p:nvGraphicFramePr>
        <p:xfrm>
          <a:off x="4178300" y="3196634"/>
          <a:ext cx="4610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8" name="数式" r:id="rId7" imgW="4610100" imgH="749300" progId="Equation.3">
                  <p:embed/>
                </p:oleObj>
              </mc:Choice>
              <mc:Fallback>
                <p:oleObj name="数式" r:id="rId7" imgW="4610100" imgH="7493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3196634"/>
                        <a:ext cx="46101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/>
          <p:cNvGraphicFramePr>
            <a:graphicFrameLocks noChangeAspect="1"/>
          </p:cNvGraphicFramePr>
          <p:nvPr/>
        </p:nvGraphicFramePr>
        <p:xfrm>
          <a:off x="4178300" y="4122147"/>
          <a:ext cx="49276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9" name="数式" r:id="rId9" imgW="4927600" imgH="1130300" progId="Equation.3">
                  <p:embed/>
                </p:oleObj>
              </mc:Choice>
              <mc:Fallback>
                <p:oleObj name="数式" r:id="rId9" imgW="4927600" imgH="11303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4122147"/>
                        <a:ext cx="4927600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線矢印コネクタ 22"/>
          <p:cNvCxnSpPr/>
          <p:nvPr/>
        </p:nvCxnSpPr>
        <p:spPr>
          <a:xfrm rot="10800000" flipV="1">
            <a:off x="3000788" y="2154214"/>
            <a:ext cx="1182884" cy="9463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360219" y="5326240"/>
            <a:ext cx="3378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Carboxylation</a:t>
            </a:r>
            <a:r>
              <a:rPr kumimoji="1" lang="en-US" altLang="ja-JP" dirty="0"/>
              <a:t> capacity: sun leaves</a:t>
            </a:r>
            <a:endParaRPr kumimoji="1" lang="ja-JP" altLang="en-US" dirty="0"/>
          </a:p>
        </p:txBody>
      </p:sp>
      <p:graphicFrame>
        <p:nvGraphicFramePr>
          <p:cNvPr id="25" name="Object 19"/>
          <p:cNvGraphicFramePr>
            <a:graphicFrameLocks noChangeAspect="1"/>
          </p:cNvGraphicFramePr>
          <p:nvPr/>
        </p:nvGraphicFramePr>
        <p:xfrm>
          <a:off x="522817" y="5714472"/>
          <a:ext cx="3810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0" name="数式" r:id="rId11" imgW="3810000" imgH="901700" progId="Equation.3">
                  <p:embed/>
                </p:oleObj>
              </mc:Choice>
              <mc:Fallback>
                <p:oleObj name="数式" r:id="rId11" imgW="3810000" imgH="9017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817" y="5714472"/>
                        <a:ext cx="38100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テキスト ボックス 25"/>
          <p:cNvSpPr txBox="1"/>
          <p:nvPr/>
        </p:nvSpPr>
        <p:spPr>
          <a:xfrm>
            <a:off x="4593552" y="5523034"/>
            <a:ext cx="317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Electron transport </a:t>
            </a:r>
            <a:r>
              <a:rPr kumimoji="1" lang="en-US" altLang="ja-JP" dirty="0"/>
              <a:t>capacity (</a:t>
            </a:r>
            <a:r>
              <a:rPr kumimoji="1" lang="en-US" altLang="ja-JP" dirty="0" err="1"/>
              <a:t>J</a:t>
            </a:r>
            <a:r>
              <a:rPr kumimoji="1" lang="en-US" altLang="ja-JP" baseline="-25000" dirty="0" err="1"/>
              <a:t>m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5024438" y="5930900"/>
          <a:ext cx="3492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1" name="数式" r:id="rId13" imgW="3492500" imgH="317500" progId="Equation.3">
                  <p:embed/>
                </p:oleObj>
              </mc:Choice>
              <mc:Fallback>
                <p:oleObj name="数式" r:id="rId13" imgW="3492500" imgH="3175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5930900"/>
                        <a:ext cx="34925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3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 err="1"/>
              <a:t>Stomatal</a:t>
            </a:r>
            <a:r>
              <a:rPr lang="en-US" altLang="ja-JP" sz="3200" dirty="0"/>
              <a:t> conductance</a:t>
            </a:r>
            <a:endParaRPr lang="ja-JP" altLang="en-US" sz="3200" dirty="0"/>
          </a:p>
        </p:txBody>
      </p:sp>
      <p:graphicFrame>
        <p:nvGraphicFramePr>
          <p:cNvPr id="3" name="Object 24"/>
          <p:cNvGraphicFramePr>
            <a:graphicFrameLocks noChangeAspect="1"/>
          </p:cNvGraphicFramePr>
          <p:nvPr/>
        </p:nvGraphicFramePr>
        <p:xfrm>
          <a:off x="5678312" y="3825349"/>
          <a:ext cx="1727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7" name="数式" r:id="rId4" imgW="1727200" imgH="635000" progId="Equation.3">
                  <p:embed/>
                </p:oleObj>
              </mc:Choice>
              <mc:Fallback>
                <p:oleObj name="数式" r:id="rId4" imgW="1727200" imgH="635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312" y="3825349"/>
                        <a:ext cx="17272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5"/>
          <p:cNvGraphicFramePr>
            <a:graphicFrameLocks noChangeAspect="1"/>
          </p:cNvGraphicFramePr>
          <p:nvPr/>
        </p:nvGraphicFramePr>
        <p:xfrm>
          <a:off x="4024676" y="1676882"/>
          <a:ext cx="1041391" cy="504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8" name="数式" r:id="rId6" imgW="812800" imgH="393700" progId="Equation.3">
                  <p:embed/>
                </p:oleObj>
              </mc:Choice>
              <mc:Fallback>
                <p:oleObj name="数式" r:id="rId6" imgW="812800" imgH="3937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676" y="1676882"/>
                        <a:ext cx="1041391" cy="5044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テキスト ボックス 4"/>
          <p:cNvSpPr txBox="1"/>
          <p:nvPr/>
        </p:nvSpPr>
        <p:spPr>
          <a:xfrm>
            <a:off x="3644516" y="2321696"/>
            <a:ext cx="2268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Stomatal</a:t>
            </a:r>
            <a:r>
              <a:rPr kumimoji="1" lang="en-US" altLang="ja-JP" dirty="0"/>
              <a:t> conductance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644516" y="1320039"/>
            <a:ext cx="2576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Intercellular CO</a:t>
            </a:r>
            <a:r>
              <a:rPr kumimoji="1" lang="en-US" altLang="ja-JP" baseline="-25000" dirty="0"/>
              <a:t>2</a:t>
            </a:r>
            <a:r>
              <a:rPr lang="en-US" altLang="ja-JP" dirty="0"/>
              <a:t> pressure</a:t>
            </a:r>
            <a:endParaRPr kumimoji="1" lang="ja-JP" altLang="en-US" dirty="0"/>
          </a:p>
        </p:txBody>
      </p:sp>
      <p:pic>
        <p:nvPicPr>
          <p:cNvPr id="7" name="図 6" descr="0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7546" y="551169"/>
            <a:ext cx="1889176" cy="1259450"/>
          </a:xfrm>
          <a:prstGeom prst="rect">
            <a:avLst/>
          </a:prstGeom>
        </p:spPr>
      </p:pic>
      <p:graphicFrame>
        <p:nvGraphicFramePr>
          <p:cNvPr id="8" name="Object 24"/>
          <p:cNvGraphicFramePr>
            <a:graphicFrameLocks noChangeAspect="1"/>
          </p:cNvGraphicFramePr>
          <p:nvPr/>
        </p:nvGraphicFramePr>
        <p:xfrm>
          <a:off x="5678312" y="3323546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9" name="数式" r:id="rId9" imgW="1295400" imgH="393700" progId="Equation.3">
                  <p:embed/>
                </p:oleObj>
              </mc:Choice>
              <mc:Fallback>
                <p:oleObj name="数式" r:id="rId9" imgW="1295400" imgH="3937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312" y="3323546"/>
                        <a:ext cx="12954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/>
          <p:cNvGraphicFramePr>
            <a:graphicFrameLocks noChangeAspect="1"/>
          </p:cNvGraphicFramePr>
          <p:nvPr/>
        </p:nvGraphicFramePr>
        <p:xfrm>
          <a:off x="5678312" y="2825750"/>
          <a:ext cx="2971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0" name="数式" r:id="rId11" imgW="2971800" imgH="266700" progId="Equation.3">
                  <p:embed/>
                </p:oleObj>
              </mc:Choice>
              <mc:Fallback>
                <p:oleObj name="数式" r:id="rId11" imgW="2971800" imgH="2667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312" y="2825750"/>
                        <a:ext cx="29718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図 9" descr="スクリーンショット（2010-09-07 11.28.12）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0369" y="1130857"/>
            <a:ext cx="3113651" cy="5291492"/>
          </a:xfrm>
          <a:prstGeom prst="rect">
            <a:avLst/>
          </a:prstGeom>
        </p:spPr>
      </p:pic>
      <p:sp>
        <p:nvSpPr>
          <p:cNvPr id="11" name="テキスト ボックス 10"/>
          <p:cNvSpPr txBox="1"/>
          <p:nvPr/>
        </p:nvSpPr>
        <p:spPr>
          <a:xfrm>
            <a:off x="3644516" y="4618207"/>
            <a:ext cx="2999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Canopy conductance</a:t>
            </a:r>
            <a:r>
              <a:rPr kumimoji="1" lang="ja-JP" altLang="en-US" dirty="0"/>
              <a:t>（</a:t>
            </a:r>
            <a:r>
              <a:rPr kumimoji="1" lang="en-US" altLang="ja-JP" dirty="0"/>
              <a:t>scaling</a:t>
            </a:r>
            <a:r>
              <a:rPr kumimoji="1" lang="ja-JP" altLang="en-US" dirty="0"/>
              <a:t>）</a:t>
            </a:r>
          </a:p>
        </p:txBody>
      </p:sp>
      <p:graphicFrame>
        <p:nvGraphicFramePr>
          <p:cNvPr id="12" name="Object 24"/>
          <p:cNvGraphicFramePr>
            <a:graphicFrameLocks noChangeAspect="1"/>
          </p:cNvGraphicFramePr>
          <p:nvPr/>
        </p:nvGraphicFramePr>
        <p:xfrm>
          <a:off x="4024676" y="5075562"/>
          <a:ext cx="1433687" cy="626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1" name="数式" r:id="rId14" imgW="1104900" imgH="482600" progId="Equation.3">
                  <p:embed/>
                </p:oleObj>
              </mc:Choice>
              <mc:Fallback>
                <p:oleObj name="数式" r:id="rId14" imgW="1104900" imgH="482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676" y="5075562"/>
                        <a:ext cx="1433687" cy="626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テキスト ボックス 12"/>
          <p:cNvSpPr txBox="1"/>
          <p:nvPr/>
        </p:nvSpPr>
        <p:spPr>
          <a:xfrm>
            <a:off x="3869845" y="2787094"/>
            <a:ext cx="1228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Jarvis (1976)</a:t>
            </a:r>
            <a:endParaRPr kumimoji="1" lang="ja-JP" altLang="en-US" sz="16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869845" y="3281441"/>
            <a:ext cx="1535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Ball et al. (1986)</a:t>
            </a:r>
            <a:endParaRPr kumimoji="1" lang="ja-JP" altLang="en-US" sz="1600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869845" y="3861021"/>
            <a:ext cx="1426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 err="1"/>
              <a:t>Leuning</a:t>
            </a:r>
            <a:r>
              <a:rPr kumimoji="1" lang="en-US" altLang="ja-JP" sz="1600" dirty="0"/>
              <a:t> (1995)</a:t>
            </a:r>
            <a:endParaRPr kumimoji="1" lang="ja-JP" altLang="en-US" sz="16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0" y="6550223"/>
            <a:ext cx="1707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（</a:t>
            </a:r>
            <a:r>
              <a:rPr kumimoji="1" lang="en-US" altLang="ja-JP" sz="1400" dirty="0" err="1"/>
              <a:t>Leuning</a:t>
            </a:r>
            <a:r>
              <a:rPr kumimoji="1" lang="en-US" altLang="ja-JP" sz="1400" dirty="0"/>
              <a:t> 1995: PCE</a:t>
            </a:r>
            <a:r>
              <a:rPr kumimoji="1" lang="ja-JP" altLang="en-US" sz="1400" dirty="0"/>
              <a:t>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     Simulation at </a:t>
            </a:r>
            <a:r>
              <a:rPr lang="en-US" altLang="ja-JP" sz="3200" dirty="0" err="1"/>
              <a:t>Takayama</a:t>
            </a:r>
            <a:r>
              <a:rPr lang="en-US" altLang="ja-JP" sz="3200" dirty="0"/>
              <a:t> site</a:t>
            </a:r>
            <a:endParaRPr lang="ja-JP" altLang="en-US" sz="3200" dirty="0"/>
          </a:p>
        </p:txBody>
      </p:sp>
      <p:pic>
        <p:nvPicPr>
          <p:cNvPr id="3" name="図 2" descr="スクリーンショット（2010-08-31 17.45.48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3" y="1750184"/>
            <a:ext cx="4362196" cy="1632794"/>
          </a:xfrm>
          <a:prstGeom prst="rect">
            <a:avLst/>
          </a:prstGeom>
        </p:spPr>
      </p:pic>
      <p:pic>
        <p:nvPicPr>
          <p:cNvPr id="4" name="図 3" descr="スクリーンショット（2010-08-31 17.47.26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01" y="3376408"/>
            <a:ext cx="4709131" cy="3314377"/>
          </a:xfrm>
          <a:prstGeom prst="rect">
            <a:avLst/>
          </a:prstGeom>
        </p:spPr>
      </p:pic>
      <p:pic>
        <p:nvPicPr>
          <p:cNvPr id="5" name="図 4" descr="スクリーンショット（2010-08-31 17.48.37）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024" y="1323308"/>
            <a:ext cx="2854647" cy="5243229"/>
          </a:xfrm>
          <a:prstGeom prst="rect">
            <a:avLst/>
          </a:prstGeom>
        </p:spPr>
      </p:pic>
      <p:pic>
        <p:nvPicPr>
          <p:cNvPr id="6" name="図 5" descr="DSCF005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"/>
            <a:ext cx="2198616" cy="164896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3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Respiration</a:t>
            </a:r>
            <a:endParaRPr lang="ja-JP" altLang="en-US" sz="3200" dirty="0"/>
          </a:p>
        </p:txBody>
      </p:sp>
      <p:graphicFrame>
        <p:nvGraphicFramePr>
          <p:cNvPr id="3" name="オブジェクト 2"/>
          <p:cNvGraphicFramePr>
            <a:graphicFrameLocks noChangeAspect="1"/>
          </p:cNvGraphicFramePr>
          <p:nvPr/>
        </p:nvGraphicFramePr>
        <p:xfrm>
          <a:off x="5272684" y="2473574"/>
          <a:ext cx="1100719" cy="2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3" name="数式" r:id="rId4" imgW="749300" imgH="203200" progId="Equation.3">
                  <p:embed/>
                </p:oleObj>
              </mc:Choice>
              <mc:Fallback>
                <p:oleObj name="数式" r:id="rId4" imgW="749300" imgH="203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684" y="2473574"/>
                        <a:ext cx="1100719" cy="2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オブジェクト 3"/>
          <p:cNvGraphicFramePr>
            <a:graphicFrameLocks noChangeAspect="1"/>
          </p:cNvGraphicFramePr>
          <p:nvPr/>
        </p:nvGraphicFramePr>
        <p:xfrm>
          <a:off x="5274613" y="3326076"/>
          <a:ext cx="2149952" cy="759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4" name="数式" r:id="rId6" imgW="1473200" imgH="520700" progId="Equation.3">
                  <p:embed/>
                </p:oleObj>
              </mc:Choice>
              <mc:Fallback>
                <p:oleObj name="数式" r:id="rId6" imgW="1473200" imgH="5207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4613" y="3326076"/>
                        <a:ext cx="2149952" cy="7598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オブジェクト 4"/>
          <p:cNvGraphicFramePr>
            <a:graphicFrameLocks noChangeAspect="1"/>
          </p:cNvGraphicFramePr>
          <p:nvPr/>
        </p:nvGraphicFramePr>
        <p:xfrm>
          <a:off x="5275719" y="4494381"/>
          <a:ext cx="1191198" cy="317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5" name="数式" r:id="rId8" imgW="762000" imgH="203200" progId="Equation.3">
                  <p:embed/>
                </p:oleObj>
              </mc:Choice>
              <mc:Fallback>
                <p:oleObj name="数式" r:id="rId8" imgW="762000" imgH="203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5719" y="4494381"/>
                        <a:ext cx="1191198" cy="3176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オブジェクト 5"/>
          <p:cNvGraphicFramePr>
            <a:graphicFrameLocks noChangeAspect="1"/>
          </p:cNvGraphicFramePr>
          <p:nvPr/>
        </p:nvGraphicFramePr>
        <p:xfrm>
          <a:off x="5274208" y="1602192"/>
          <a:ext cx="2604990" cy="34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6" name="数式" r:id="rId10" imgW="1549400" imgH="203200" progId="Equation.3">
                  <p:embed/>
                </p:oleObj>
              </mc:Choice>
              <mc:Fallback>
                <p:oleObj name="数式" r:id="rId10" imgW="1549400" imgH="203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4208" y="1602192"/>
                        <a:ext cx="2604990" cy="34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 descr="スクリーンショット（2010-09-07 16.19.24）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101" y="969701"/>
            <a:ext cx="3246189" cy="2772546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4559965" y="1212138"/>
            <a:ext cx="241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Whole-plant respiration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559965" y="2122918"/>
            <a:ext cx="22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2-component </a:t>
            </a:r>
            <a:r>
              <a:rPr lang="en-US" altLang="ja-JP" dirty="0"/>
              <a:t>scheme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052502" y="2730792"/>
            <a:ext cx="12038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</a:rPr>
              <a:t>construction (growth)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409976" y="2720213"/>
            <a:ext cx="7958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</a:rPr>
              <a:t>maintenance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869117" y="3016985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Maintenance</a:t>
            </a:r>
            <a:endParaRPr kumimoji="1" lang="ja-JP" altLang="en-US" sz="16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869117" y="4153370"/>
            <a:ext cx="1253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Construction</a:t>
            </a:r>
            <a:endParaRPr kumimoji="1" lang="ja-JP" altLang="en-US" sz="16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5968946" y="3140225"/>
            <a:ext cx="5704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</a:rPr>
              <a:t>biomass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027435" y="4293321"/>
            <a:ext cx="5198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</a:rPr>
              <a:t>growth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900728" y="5273791"/>
            <a:ext cx="287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m</a:t>
            </a:r>
            <a:r>
              <a:rPr kumimoji="1" lang="en-US" altLang="ja-JP" dirty="0"/>
              <a:t>:  maintenance cost</a:t>
            </a:r>
          </a:p>
          <a:p>
            <a:r>
              <a:rPr lang="en-US" altLang="ja-JP" dirty="0" err="1"/>
              <a:t>g</a:t>
            </a:r>
            <a:r>
              <a:rPr lang="en-US" altLang="ja-JP" dirty="0"/>
              <a:t>:  construction cost</a:t>
            </a:r>
            <a:endParaRPr kumimoji="1" lang="ja-JP" altLang="en-US" dirty="0"/>
          </a:p>
        </p:txBody>
      </p:sp>
      <p:pic>
        <p:nvPicPr>
          <p:cNvPr id="17" name="図 16" descr="スクリーンショット（2010-09-08 9.25.15）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9268" y="3755161"/>
            <a:ext cx="2521649" cy="3043884"/>
          </a:xfrm>
          <a:prstGeom prst="rect">
            <a:avLst/>
          </a:prstGeom>
        </p:spPr>
      </p:pic>
      <p:sp>
        <p:nvSpPr>
          <p:cNvPr id="18" name="テキスト ボックス 17"/>
          <p:cNvSpPr txBox="1"/>
          <p:nvPr/>
        </p:nvSpPr>
        <p:spPr>
          <a:xfrm>
            <a:off x="7057020" y="6550223"/>
            <a:ext cx="2086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（</a:t>
            </a:r>
            <a:r>
              <a:rPr kumimoji="1" lang="en-US" altLang="ja-JP" sz="1400" dirty="0" err="1"/>
              <a:t>Poorter</a:t>
            </a:r>
            <a:r>
              <a:rPr kumimoji="1" lang="en-US" altLang="ja-JP" sz="1400" dirty="0"/>
              <a:t> et al. 1997: PCE</a:t>
            </a:r>
            <a:r>
              <a:rPr kumimoji="1" lang="ja-JP" altLang="en-US" sz="1400" dirty="0"/>
              <a:t>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3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Partitioning / Allocation</a:t>
            </a:r>
            <a:endParaRPr lang="ja-JP" altLang="en-US" sz="3200" dirty="0"/>
          </a:p>
        </p:txBody>
      </p:sp>
      <p:pic>
        <p:nvPicPr>
          <p:cNvPr id="3" name="Picture 17" descr="cn_model_structur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1924" y="977739"/>
            <a:ext cx="3089278" cy="1974472"/>
          </a:xfrm>
          <a:prstGeom prst="rect">
            <a:avLst/>
          </a:prstGeom>
          <a:noFill/>
        </p:spPr>
      </p:pic>
      <p:graphicFrame>
        <p:nvGraphicFramePr>
          <p:cNvPr id="4" name="オブジェクト 3"/>
          <p:cNvGraphicFramePr>
            <a:graphicFrameLocks noChangeAspect="1"/>
          </p:cNvGraphicFramePr>
          <p:nvPr/>
        </p:nvGraphicFramePr>
        <p:xfrm>
          <a:off x="4986338" y="1837760"/>
          <a:ext cx="3757612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5" name="数式" r:id="rId5" imgW="2654300" imgH="241300" progId="Equation.3">
                  <p:embed/>
                </p:oleObj>
              </mc:Choice>
              <mc:Fallback>
                <p:oleObj name="数式" r:id="rId5" imgW="2654300" imgH="2413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338" y="1837760"/>
                        <a:ext cx="3757612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オブジェクト 4"/>
          <p:cNvGraphicFramePr>
            <a:graphicFrameLocks noChangeAspect="1"/>
          </p:cNvGraphicFramePr>
          <p:nvPr/>
        </p:nvGraphicFramePr>
        <p:xfrm>
          <a:off x="4998667" y="4605499"/>
          <a:ext cx="321786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6" name="数式" r:id="rId7" imgW="2273300" imgH="203200" progId="Equation.3">
                  <p:embed/>
                </p:oleObj>
              </mc:Choice>
              <mc:Fallback>
                <p:oleObj name="数式" r:id="rId7" imgW="2273300" imgH="203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8667" y="4605499"/>
                        <a:ext cx="3217862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4129620" y="1380212"/>
            <a:ext cx="3981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Temporal change in leaf biomass </a:t>
            </a:r>
            <a:r>
              <a:rPr lang="ja-JP" altLang="en-US" dirty="0"/>
              <a:t>（</a:t>
            </a:r>
            <a:r>
              <a:rPr lang="en-US" altLang="ja-JP" dirty="0"/>
              <a:t>VISIT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129620" y="4182433"/>
            <a:ext cx="2353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Change in leaf nitrogen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582545" y="2294908"/>
            <a:ext cx="1242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If LAI &lt; </a:t>
            </a:r>
            <a:r>
              <a:rPr kumimoji="1" lang="en-US" altLang="ja-JP" sz="1600" dirty="0" err="1"/>
              <a:t>LAI</a:t>
            </a:r>
            <a:r>
              <a:rPr kumimoji="1" lang="en-US" altLang="ja-JP" sz="1600" baseline="-25000" dirty="0" err="1"/>
              <a:t>opt</a:t>
            </a:r>
            <a:endParaRPr kumimoji="1" lang="ja-JP" altLang="en-US" sz="1600" baseline="-250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582545" y="3174082"/>
            <a:ext cx="1345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If LAI &gt;= </a:t>
            </a:r>
            <a:r>
              <a:rPr kumimoji="1" lang="en-US" altLang="ja-JP" sz="1600" dirty="0" err="1"/>
              <a:t>LAI</a:t>
            </a:r>
            <a:r>
              <a:rPr kumimoji="1" lang="en-US" altLang="ja-JP" sz="1600" baseline="-25000" dirty="0" err="1"/>
              <a:t>opt</a:t>
            </a:r>
            <a:endParaRPr kumimoji="1" lang="ja-JP" altLang="en-US" sz="1600" baseline="-25000" dirty="0"/>
          </a:p>
        </p:txBody>
      </p:sp>
      <p:graphicFrame>
        <p:nvGraphicFramePr>
          <p:cNvPr id="10" name="オブジェクト 9"/>
          <p:cNvGraphicFramePr>
            <a:graphicFrameLocks noChangeAspect="1"/>
          </p:cNvGraphicFramePr>
          <p:nvPr/>
        </p:nvGraphicFramePr>
        <p:xfrm>
          <a:off x="5069885" y="2609931"/>
          <a:ext cx="3535711" cy="600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7" name="数式" r:id="rId9" imgW="3352800" imgH="571500" progId="Equation.3">
                  <p:embed/>
                </p:oleObj>
              </mc:Choice>
              <mc:Fallback>
                <p:oleObj name="数式" r:id="rId9" imgW="3352800" imgH="5715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9885" y="2609931"/>
                        <a:ext cx="3535711" cy="6007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オブジェクト 10"/>
          <p:cNvGraphicFramePr>
            <a:graphicFrameLocks noChangeAspect="1"/>
          </p:cNvGraphicFramePr>
          <p:nvPr/>
        </p:nvGraphicFramePr>
        <p:xfrm>
          <a:off x="5070942" y="3558255"/>
          <a:ext cx="762000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8" name="数式" r:id="rId11" imgW="723900" imgH="203200" progId="Equation.3">
                  <p:embed/>
                </p:oleObj>
              </mc:Choice>
              <mc:Fallback>
                <p:oleObj name="数式" r:id="rId11" imgW="723900" imgH="203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942" y="3558255"/>
                        <a:ext cx="762000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テキスト ボックス 11"/>
          <p:cNvSpPr txBox="1"/>
          <p:nvPr/>
        </p:nvSpPr>
        <p:spPr>
          <a:xfrm>
            <a:off x="6118942" y="2179460"/>
            <a:ext cx="6427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</a:rPr>
              <a:t>allocation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916571" y="2161699"/>
            <a:ext cx="10438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>
                <a:solidFill>
                  <a:srgbClr val="FF0000"/>
                </a:solidFill>
              </a:rPr>
              <a:t>construction resp.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8108264" y="2161699"/>
            <a:ext cx="6083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</a:rPr>
              <a:t>leaf litter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817869" y="1699910"/>
            <a:ext cx="8935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>
                <a:solidFill>
                  <a:srgbClr val="FF0000"/>
                </a:solidFill>
              </a:rPr>
              <a:t>photosynthesis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740606" y="1699909"/>
            <a:ext cx="1059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>
                <a:solidFill>
                  <a:srgbClr val="FF0000"/>
                </a:solidFill>
              </a:rPr>
              <a:t>maintenance resp.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745945" y="4866233"/>
            <a:ext cx="6427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</a:rPr>
              <a:t>allocation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722844" y="4866233"/>
            <a:ext cx="7961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>
                <a:solidFill>
                  <a:srgbClr val="FF0000"/>
                </a:solidFill>
              </a:rPr>
              <a:t>re-allocation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7655338" y="4901756"/>
            <a:ext cx="408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</a:rPr>
              <a:t>litter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pic>
        <p:nvPicPr>
          <p:cNvPr id="20" name="図 19" descr="スクリーンショット（2010-09-07 16.15.47）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5075" y="2952628"/>
            <a:ext cx="2556704" cy="3744055"/>
          </a:xfrm>
          <a:prstGeom prst="rect">
            <a:avLst/>
          </a:prstGeom>
        </p:spPr>
      </p:pic>
      <p:sp>
        <p:nvSpPr>
          <p:cNvPr id="21" name="テキスト ボックス 20"/>
          <p:cNvSpPr txBox="1"/>
          <p:nvPr/>
        </p:nvSpPr>
        <p:spPr>
          <a:xfrm>
            <a:off x="7853187" y="6550223"/>
            <a:ext cx="1290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/>
              <a:t>Kuroiwa</a:t>
            </a:r>
            <a:r>
              <a:rPr kumimoji="1" lang="en-US" altLang="ja-JP" sz="1400" dirty="0"/>
              <a:t> (1990)</a:t>
            </a:r>
            <a:endParaRPr kumimoji="1" lang="ja-JP" altLang="en-US" sz="1400" dirty="0"/>
          </a:p>
        </p:txBody>
      </p:sp>
      <p:graphicFrame>
        <p:nvGraphicFramePr>
          <p:cNvPr id="22" name="オブジェクト 21"/>
          <p:cNvGraphicFramePr>
            <a:graphicFrameLocks noChangeAspect="1"/>
          </p:cNvGraphicFramePr>
          <p:nvPr/>
        </p:nvGraphicFramePr>
        <p:xfrm>
          <a:off x="4317885" y="5377969"/>
          <a:ext cx="44418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9" name="数式" r:id="rId14" imgW="3136900" imgH="203200" progId="Equation.3">
                  <p:embed/>
                </p:oleObj>
              </mc:Choice>
              <mc:Fallback>
                <p:oleObj name="数式" r:id="rId14" imgW="3136900" imgH="203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7885" y="5377969"/>
                        <a:ext cx="4441825" cy="287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テキスト ボックス 22"/>
          <p:cNvSpPr txBox="1"/>
          <p:nvPr/>
        </p:nvSpPr>
        <p:spPr>
          <a:xfrm>
            <a:off x="5198072" y="5702488"/>
            <a:ext cx="6927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>
                <a:solidFill>
                  <a:srgbClr val="FF0000"/>
                </a:solidFill>
              </a:rPr>
              <a:t>absorption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5805485" y="5702488"/>
            <a:ext cx="10087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>
                <a:solidFill>
                  <a:srgbClr val="FF0000"/>
                </a:solidFill>
              </a:rPr>
              <a:t>biological fixation</a:t>
            </a:r>
            <a:endParaRPr kumimoji="1" lang="ja-JP" alt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Underground processes</a:t>
            </a:r>
            <a:endParaRPr lang="ja-JP" altLang="en-US" sz="3200" dirty="0"/>
          </a:p>
        </p:txBody>
      </p:sp>
      <p:pic>
        <p:nvPicPr>
          <p:cNvPr id="3" name="図 2" descr="soil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19" y="1140520"/>
            <a:ext cx="8734832" cy="551082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Not yet described…</a:t>
            </a:r>
            <a:endParaRPr lang="ja-JP" altLang="en-US" sz="32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207423" y="1556299"/>
            <a:ext cx="6359100" cy="4262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 dirty="0"/>
              <a:t>• </a:t>
            </a:r>
            <a:r>
              <a:rPr kumimoji="1" lang="en-US" altLang="ja-JP" dirty="0" err="1"/>
              <a:t>Phenology</a:t>
            </a:r>
            <a:endParaRPr kumimoji="1" lang="en-US" altLang="ja-JP" dirty="0"/>
          </a:p>
          <a:p>
            <a:pPr>
              <a:spcAft>
                <a:spcPts val="600"/>
              </a:spcAft>
            </a:pPr>
            <a:r>
              <a:rPr lang="en-US" altLang="ja-JP" dirty="0"/>
              <a:t>• Nitrogen flows</a:t>
            </a:r>
          </a:p>
          <a:p>
            <a:pPr>
              <a:spcAft>
                <a:spcPts val="600"/>
              </a:spcAft>
            </a:pPr>
            <a:r>
              <a:rPr kumimoji="1" lang="en-US" altLang="ja-JP" dirty="0"/>
              <a:t>• Net radiation</a:t>
            </a:r>
          </a:p>
          <a:p>
            <a:pPr>
              <a:spcAft>
                <a:spcPts val="600"/>
              </a:spcAft>
            </a:pPr>
            <a:r>
              <a:rPr kumimoji="1" lang="en-US" altLang="ja-JP" dirty="0"/>
              <a:t>• </a:t>
            </a:r>
            <a:r>
              <a:rPr kumimoji="1" lang="en-US" altLang="ja-JP" dirty="0" err="1"/>
              <a:t>Evapotranspiration</a:t>
            </a:r>
            <a:endParaRPr kumimoji="1" lang="en-US" altLang="ja-JP" dirty="0"/>
          </a:p>
          <a:p>
            <a:pPr>
              <a:spcAft>
                <a:spcPts val="600"/>
              </a:spcAft>
            </a:pPr>
            <a:r>
              <a:rPr lang="en-US" altLang="ja-JP" dirty="0"/>
              <a:t>• Runoff</a:t>
            </a:r>
          </a:p>
          <a:p>
            <a:pPr>
              <a:spcAft>
                <a:spcPts val="600"/>
              </a:spcAft>
            </a:pPr>
            <a:r>
              <a:rPr kumimoji="1" lang="en-US" altLang="ja-JP" dirty="0"/>
              <a:t>• Disturbance: logging, wildfire, etc.</a:t>
            </a:r>
          </a:p>
          <a:p>
            <a:pPr>
              <a:spcAft>
                <a:spcPts val="600"/>
              </a:spcAft>
            </a:pPr>
            <a:r>
              <a:rPr lang="en-US" altLang="ja-JP" dirty="0"/>
              <a:t>• BVOC emission</a:t>
            </a:r>
          </a:p>
          <a:p>
            <a:pPr>
              <a:spcAft>
                <a:spcPts val="600"/>
              </a:spcAft>
            </a:pPr>
            <a:r>
              <a:rPr kumimoji="1" lang="en-US" altLang="ja-JP" dirty="0"/>
              <a:t>• Erosion</a:t>
            </a:r>
          </a:p>
          <a:p>
            <a:pPr>
              <a:spcAft>
                <a:spcPts val="600"/>
              </a:spcAft>
            </a:pPr>
            <a:r>
              <a:rPr lang="en-US" altLang="ja-JP" dirty="0"/>
              <a:t>• DOC discharge</a:t>
            </a:r>
          </a:p>
          <a:p>
            <a:pPr>
              <a:spcAft>
                <a:spcPts val="600"/>
              </a:spcAft>
            </a:pPr>
            <a:r>
              <a:rPr kumimoji="1" lang="en-US" altLang="ja-JP" dirty="0"/>
              <a:t>• CH4 exchange</a:t>
            </a:r>
          </a:p>
          <a:p>
            <a:pPr>
              <a:spcAft>
                <a:spcPts val="600"/>
              </a:spcAft>
            </a:pPr>
            <a:r>
              <a:rPr lang="en-US" altLang="ja-JP" dirty="0"/>
              <a:t>• </a:t>
            </a:r>
            <a:r>
              <a:rPr lang="en-US" altLang="ja-JP" dirty="0" err="1"/>
              <a:t>Ecophysiology</a:t>
            </a:r>
            <a:r>
              <a:rPr lang="en-US" altLang="ja-JP" dirty="0"/>
              <a:t>: leaf aging etc.</a:t>
            </a:r>
          </a:p>
          <a:p>
            <a:pPr>
              <a:spcAft>
                <a:spcPts val="600"/>
              </a:spcAft>
            </a:pPr>
            <a:endParaRPr kumimoji="1" lang="ja-JP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Usage: overview</a:t>
            </a:r>
            <a:endParaRPr lang="ja-JP" altLang="en-US" sz="32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725674" y="1350684"/>
            <a:ext cx="766997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kumimoji="1" lang="en-US" altLang="ja-JP" sz="2400" dirty="0"/>
              <a:t>Data preparation: input, characteristics, parameters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400" dirty="0"/>
              <a:t>Editing set-up files and parameters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kumimoji="1" lang="en-US" altLang="ja-JP" sz="2400" dirty="0"/>
              <a:t>Compilation [</a:t>
            </a:r>
            <a:r>
              <a:rPr kumimoji="1" lang="en-US" altLang="ja-JP" sz="2400" dirty="0" err="1"/>
              <a:t>gcc</a:t>
            </a:r>
            <a:r>
              <a:rPr kumimoji="1" lang="en-US" altLang="ja-JP" sz="2400" dirty="0"/>
              <a:t>, </a:t>
            </a:r>
            <a:r>
              <a:rPr kumimoji="1" lang="en-US" altLang="ja-JP" sz="2400" dirty="0" err="1"/>
              <a:t>icc</a:t>
            </a:r>
            <a:r>
              <a:rPr kumimoji="1" lang="en-US" altLang="ja-JP" sz="2400" dirty="0"/>
              <a:t>, </a:t>
            </a:r>
            <a:r>
              <a:rPr kumimoji="1" lang="en-US" altLang="ja-JP" sz="2400" dirty="0" err="1"/>
              <a:t>Xcode[gcc</a:t>
            </a:r>
            <a:r>
              <a:rPr kumimoji="1" lang="en-US" altLang="ja-JP" sz="2400" dirty="0"/>
              <a:t>], Visual Studio, etc.]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400" dirty="0"/>
              <a:t>Debugging, if required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kumimoji="1" lang="en-US" altLang="ja-JP" sz="2400" dirty="0"/>
              <a:t>Performing simulations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400" dirty="0"/>
              <a:t>Analysis of simulation output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Code and header files</a:t>
            </a:r>
            <a:endParaRPr lang="ja-JP" altLang="en-US" sz="32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90296" y="1135920"/>
            <a:ext cx="2611613" cy="535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u="sng" dirty="0"/>
              <a:t>Headers</a:t>
            </a:r>
          </a:p>
          <a:p>
            <a:r>
              <a:rPr lang="en-US" altLang="ja-JP" dirty="0" err="1"/>
              <a:t>definition.h</a:t>
            </a:r>
            <a:endParaRPr lang="en-US" altLang="ja-JP" dirty="0"/>
          </a:p>
          <a:p>
            <a:r>
              <a:rPr lang="en-US" altLang="ja-JP" dirty="0" err="1"/>
              <a:t>structure.h</a:t>
            </a:r>
            <a:endParaRPr lang="en-US" altLang="ja-JP" dirty="0"/>
          </a:p>
          <a:p>
            <a:r>
              <a:rPr lang="en-US" altLang="ja-JP" dirty="0" err="1"/>
              <a:t>prototype.h</a:t>
            </a:r>
            <a:endParaRPr lang="en-US" altLang="ja-JP" dirty="0"/>
          </a:p>
          <a:p>
            <a:r>
              <a:rPr lang="en-US" altLang="ja-JP" dirty="0" err="1"/>
              <a:t>global_variables.h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u="sng" dirty="0"/>
              <a:t>Codes</a:t>
            </a:r>
          </a:p>
          <a:p>
            <a:r>
              <a:rPr lang="en-US" altLang="ja-JP" dirty="0" err="1"/>
              <a:t>agriculture.c</a:t>
            </a:r>
            <a:endParaRPr lang="en-US" altLang="ja-JP" dirty="0"/>
          </a:p>
          <a:p>
            <a:r>
              <a:rPr lang="en-US" altLang="ja-JP" dirty="0" err="1"/>
              <a:t>allocation.c</a:t>
            </a:r>
            <a:endParaRPr lang="en-US" altLang="ja-JP" dirty="0"/>
          </a:p>
          <a:p>
            <a:r>
              <a:rPr lang="en-US" altLang="ja-JP" dirty="0" err="1"/>
              <a:t>ansis.c</a:t>
            </a:r>
            <a:endParaRPr lang="en-US" altLang="ja-JP" dirty="0"/>
          </a:p>
          <a:p>
            <a:r>
              <a:rPr lang="en-US" altLang="ja-JP" dirty="0"/>
              <a:t>atm_co2.c</a:t>
            </a:r>
          </a:p>
          <a:p>
            <a:r>
              <a:rPr lang="en-US" altLang="ja-JP" dirty="0" err="1"/>
              <a:t>canopy.c</a:t>
            </a:r>
            <a:endParaRPr lang="en-US" altLang="ja-JP" dirty="0"/>
          </a:p>
          <a:p>
            <a:r>
              <a:rPr lang="en-US" altLang="ja-JP" dirty="0"/>
              <a:t>ch4_emit.c</a:t>
            </a:r>
          </a:p>
          <a:p>
            <a:r>
              <a:rPr lang="en-US" altLang="ja-JP" dirty="0"/>
              <a:t>ch4_oxy.c</a:t>
            </a:r>
          </a:p>
          <a:p>
            <a:r>
              <a:rPr lang="en-US" altLang="ja-JP" dirty="0" err="1"/>
              <a:t>clear.c</a:t>
            </a:r>
            <a:endParaRPr lang="en-US" altLang="ja-JP" dirty="0"/>
          </a:p>
          <a:p>
            <a:r>
              <a:rPr lang="en-US" altLang="ja-JP" dirty="0" err="1"/>
              <a:t>daily_scheme.c</a:t>
            </a:r>
            <a:endParaRPr lang="en-US" altLang="ja-JP" dirty="0"/>
          </a:p>
          <a:p>
            <a:r>
              <a:rPr lang="en-US" altLang="ja-JP" dirty="0" err="1"/>
              <a:t>decomposition.c</a:t>
            </a:r>
            <a:endParaRPr lang="en-US" altLang="ja-JP" dirty="0"/>
          </a:p>
          <a:p>
            <a:r>
              <a:rPr lang="en-US" altLang="ja-JP" dirty="0" err="1"/>
              <a:t>disturbance.c</a:t>
            </a:r>
            <a:endParaRPr lang="en-US" altLang="ja-JP" dirty="0"/>
          </a:p>
          <a:p>
            <a:r>
              <a:rPr lang="en-US" altLang="ja-JP" dirty="0" err="1"/>
              <a:t>doc.c</a:t>
            </a:r>
            <a:endParaRPr lang="en-US" altLang="ja-JP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568609" y="1252195"/>
            <a:ext cx="2584782" cy="535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ecophysiology.c</a:t>
            </a:r>
            <a:endParaRPr lang="en-US" altLang="ja-JP" dirty="0"/>
          </a:p>
          <a:p>
            <a:r>
              <a:rPr lang="en-US" altLang="ja-JP" dirty="0" err="1"/>
              <a:t>erosion.c</a:t>
            </a:r>
            <a:endParaRPr lang="en-US" altLang="ja-JP" dirty="0"/>
          </a:p>
          <a:p>
            <a:r>
              <a:rPr lang="en-US" altLang="ja-JP" dirty="0" err="1"/>
              <a:t>experiment.c</a:t>
            </a:r>
            <a:endParaRPr lang="en-US" altLang="ja-JP" dirty="0"/>
          </a:p>
          <a:p>
            <a:r>
              <a:rPr lang="en-US" altLang="ja-JP" dirty="0" err="1"/>
              <a:t>flux_site.c</a:t>
            </a:r>
            <a:endParaRPr lang="en-US" altLang="ja-JP" dirty="0"/>
          </a:p>
          <a:p>
            <a:r>
              <a:rPr lang="en-US" altLang="ja-JP" dirty="0" err="1"/>
              <a:t>hydro_balance.c</a:t>
            </a:r>
            <a:endParaRPr lang="en-US" altLang="ja-JP" dirty="0"/>
          </a:p>
          <a:p>
            <a:r>
              <a:rPr lang="en-US" altLang="ja-JP" dirty="0" err="1"/>
              <a:t>hydro_flows.c</a:t>
            </a:r>
            <a:endParaRPr lang="en-US" altLang="ja-JP" dirty="0"/>
          </a:p>
          <a:p>
            <a:r>
              <a:rPr lang="en-US" altLang="ja-JP" dirty="0" err="1"/>
              <a:t>init_region.c</a:t>
            </a:r>
            <a:endParaRPr lang="en-US" altLang="ja-JP" dirty="0"/>
          </a:p>
          <a:p>
            <a:r>
              <a:rPr lang="en-US" altLang="ja-JP" dirty="0" err="1"/>
              <a:t>init_site.c</a:t>
            </a:r>
            <a:endParaRPr lang="en-US" altLang="ja-JP" dirty="0"/>
          </a:p>
          <a:p>
            <a:r>
              <a:rPr lang="en-US" altLang="ja-JP" dirty="0" err="1"/>
              <a:t>initi_mass.c</a:t>
            </a:r>
            <a:endParaRPr lang="en-US" altLang="ja-JP" dirty="0"/>
          </a:p>
          <a:p>
            <a:r>
              <a:rPr lang="en-US" altLang="ja-JP" dirty="0" err="1"/>
              <a:t>initialize.c</a:t>
            </a:r>
            <a:endParaRPr lang="en-US" altLang="ja-JP" dirty="0"/>
          </a:p>
          <a:p>
            <a:r>
              <a:rPr lang="en-US" altLang="ja-JP" dirty="0" err="1"/>
              <a:t>isotope.c</a:t>
            </a:r>
            <a:endParaRPr lang="en-US" altLang="ja-JP" dirty="0"/>
          </a:p>
          <a:p>
            <a:r>
              <a:rPr lang="en-US" altLang="ja-JP" dirty="0" err="1"/>
              <a:t>leaf_aging.c</a:t>
            </a:r>
            <a:endParaRPr lang="en-US" altLang="ja-JP" dirty="0"/>
          </a:p>
          <a:p>
            <a:r>
              <a:rPr lang="en-US" altLang="ja-JP" dirty="0" err="1"/>
              <a:t>litterfall.c</a:t>
            </a:r>
            <a:endParaRPr lang="en-US" altLang="ja-JP" dirty="0"/>
          </a:p>
          <a:p>
            <a:r>
              <a:rPr lang="en-US" altLang="ja-JP" dirty="0" err="1"/>
              <a:t>location_init.c</a:t>
            </a:r>
            <a:endParaRPr lang="en-US" altLang="ja-JP" dirty="0"/>
          </a:p>
          <a:p>
            <a:r>
              <a:rPr lang="en-US" altLang="ja-JP" dirty="0" err="1"/>
              <a:t>location_proc.c</a:t>
            </a:r>
            <a:endParaRPr lang="en-US" altLang="ja-JP" dirty="0"/>
          </a:p>
          <a:p>
            <a:r>
              <a:rPr lang="en-US" altLang="ja-JP" dirty="0" err="1"/>
              <a:t>main.c</a:t>
            </a:r>
            <a:endParaRPr lang="en-US" altLang="ja-JP" dirty="0"/>
          </a:p>
          <a:p>
            <a:r>
              <a:rPr lang="en-US" altLang="ja-JP" dirty="0" err="1"/>
              <a:t>miscellaneous.c</a:t>
            </a:r>
            <a:endParaRPr lang="en-US" altLang="ja-JP" dirty="0"/>
          </a:p>
          <a:p>
            <a:r>
              <a:rPr lang="en-US" altLang="ja-JP" dirty="0"/>
              <a:t>n2o_emit.c</a:t>
            </a:r>
          </a:p>
          <a:p>
            <a:r>
              <a:rPr lang="en-US" altLang="ja-JP" dirty="0" err="1"/>
              <a:t>n_budget.c</a:t>
            </a:r>
            <a:endParaRPr lang="en-US" altLang="ja-JP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412762" y="1270083"/>
            <a:ext cx="21375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n_flux.c</a:t>
            </a:r>
            <a:endParaRPr lang="en-US" altLang="ja-JP" dirty="0"/>
          </a:p>
          <a:p>
            <a:r>
              <a:rPr lang="en-US" altLang="ja-JP" dirty="0" err="1"/>
              <a:t>parameter.c</a:t>
            </a:r>
            <a:endParaRPr lang="en-US" altLang="ja-JP" dirty="0"/>
          </a:p>
          <a:p>
            <a:r>
              <a:rPr lang="en-US" altLang="ja-JP" dirty="0" err="1"/>
              <a:t>parameter_var.c</a:t>
            </a:r>
            <a:endParaRPr lang="en-US" altLang="ja-JP" dirty="0"/>
          </a:p>
          <a:p>
            <a:r>
              <a:rPr lang="en-US" altLang="ja-JP" dirty="0" err="1"/>
              <a:t>phenology.c</a:t>
            </a:r>
            <a:endParaRPr lang="en-US" altLang="ja-JP" dirty="0"/>
          </a:p>
          <a:p>
            <a:r>
              <a:rPr lang="en-US" altLang="ja-JP" dirty="0" err="1"/>
              <a:t>photosynthesis.c</a:t>
            </a:r>
            <a:endParaRPr lang="en-US" altLang="ja-JP" dirty="0"/>
          </a:p>
          <a:p>
            <a:r>
              <a:rPr lang="en-US" altLang="ja-JP" dirty="0" err="1"/>
              <a:t>plant_proc.c</a:t>
            </a:r>
            <a:endParaRPr lang="en-US" altLang="ja-JP" dirty="0"/>
          </a:p>
          <a:p>
            <a:r>
              <a:rPr lang="en-US" altLang="ja-JP" dirty="0" err="1"/>
              <a:t>radiation.c</a:t>
            </a:r>
            <a:endParaRPr lang="en-US" altLang="ja-JP" dirty="0"/>
          </a:p>
          <a:p>
            <a:r>
              <a:rPr lang="en-US" altLang="ja-JP" dirty="0" err="1"/>
              <a:t>respiration.c</a:t>
            </a:r>
            <a:endParaRPr lang="en-US" altLang="ja-JP" dirty="0"/>
          </a:p>
          <a:p>
            <a:r>
              <a:rPr lang="en-US" altLang="ja-JP" dirty="0" err="1"/>
              <a:t>setting.c</a:t>
            </a:r>
            <a:endParaRPr lang="en-US" altLang="ja-JP" dirty="0"/>
          </a:p>
          <a:p>
            <a:r>
              <a:rPr lang="en-US" altLang="ja-JP" dirty="0" err="1"/>
              <a:t>soil_physics.c</a:t>
            </a:r>
            <a:endParaRPr lang="en-US" altLang="ja-JP" dirty="0"/>
          </a:p>
          <a:p>
            <a:r>
              <a:rPr lang="en-US" altLang="ja-JP" dirty="0" err="1"/>
              <a:t>soil_proc.c</a:t>
            </a:r>
            <a:endParaRPr lang="en-US" altLang="ja-JP" dirty="0"/>
          </a:p>
          <a:p>
            <a:r>
              <a:rPr lang="en-US" altLang="ja-JP" dirty="0" err="1"/>
              <a:t>spinup.c</a:t>
            </a:r>
            <a:endParaRPr lang="en-US" altLang="ja-JP" dirty="0"/>
          </a:p>
          <a:p>
            <a:r>
              <a:rPr lang="en-US" altLang="ja-JP" dirty="0" err="1"/>
              <a:t>two_canopy.c</a:t>
            </a:r>
            <a:endParaRPr lang="en-US" altLang="ja-JP" dirty="0"/>
          </a:p>
          <a:p>
            <a:r>
              <a:rPr lang="en-US" altLang="ja-JP" dirty="0" err="1"/>
              <a:t>vocemit.c</a:t>
            </a:r>
            <a:endParaRPr lang="en-US" altLang="ja-JP" dirty="0"/>
          </a:p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Structure</a:t>
            </a:r>
            <a:endParaRPr lang="ja-JP" altLang="en-US" sz="32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778117" y="2170098"/>
            <a:ext cx="79266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>
                <a:solidFill>
                  <a:srgbClr val="3366FF"/>
                </a:solidFill>
              </a:rPr>
              <a:t>gloval_variables.h</a:t>
            </a:r>
            <a:endParaRPr lang="en-US" altLang="ja-JP" dirty="0">
              <a:solidFill>
                <a:srgbClr val="3366FF"/>
              </a:solidFill>
            </a:endParaRPr>
          </a:p>
          <a:p>
            <a:r>
              <a:rPr lang="en-US" altLang="ja-JP" dirty="0"/>
              <a:t>/* structures */</a:t>
            </a:r>
          </a:p>
          <a:p>
            <a:r>
              <a:rPr lang="en-US" altLang="ja-JP" dirty="0" err="1"/>
              <a:t>struct</a:t>
            </a:r>
            <a:r>
              <a:rPr lang="en-US" altLang="ja-JP" dirty="0"/>
              <a:t>	Grid		</a:t>
            </a:r>
            <a:r>
              <a:rPr lang="en-US" altLang="ja-JP" dirty="0" err="1"/>
              <a:t>grid[DROW][DCOL</a:t>
            </a:r>
            <a:r>
              <a:rPr lang="en-US" altLang="ja-JP" dirty="0"/>
              <a:t>];		/* grid condition*/</a:t>
            </a:r>
          </a:p>
          <a:p>
            <a:r>
              <a:rPr lang="en-US" altLang="ja-JP" dirty="0" err="1"/>
              <a:t>struct</a:t>
            </a:r>
            <a:r>
              <a:rPr lang="en-US" altLang="ja-JP" dirty="0"/>
              <a:t>	Mass	</a:t>
            </a:r>
            <a:r>
              <a:rPr lang="en-US" altLang="ja-JP" dirty="0" err="1"/>
              <a:t>mass[DROW][DCOL</a:t>
            </a:r>
            <a:r>
              <a:rPr lang="en-US" altLang="ja-JP" dirty="0"/>
              <a:t>];	/* carbon and nitrogen mass */</a:t>
            </a:r>
          </a:p>
          <a:p>
            <a:r>
              <a:rPr lang="en-US" altLang="ja-JP" dirty="0" err="1"/>
              <a:t>struct</a:t>
            </a:r>
            <a:r>
              <a:rPr lang="en-US" altLang="ja-JP" dirty="0"/>
              <a:t>	</a:t>
            </a:r>
            <a:r>
              <a:rPr lang="en-US" altLang="ja-JP" dirty="0" err="1"/>
              <a:t>Loct</a:t>
            </a:r>
            <a:r>
              <a:rPr lang="en-US" altLang="ja-JP" dirty="0"/>
              <a:t>		</a:t>
            </a:r>
            <a:r>
              <a:rPr lang="en-US" altLang="ja-JP" dirty="0" err="1"/>
              <a:t>loct</a:t>
            </a:r>
            <a:r>
              <a:rPr lang="en-US" altLang="ja-JP" dirty="0"/>
              <a:t>; 				/* local conditions*/</a:t>
            </a:r>
          </a:p>
          <a:p>
            <a:r>
              <a:rPr lang="en-US" altLang="ja-JP" dirty="0" err="1"/>
              <a:t>struct</a:t>
            </a:r>
            <a:r>
              <a:rPr lang="en-US" altLang="ja-JP" dirty="0"/>
              <a:t>	</a:t>
            </a:r>
            <a:r>
              <a:rPr lang="en-US" altLang="ja-JP" dirty="0" err="1"/>
              <a:t>Echar</a:t>
            </a:r>
            <a:r>
              <a:rPr lang="en-US" altLang="ja-JP" dirty="0"/>
              <a:t>	</a:t>
            </a:r>
            <a:r>
              <a:rPr lang="en-US" altLang="ja-JP" dirty="0" err="1"/>
              <a:t>echar</a:t>
            </a:r>
            <a:r>
              <a:rPr lang="en-US" altLang="ja-JP" dirty="0"/>
              <a:t>;				/* ecosystem characteristics */</a:t>
            </a:r>
          </a:p>
          <a:p>
            <a:r>
              <a:rPr lang="en-US" altLang="ja-JP" dirty="0" err="1"/>
              <a:t>struct</a:t>
            </a:r>
            <a:r>
              <a:rPr lang="en-US" altLang="ja-JP" dirty="0"/>
              <a:t>	Flux		flux;					/* flux variables */</a:t>
            </a:r>
          </a:p>
          <a:p>
            <a:r>
              <a:rPr lang="en-US" altLang="ja-JP" dirty="0" err="1"/>
              <a:t>struct</a:t>
            </a:r>
            <a:r>
              <a:rPr lang="en-US" altLang="ja-JP" dirty="0"/>
              <a:t>	</a:t>
            </a:r>
            <a:r>
              <a:rPr lang="en-US" altLang="ja-JP" dirty="0" err="1"/>
              <a:t>Echar</a:t>
            </a:r>
            <a:r>
              <a:rPr lang="en-US" altLang="ja-JP" dirty="0"/>
              <a:t>	</a:t>
            </a:r>
            <a:r>
              <a:rPr lang="en-US" altLang="ja-JP" dirty="0" err="1"/>
              <a:t>echar_type[NFILE</a:t>
            </a:r>
            <a:r>
              <a:rPr lang="en-US" altLang="ja-JP" dirty="0"/>
              <a:t>];		/* default parameters */</a:t>
            </a:r>
          </a:p>
          <a:p>
            <a:endParaRPr kumimoji="1" lang="en-US" altLang="ja-JP" dirty="0"/>
          </a:p>
          <a:p>
            <a:r>
              <a:rPr lang="en-US" altLang="ja-JP" dirty="0"/>
              <a:t>Definition of Grid, Mass, </a:t>
            </a:r>
            <a:r>
              <a:rPr lang="en-US" altLang="ja-JP" dirty="0" err="1"/>
              <a:t>Loct</a:t>
            </a:r>
            <a:r>
              <a:rPr lang="en-US" altLang="ja-JP" dirty="0"/>
              <a:t>, </a:t>
            </a:r>
            <a:r>
              <a:rPr lang="en-US" altLang="ja-JP" dirty="0" err="1"/>
              <a:t>Echar</a:t>
            </a:r>
            <a:r>
              <a:rPr lang="en-US" altLang="ja-JP" dirty="0"/>
              <a:t>, Flux =&gt; </a:t>
            </a:r>
            <a:r>
              <a:rPr lang="en-US" altLang="ja-JP" dirty="0" err="1">
                <a:solidFill>
                  <a:srgbClr val="3366FF"/>
                </a:solidFill>
              </a:rPr>
              <a:t>structure.h</a:t>
            </a:r>
            <a:endParaRPr lang="en-US" altLang="ja-JP" dirty="0">
              <a:solidFill>
                <a:srgbClr val="3366FF"/>
              </a:solidFill>
            </a:endParaRPr>
          </a:p>
          <a:p>
            <a:endParaRPr kumimoji="1" lang="en-US" altLang="ja-JP" dirty="0"/>
          </a:p>
          <a:p>
            <a:r>
              <a:rPr lang="en-US" altLang="ja-JP" dirty="0"/>
              <a:t>Ex (</a:t>
            </a:r>
            <a:r>
              <a:rPr lang="en-US" altLang="ja-JP" dirty="0" err="1"/>
              <a:t>main.c</a:t>
            </a:r>
            <a:r>
              <a:rPr lang="en-US" altLang="ja-JP" dirty="0"/>
              <a:t>)     </a:t>
            </a:r>
            <a:r>
              <a:rPr lang="en-US" altLang="ja-JP" dirty="0" err="1"/>
              <a:t>f_initialize(grid</a:t>
            </a:r>
            <a:r>
              <a:rPr lang="en-US" altLang="ja-JP" dirty="0"/>
              <a:t>, &amp;</a:t>
            </a:r>
            <a:r>
              <a:rPr lang="en-US" altLang="ja-JP" dirty="0" err="1"/>
              <a:t>loct</a:t>
            </a:r>
            <a:r>
              <a:rPr lang="en-US" altLang="ja-JP" dirty="0"/>
              <a:t>, &amp;</a:t>
            </a:r>
            <a:r>
              <a:rPr lang="en-US" altLang="ja-JP" dirty="0" err="1"/>
              <a:t>echar</a:t>
            </a:r>
            <a:r>
              <a:rPr lang="en-US" altLang="ja-JP" dirty="0"/>
              <a:t>, </a:t>
            </a:r>
            <a:r>
              <a:rPr lang="en-US" altLang="ja-JP" dirty="0" err="1"/>
              <a:t>echar_type</a:t>
            </a:r>
            <a:r>
              <a:rPr lang="en-US" altLang="ja-JP" dirty="0"/>
              <a:t>, mass, &amp;flux, </a:t>
            </a:r>
            <a:r>
              <a:rPr lang="en-US" altLang="ja-JP" dirty="0" err="1"/>
              <a:t>fp_r</a:t>
            </a:r>
            <a:r>
              <a:rPr lang="en-US" altLang="ja-JP" dirty="0"/>
              <a:t>);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76770" y="1294544"/>
            <a:ext cx="3601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Q. What is ‘structure’ in C-language?</a:t>
            </a:r>
          </a:p>
          <a:p>
            <a:r>
              <a:rPr kumimoji="1" lang="en-US" altLang="ja-JP" dirty="0"/>
              <a:t>A. Structure is a group of variables.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 err="1"/>
              <a:t>main.c</a:t>
            </a:r>
            <a:endParaRPr lang="ja-JP" altLang="en-US" sz="3200" dirty="0"/>
          </a:p>
        </p:txBody>
      </p:sp>
      <p:pic>
        <p:nvPicPr>
          <p:cNvPr id="3" name="図 2" descr="スクリーンショット（2011-01-27 10.40.07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27" y="1150634"/>
            <a:ext cx="3622363" cy="5448679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4372754" y="1210298"/>
            <a:ext cx="1172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comments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372754" y="2880850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including header files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372754" y="4542879"/>
            <a:ext cx="185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simulation setting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372754" y="4917901"/>
            <a:ext cx="1326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initialization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372754" y="5403724"/>
            <a:ext cx="883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spin-up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72754" y="5719083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experiment</a:t>
            </a:r>
            <a:endParaRPr kumimoji="1" lang="ja-JP" altLang="en-US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585851" y="4244566"/>
            <a:ext cx="1769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(parameter perturbation)</a:t>
            </a:r>
            <a:endParaRPr kumimoji="1" lang="ja-JP" altLang="en-US" sz="12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372754" y="6017397"/>
            <a:ext cx="1295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termination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2. Editing set-up files and parameters [1]</a:t>
            </a:r>
            <a:endParaRPr lang="ja-JP" altLang="en-US" sz="3200" dirty="0"/>
          </a:p>
        </p:txBody>
      </p:sp>
      <p:pic>
        <p:nvPicPr>
          <p:cNvPr id="3" name="図 2" descr="スクリーンショット（2011-01-27 10.52.48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60" y="2054098"/>
            <a:ext cx="4826703" cy="338372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1525776" y="1585321"/>
            <a:ext cx="1349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Edit ‘setting’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26194" y="1116543"/>
            <a:ext cx="3549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Setting files are </a:t>
            </a:r>
            <a:r>
              <a:rPr lang="en-US" altLang="ja-JP" dirty="0"/>
              <a:t>in MS-EXCEL sheets.</a:t>
            </a:r>
            <a:endParaRPr kumimoji="1" lang="ja-JP" altLang="en-US" dirty="0"/>
          </a:p>
        </p:txBody>
      </p:sp>
      <p:pic>
        <p:nvPicPr>
          <p:cNvPr id="6" name="図 5" descr="スクリーンショット（2011-01-27 10.53.56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004" y="3434859"/>
            <a:ext cx="4300311" cy="3017683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5830339" y="2625155"/>
            <a:ext cx="1978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Save as ‘</a:t>
            </a:r>
            <a:r>
              <a:rPr kumimoji="1" lang="en-US" altLang="ja-JP" dirty="0" err="1"/>
              <a:t>setting.txt</a:t>
            </a:r>
            <a:r>
              <a:rPr kumimoji="1" lang="en-US" altLang="ja-JP" dirty="0"/>
              <a:t>’</a:t>
            </a:r>
          </a:p>
          <a:p>
            <a:r>
              <a:rPr lang="en-US" altLang="ja-JP" dirty="0"/>
              <a:t>(text format)</a:t>
            </a:r>
            <a:endParaRPr kumimoji="1" lang="ja-JP" altLang="en-US" dirty="0"/>
          </a:p>
        </p:txBody>
      </p:sp>
      <p:sp>
        <p:nvSpPr>
          <p:cNvPr id="8" name="円/楕円 7"/>
          <p:cNvSpPr/>
          <p:nvPr/>
        </p:nvSpPr>
        <p:spPr>
          <a:xfrm>
            <a:off x="5642813" y="6290139"/>
            <a:ext cx="741579" cy="238651"/>
          </a:xfrm>
          <a:prstGeom prst="ellipse">
            <a:avLst/>
          </a:prstGeom>
          <a:noFill/>
          <a:ln w="349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/>
          <p:cNvCxnSpPr/>
          <p:nvPr/>
        </p:nvCxnSpPr>
        <p:spPr>
          <a:xfrm rot="16200000" flipH="1">
            <a:off x="1781511" y="1951800"/>
            <a:ext cx="485824" cy="46881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2. Editing set-up files and parameters [2]</a:t>
            </a:r>
            <a:endParaRPr lang="ja-JP" altLang="en-US" sz="3200" dirty="0"/>
          </a:p>
        </p:txBody>
      </p:sp>
      <p:pic>
        <p:nvPicPr>
          <p:cNvPr id="3" name="図 2" descr="スクリーンショット（2011-01-27 10.53.18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31" y="1960342"/>
            <a:ext cx="6025108" cy="4221760"/>
          </a:xfrm>
          <a:prstGeom prst="rect">
            <a:avLst/>
          </a:prstGeom>
        </p:spPr>
      </p:pic>
      <p:pic>
        <p:nvPicPr>
          <p:cNvPr id="4" name="図 3" descr="スクリーンショット（2011-01-27 10.54.20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985" y="3562707"/>
            <a:ext cx="4125520" cy="2893594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423490" y="1585321"/>
            <a:ext cx="106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Edit ‘Site’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26194" y="1116543"/>
            <a:ext cx="3549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Setting files are </a:t>
            </a:r>
            <a:r>
              <a:rPr lang="en-US" altLang="ja-JP" dirty="0"/>
              <a:t>in MS-EXCEL sheets.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614536" y="2395028"/>
            <a:ext cx="2153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Save as ‘</a:t>
            </a:r>
            <a:r>
              <a:rPr kumimoji="1" lang="en-US" altLang="ja-JP" dirty="0" err="1"/>
              <a:t>site_XXX.txt</a:t>
            </a:r>
            <a:r>
              <a:rPr kumimoji="1" lang="en-US" altLang="ja-JP" dirty="0"/>
              <a:t>’</a:t>
            </a:r>
          </a:p>
          <a:p>
            <a:r>
              <a:rPr lang="en-US" altLang="ja-JP" dirty="0"/>
              <a:t>(text format)</a:t>
            </a:r>
          </a:p>
          <a:p>
            <a:r>
              <a:rPr kumimoji="1" lang="en-US" altLang="ja-JP" dirty="0"/>
              <a:t>XXX = </a:t>
            </a:r>
            <a:r>
              <a:rPr lang="en-US" altLang="ja-JP" dirty="0"/>
              <a:t>ID</a:t>
            </a:r>
            <a:endParaRPr kumimoji="1" lang="ja-JP" altLang="en-US" dirty="0"/>
          </a:p>
        </p:txBody>
      </p:sp>
      <p:sp>
        <p:nvSpPr>
          <p:cNvPr id="8" name="円/楕円 7"/>
          <p:cNvSpPr/>
          <p:nvPr/>
        </p:nvSpPr>
        <p:spPr>
          <a:xfrm>
            <a:off x="6043436" y="6290139"/>
            <a:ext cx="741579" cy="238651"/>
          </a:xfrm>
          <a:prstGeom prst="ellipse">
            <a:avLst/>
          </a:prstGeom>
          <a:noFill/>
          <a:ln w="349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/>
          <p:cNvCxnSpPr/>
          <p:nvPr/>
        </p:nvCxnSpPr>
        <p:spPr>
          <a:xfrm rot="16200000" flipH="1">
            <a:off x="1628081" y="1951800"/>
            <a:ext cx="485824" cy="46881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111218" y="2804141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soil properties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111218" y="2446166"/>
            <a:ext cx="686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rgbClr val="FF0000"/>
                </a:solidFill>
              </a:rPr>
              <a:t>location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111218" y="2233086"/>
            <a:ext cx="1160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rgbClr val="FF0000"/>
                </a:solidFill>
              </a:rPr>
              <a:t>vegetation type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2. Editing set-up files and parameters [3]</a:t>
            </a:r>
            <a:endParaRPr lang="ja-JP" altLang="en-US" sz="3200" dirty="0"/>
          </a:p>
        </p:txBody>
      </p:sp>
      <p:pic>
        <p:nvPicPr>
          <p:cNvPr id="3" name="図 2" descr="スクリーンショット（2011-01-27 10.55.15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89" y="2037052"/>
            <a:ext cx="5246098" cy="4366695"/>
          </a:xfrm>
          <a:prstGeom prst="rect">
            <a:avLst/>
          </a:prstGeom>
        </p:spPr>
      </p:pic>
      <p:pic>
        <p:nvPicPr>
          <p:cNvPr id="4" name="図 3" descr="スクリーンショット（2011-01-27 10.55.33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991" y="2889482"/>
            <a:ext cx="4463941" cy="3727141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423490" y="1585321"/>
            <a:ext cx="2205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Edit ‘Parameter-daily’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26194" y="1116543"/>
            <a:ext cx="3549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Setting files are </a:t>
            </a:r>
            <a:r>
              <a:rPr lang="en-US" altLang="ja-JP" dirty="0"/>
              <a:t>in MS-EXCEL sheets.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915577" y="1806925"/>
            <a:ext cx="28120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Save as ‘</a:t>
            </a:r>
            <a:r>
              <a:rPr kumimoji="1" lang="en-US" altLang="ja-JP" dirty="0" err="1"/>
              <a:t>parameter_XXX.txt</a:t>
            </a:r>
            <a:r>
              <a:rPr kumimoji="1" lang="en-US" altLang="ja-JP" dirty="0"/>
              <a:t>’</a:t>
            </a:r>
          </a:p>
          <a:p>
            <a:r>
              <a:rPr lang="en-US" altLang="ja-JP" dirty="0"/>
              <a:t>(text format)</a:t>
            </a:r>
          </a:p>
          <a:p>
            <a:r>
              <a:rPr kumimoji="1" lang="en-US" altLang="ja-JP" dirty="0"/>
              <a:t>XXX = </a:t>
            </a:r>
            <a:r>
              <a:rPr lang="en-US" altLang="ja-JP" dirty="0"/>
              <a:t>ID</a:t>
            </a:r>
            <a:endParaRPr kumimoji="1" lang="ja-JP" altLang="en-US" dirty="0"/>
          </a:p>
        </p:txBody>
      </p:sp>
      <p:sp>
        <p:nvSpPr>
          <p:cNvPr id="8" name="円/楕円 7"/>
          <p:cNvSpPr/>
          <p:nvPr/>
        </p:nvSpPr>
        <p:spPr>
          <a:xfrm>
            <a:off x="6878777" y="6452080"/>
            <a:ext cx="741579" cy="238651"/>
          </a:xfrm>
          <a:prstGeom prst="ellipse">
            <a:avLst/>
          </a:prstGeom>
          <a:noFill/>
          <a:ln w="349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/>
          <p:cNvCxnSpPr/>
          <p:nvPr/>
        </p:nvCxnSpPr>
        <p:spPr>
          <a:xfrm>
            <a:off x="1636586" y="1943295"/>
            <a:ext cx="366527" cy="3579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Climate [NCEP] data</a:t>
            </a:r>
            <a:endParaRPr lang="ja-JP" altLang="en-US" sz="3200" dirty="0"/>
          </a:p>
        </p:txBody>
      </p:sp>
      <p:pic>
        <p:nvPicPr>
          <p:cNvPr id="3" name="図 2" descr="スクリーンショット（2011-01-27 11.27.32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76" y="1551228"/>
            <a:ext cx="5366047" cy="2476207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5532003" y="1193252"/>
            <a:ext cx="3590105" cy="5016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Column</a:t>
            </a:r>
          </a:p>
          <a:p>
            <a:pPr marL="342900" indent="-342900">
              <a:buAutoNum type="arabicPeriod"/>
            </a:pPr>
            <a:r>
              <a:rPr lang="en-US" altLang="ja-JP" sz="1600" dirty="0"/>
              <a:t>year</a:t>
            </a:r>
          </a:p>
          <a:p>
            <a:pPr marL="342900" indent="-342900">
              <a:buAutoNum type="arabicPeriod"/>
            </a:pPr>
            <a:r>
              <a:rPr lang="en-US" altLang="ja-JP" sz="1600" dirty="0"/>
              <a:t>day of year</a:t>
            </a:r>
          </a:p>
          <a:p>
            <a:pPr marL="342900" indent="-342900">
              <a:buAutoNum type="arabicPeriod"/>
            </a:pPr>
            <a:r>
              <a:rPr kumimoji="1" lang="en-US" altLang="ja-JP" sz="1600" dirty="0"/>
              <a:t>mean 2m air temp. [K]</a:t>
            </a:r>
          </a:p>
          <a:p>
            <a:pPr marL="342900" indent="-342900">
              <a:buAutoNum type="arabicPeriod"/>
            </a:pPr>
            <a:r>
              <a:rPr lang="en-US" altLang="ja-JP" sz="1600" dirty="0"/>
              <a:t>max 2m air temp. [K]</a:t>
            </a:r>
          </a:p>
          <a:p>
            <a:pPr marL="342900" indent="-342900">
              <a:buAutoNum type="arabicPeriod"/>
            </a:pPr>
            <a:r>
              <a:rPr kumimoji="1" lang="en-US" altLang="ja-JP" sz="1600" dirty="0"/>
              <a:t>min </a:t>
            </a:r>
            <a:r>
              <a:rPr lang="en-US" altLang="ja-JP" sz="1600" dirty="0"/>
              <a:t>2m air temp. [K]</a:t>
            </a:r>
          </a:p>
          <a:p>
            <a:pPr marL="342900" indent="-342900">
              <a:buAutoNum type="arabicPeriod"/>
            </a:pPr>
            <a:r>
              <a:rPr kumimoji="1" lang="en-US" altLang="ja-JP" sz="1600" dirty="0"/>
              <a:t>specific humidity at 2m </a:t>
            </a:r>
            <a:r>
              <a:rPr lang="en-US" altLang="ja-JP" sz="1600" dirty="0"/>
              <a:t>[kg/kg]</a:t>
            </a:r>
            <a:endParaRPr kumimoji="1" lang="en-US" altLang="ja-JP" sz="1600" dirty="0"/>
          </a:p>
          <a:p>
            <a:pPr marL="342900" indent="-342900">
              <a:buAutoNum type="arabicPeriod"/>
            </a:pPr>
            <a:r>
              <a:rPr lang="en-US" altLang="ja-JP" sz="1600" dirty="0"/>
              <a:t>daily precipitation [kg/m2/s]</a:t>
            </a:r>
          </a:p>
          <a:p>
            <a:pPr marL="342900" indent="-342900">
              <a:buAutoNum type="arabicPeriod"/>
            </a:pPr>
            <a:r>
              <a:rPr kumimoji="1" lang="en-US" altLang="ja-JP" sz="1600" dirty="0"/>
              <a:t>daily mean down SW [W/m2]</a:t>
            </a:r>
          </a:p>
          <a:p>
            <a:pPr marL="342900" indent="-342900">
              <a:buAutoNum type="arabicPeriod"/>
            </a:pPr>
            <a:r>
              <a:rPr lang="en-US" altLang="ja-JP" sz="1600" dirty="0"/>
              <a:t>cloud cover [</a:t>
            </a:r>
            <a:r>
              <a:rPr lang="en-US" altLang="ja-JP" sz="1600" dirty="0" err="1"/>
              <a:t>fract</a:t>
            </a:r>
            <a:r>
              <a:rPr lang="en-US" altLang="ja-JP" sz="1600" dirty="0"/>
              <a:t>.]</a:t>
            </a:r>
          </a:p>
          <a:p>
            <a:pPr marL="342900" indent="-342900">
              <a:buAutoNum type="arabicPeriod"/>
            </a:pPr>
            <a:r>
              <a:rPr kumimoji="1" lang="en-US" altLang="ja-JP" sz="1600" dirty="0"/>
              <a:t>surface temp. [K]</a:t>
            </a:r>
          </a:p>
          <a:p>
            <a:pPr marL="342900" indent="-342900">
              <a:buAutoNum type="arabicPeriod"/>
            </a:pPr>
            <a:r>
              <a:rPr lang="en-US" altLang="ja-JP" sz="1600" dirty="0"/>
              <a:t>soil 0-10cm temp. [K]</a:t>
            </a:r>
          </a:p>
          <a:p>
            <a:pPr marL="342900" indent="-342900">
              <a:buAutoNum type="arabicPeriod"/>
            </a:pPr>
            <a:r>
              <a:rPr kumimoji="1" lang="en-US" altLang="ja-JP" sz="1600" dirty="0"/>
              <a:t>soil 10-200cm temp.</a:t>
            </a:r>
            <a:r>
              <a:rPr lang="en-US" altLang="ja-JP" sz="1600" dirty="0"/>
              <a:t> [K]</a:t>
            </a:r>
            <a:endParaRPr kumimoji="1" lang="en-US" altLang="ja-JP" sz="1600" dirty="0"/>
          </a:p>
          <a:p>
            <a:pPr marL="342900" indent="-342900">
              <a:buAutoNum type="arabicPeriod"/>
            </a:pPr>
            <a:r>
              <a:rPr lang="en-US" altLang="ja-JP" sz="1600" dirty="0"/>
              <a:t>soil 300cm temp. [K]</a:t>
            </a:r>
          </a:p>
          <a:p>
            <a:pPr marL="342900" indent="-342900">
              <a:buAutoNum type="arabicPeriod"/>
            </a:pPr>
            <a:r>
              <a:rPr kumimoji="1" lang="en-US" altLang="ja-JP" sz="1600" dirty="0"/>
              <a:t>soil 0-10cm water content </a:t>
            </a:r>
            <a:r>
              <a:rPr lang="en-US" altLang="ja-JP" sz="1600" dirty="0"/>
              <a:t>[</a:t>
            </a:r>
            <a:r>
              <a:rPr lang="en-US" altLang="ja-JP" sz="1600" dirty="0" err="1"/>
              <a:t>frac</a:t>
            </a:r>
            <a:r>
              <a:rPr lang="en-US" altLang="ja-JP" sz="1600" dirty="0"/>
              <a:t>.]</a:t>
            </a:r>
            <a:endParaRPr kumimoji="1" lang="en-US" altLang="ja-JP" sz="1600" dirty="0"/>
          </a:p>
          <a:p>
            <a:pPr marL="342900" indent="-342900">
              <a:buAutoNum type="arabicPeriod"/>
            </a:pPr>
            <a:r>
              <a:rPr lang="en-US" altLang="ja-JP" sz="1600" dirty="0"/>
              <a:t>soil 10-200cm water content [</a:t>
            </a:r>
            <a:r>
              <a:rPr lang="en-US" altLang="ja-JP" sz="1600" dirty="0" err="1"/>
              <a:t>frac</a:t>
            </a:r>
            <a:r>
              <a:rPr lang="en-US" altLang="ja-JP" sz="1600" dirty="0"/>
              <a:t>.]</a:t>
            </a:r>
          </a:p>
          <a:p>
            <a:pPr marL="342900" indent="-342900">
              <a:buAutoNum type="arabicPeriod"/>
            </a:pPr>
            <a:r>
              <a:rPr kumimoji="1" lang="en-US" altLang="ja-JP" sz="1600" dirty="0"/>
              <a:t>east-west wind </a:t>
            </a:r>
            <a:r>
              <a:rPr lang="en-US" altLang="ja-JP" sz="1600" dirty="0"/>
              <a:t>[</a:t>
            </a:r>
            <a:r>
              <a:rPr lang="en-US" altLang="ja-JP" sz="1600" dirty="0" err="1"/>
              <a:t>m/s</a:t>
            </a:r>
            <a:r>
              <a:rPr lang="en-US" altLang="ja-JP" sz="1600" dirty="0"/>
              <a:t>]</a:t>
            </a:r>
            <a:endParaRPr kumimoji="1" lang="en-US" altLang="ja-JP" sz="1600" dirty="0"/>
          </a:p>
          <a:p>
            <a:pPr marL="342900" indent="-342900">
              <a:buAutoNum type="arabicPeriod"/>
            </a:pPr>
            <a:r>
              <a:rPr lang="en-US" altLang="ja-JP" sz="1600" dirty="0"/>
              <a:t>north-south wind [</a:t>
            </a:r>
            <a:r>
              <a:rPr lang="en-US" altLang="ja-JP" sz="1600" dirty="0" err="1"/>
              <a:t>m/s</a:t>
            </a:r>
            <a:r>
              <a:rPr lang="en-US" altLang="ja-JP" sz="1600" dirty="0"/>
              <a:t>]</a:t>
            </a:r>
          </a:p>
          <a:p>
            <a:pPr marL="342900" indent="-342900">
              <a:buAutoNum type="arabicPeriod"/>
            </a:pPr>
            <a:r>
              <a:rPr kumimoji="1" lang="en-US" altLang="ja-JP" sz="1600" dirty="0"/>
              <a:t>snow accumulation </a:t>
            </a:r>
            <a:r>
              <a:rPr lang="en-US" altLang="ja-JP" sz="1600" dirty="0"/>
              <a:t>[kg/ms]</a:t>
            </a:r>
            <a:endParaRPr kumimoji="1" lang="en-US" altLang="ja-JP" sz="1600" dirty="0"/>
          </a:p>
          <a:p>
            <a:pPr marL="342900" indent="-342900">
              <a:buAutoNum type="arabicPeriod"/>
            </a:pPr>
            <a:r>
              <a:rPr lang="en-US" altLang="ja-JP" sz="1600" dirty="0"/>
              <a:t>surface air pressure [Pa]</a:t>
            </a:r>
            <a:endParaRPr kumimoji="1" lang="ja-JP" altLang="en-US" sz="16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832636" y="4108194"/>
            <a:ext cx="3123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[text format, </a:t>
            </a:r>
            <a:r>
              <a:rPr lang="en-US" altLang="ja-JP" dirty="0"/>
              <a:t>blank/tab-spaced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6194" y="5011656"/>
            <a:ext cx="4602899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IMPORTANT!</a:t>
            </a:r>
          </a:p>
          <a:p>
            <a:r>
              <a:rPr lang="en-US" altLang="ja-JP" dirty="0"/>
              <a:t>In some case, climate data should be corrected on the basis of field observation data.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Usage: command-based</a:t>
            </a:r>
            <a:endParaRPr lang="ja-JP" altLang="en-US" sz="3200" dirty="0"/>
          </a:p>
        </p:txBody>
      </p:sp>
      <p:pic>
        <p:nvPicPr>
          <p:cNvPr id="4" name="図 3" descr="スクリーンショット（2011-01-24 15.00.56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54" y="1179328"/>
            <a:ext cx="3424590" cy="5443057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3950895" y="1128931"/>
            <a:ext cx="4888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Compiling and debugging tool:	</a:t>
            </a:r>
            <a:r>
              <a:rPr kumimoji="1" lang="en-US" altLang="ja-JP" dirty="0" err="1"/>
              <a:t>gcc</a:t>
            </a:r>
            <a:r>
              <a:rPr lang="en-US" altLang="ja-JP" dirty="0" err="1"/>
              <a:t>/icc</a:t>
            </a:r>
            <a:r>
              <a:rPr lang="en-US" altLang="ja-JP" dirty="0"/>
              <a:t>, </a:t>
            </a:r>
            <a:r>
              <a:rPr lang="en-US" altLang="ja-JP" dirty="0" err="1"/>
              <a:t>gdb</a:t>
            </a:r>
            <a:endParaRPr lang="en-US" altLang="ja-JP" dirty="0"/>
          </a:p>
          <a:p>
            <a:r>
              <a:rPr kumimoji="1" lang="en-US" altLang="ja-JP" dirty="0"/>
              <a:t>Editor:	vi, </a:t>
            </a:r>
            <a:r>
              <a:rPr kumimoji="1" lang="en-US" altLang="ja-JP" dirty="0" err="1"/>
              <a:t>emacs</a:t>
            </a:r>
            <a:r>
              <a:rPr kumimoji="1" lang="en-US" altLang="ja-JP" dirty="0"/>
              <a:t>, etc.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192092" y="2441140"/>
            <a:ext cx="4315388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Usage: compilation and </a:t>
            </a:r>
            <a:r>
              <a:rPr lang="en-US" altLang="ja-JP" dirty="0"/>
              <a:t>simulation run</a:t>
            </a:r>
            <a:endParaRPr kumimoji="1" lang="en-US" altLang="ja-JP" dirty="0"/>
          </a:p>
          <a:p>
            <a:r>
              <a:rPr kumimoji="1" lang="en-US" altLang="ja-JP" dirty="0"/>
              <a:t>1. 	&gt; make</a:t>
            </a:r>
          </a:p>
          <a:p>
            <a:r>
              <a:rPr kumimoji="1" lang="en-US" altLang="ja-JP" dirty="0"/>
              <a:t>2.	&gt; ./</a:t>
            </a:r>
            <a:r>
              <a:rPr kumimoji="1" lang="en-US" altLang="ja-JP" dirty="0" err="1"/>
              <a:t>visitb</a:t>
            </a:r>
            <a:endParaRPr kumimoji="1"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See README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Usage: GUI-based</a:t>
            </a:r>
            <a:endParaRPr lang="ja-JP" altLang="en-US" sz="3200" dirty="0"/>
          </a:p>
        </p:txBody>
      </p:sp>
      <p:pic>
        <p:nvPicPr>
          <p:cNvPr id="3" name="図 2" descr="スクリーンショット（2011-01-24 14.51.54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142" y="2312126"/>
            <a:ext cx="6269020" cy="3791886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776069" y="1128931"/>
            <a:ext cx="586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Coding and debugging tool:	</a:t>
            </a:r>
            <a:r>
              <a:rPr kumimoji="1" lang="en-US" altLang="ja-JP" dirty="0" err="1"/>
              <a:t>Xcode</a:t>
            </a:r>
            <a:r>
              <a:rPr kumimoji="1" lang="en-US" altLang="ja-JP" dirty="0"/>
              <a:t> [</a:t>
            </a:r>
            <a:r>
              <a:rPr lang="en-US" altLang="ja-JP" dirty="0"/>
              <a:t>compiler: </a:t>
            </a:r>
            <a:r>
              <a:rPr kumimoji="1" lang="en-US" altLang="ja-JP" dirty="0" err="1"/>
              <a:t>gcc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76069" y="1427075"/>
            <a:ext cx="586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Coding and debugging tool:	Visual C++, Visual Studio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Management of  output files</a:t>
            </a:r>
            <a:endParaRPr lang="ja-JP" altLang="en-US" sz="3200" dirty="0"/>
          </a:p>
        </p:txBody>
      </p:sp>
      <p:pic>
        <p:nvPicPr>
          <p:cNvPr id="3" name="図 2" descr="スクリーンショット（2011-01-27 14.24.49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04" y="2245004"/>
            <a:ext cx="3355789" cy="4377116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31781" y="1037533"/>
            <a:ext cx="1280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Edit: </a:t>
            </a:r>
            <a:r>
              <a:rPr lang="en-US" altLang="ja-JP" dirty="0" err="1"/>
              <a:t>ansis.c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10659" y="1690462"/>
            <a:ext cx="29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Daily variables =&gt; </a:t>
            </a:r>
            <a:r>
              <a:rPr kumimoji="1" lang="en-US" altLang="ja-JP" dirty="0" err="1"/>
              <a:t>daily.txt</a:t>
            </a:r>
            <a:r>
              <a:rPr kumimoji="1" lang="en-US" altLang="ja-JP" dirty="0"/>
              <a:t> </a:t>
            </a:r>
            <a:r>
              <a:rPr lang="en-US" altLang="ja-JP" dirty="0"/>
              <a:t>file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159600" y="1146176"/>
            <a:ext cx="3277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Annual mean/summary variables</a:t>
            </a:r>
          </a:p>
          <a:p>
            <a:r>
              <a:rPr lang="en-US" altLang="ja-JP" dirty="0"/>
              <a:t>	=&gt; </a:t>
            </a:r>
            <a:r>
              <a:rPr lang="en-US" altLang="ja-JP" dirty="0" err="1"/>
              <a:t>annual.txt</a:t>
            </a:r>
            <a:r>
              <a:rPr lang="en-US" altLang="ja-JP" dirty="0"/>
              <a:t> file</a:t>
            </a:r>
            <a:endParaRPr kumimoji="1" lang="ja-JP" altLang="en-US" dirty="0"/>
          </a:p>
        </p:txBody>
      </p:sp>
      <p:pic>
        <p:nvPicPr>
          <p:cNvPr id="8" name="図 7" descr="スクリーンショット（2011-01-27 14.26.37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593" y="1878677"/>
            <a:ext cx="3422550" cy="2158108"/>
          </a:xfrm>
          <a:prstGeom prst="rect">
            <a:avLst/>
          </a:prstGeom>
        </p:spPr>
      </p:pic>
      <p:pic>
        <p:nvPicPr>
          <p:cNvPr id="9" name="図 8" descr="スクリーンショット（2011-01-27 14.26.48）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787" y="4608178"/>
            <a:ext cx="3674998" cy="1929374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7453347" y="3400592"/>
            <a:ext cx="1431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prepare annual summation (mean)</a:t>
            </a:r>
          </a:p>
          <a:p>
            <a:r>
              <a:rPr lang="en-US" altLang="ja-JP" sz="1200" dirty="0" err="1">
                <a:solidFill>
                  <a:srgbClr val="FF0000"/>
                </a:solidFill>
              </a:rPr>
              <a:t>ansis_ann[XX</a:t>
            </a:r>
            <a:r>
              <a:rPr lang="en-US" altLang="ja-JP" sz="1200" dirty="0">
                <a:solidFill>
                  <a:srgbClr val="FF0000"/>
                </a:solidFill>
              </a:rPr>
              <a:t>]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7453347" y="6058520"/>
            <a:ext cx="1536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output the variables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445919" y="3600163"/>
            <a:ext cx="1536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describe variables you want to output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endParaRPr lang="ja-JP" altLang="en-US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References [2006-2010]</a:t>
            </a:r>
            <a:endParaRPr lang="ja-JP" altLang="en-US" sz="32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86522" y="1281043"/>
            <a:ext cx="8569739" cy="489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/>
            <a:r>
              <a:rPr lang="en-US" sz="1200" dirty="0"/>
              <a:t>Ito A. (2010) Evaluation of defoliation impacts of tropical cyclones on the forest carbon budget using flux data and a process-based model. </a:t>
            </a:r>
            <a:r>
              <a:rPr lang="en-US" sz="1200" i="1" dirty="0"/>
              <a:t>Journal of Geophysical Research</a:t>
            </a:r>
            <a:r>
              <a:rPr lang="en-US" sz="1200" dirty="0"/>
              <a:t> 115: doi:10.1029/2010JG001314.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(2010) Changing </a:t>
            </a:r>
            <a:r>
              <a:rPr lang="en-US" sz="1200" dirty="0" err="1"/>
              <a:t>ecophysiological</a:t>
            </a:r>
            <a:r>
              <a:rPr lang="en-US" sz="1200" dirty="0"/>
              <a:t> processes and carbon budget in East Asian ecosystems under near-future changes in climate: Implications for long-term monitoring from a process-based model. </a:t>
            </a:r>
            <a:r>
              <a:rPr lang="en-US" sz="1200" i="1" dirty="0"/>
              <a:t>Journal of Plant Research</a:t>
            </a:r>
            <a:r>
              <a:rPr lang="en-US" sz="1200" dirty="0"/>
              <a:t> 123: 577-588.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A., </a:t>
            </a:r>
            <a:r>
              <a:rPr lang="en-US" sz="1200" dirty="0" err="1"/>
              <a:t>Ichii</a:t>
            </a:r>
            <a:r>
              <a:rPr lang="en-US" sz="1200" dirty="0"/>
              <a:t> K. &amp; Kato T. (2010) Spatial and temporal patterns of soil respiration over the Japanese Archipelago: A model </a:t>
            </a:r>
            <a:r>
              <a:rPr lang="en-US" sz="1200" dirty="0" err="1"/>
              <a:t>intercomparison</a:t>
            </a:r>
            <a:r>
              <a:rPr lang="en-US" sz="1200" dirty="0"/>
              <a:t> study. </a:t>
            </a:r>
            <a:r>
              <a:rPr lang="en-US" sz="1200" i="1" dirty="0"/>
              <a:t>Ecological Research</a:t>
            </a:r>
            <a:r>
              <a:rPr lang="en-US" sz="1200" dirty="0"/>
              <a:t> 25: 1033-1044.</a:t>
            </a:r>
            <a:endParaRPr lang="ja-JP" altLang="en-US" sz="1200" dirty="0"/>
          </a:p>
          <a:p>
            <a:pPr marL="228600" indent="-228600"/>
            <a:r>
              <a:rPr lang="en-US" sz="1200" dirty="0" err="1"/>
              <a:t>Ichii</a:t>
            </a:r>
            <a:r>
              <a:rPr lang="en-US" sz="1200" dirty="0"/>
              <a:t> K., Suzuki T., Kato T., Ito A., </a:t>
            </a:r>
            <a:r>
              <a:rPr lang="en-US" sz="1200" dirty="0" err="1"/>
              <a:t>Hajima</a:t>
            </a:r>
            <a:r>
              <a:rPr lang="en-US" sz="1200" dirty="0"/>
              <a:t> T., </a:t>
            </a:r>
            <a:r>
              <a:rPr lang="en-US" sz="1200" dirty="0" err="1"/>
              <a:t>Ueyama</a:t>
            </a:r>
            <a:r>
              <a:rPr lang="en-US" sz="1200" dirty="0"/>
              <a:t> M., </a:t>
            </a:r>
            <a:r>
              <a:rPr lang="en-US" sz="1200" dirty="0" err="1"/>
              <a:t>Sasai</a:t>
            </a:r>
            <a:r>
              <a:rPr lang="en-US" sz="1200" dirty="0"/>
              <a:t> T., Hirata R., </a:t>
            </a:r>
            <a:r>
              <a:rPr lang="en-US" sz="1200" dirty="0" err="1"/>
              <a:t>Saigusa</a:t>
            </a:r>
            <a:r>
              <a:rPr lang="en-US" sz="1200" dirty="0"/>
              <a:t> N., </a:t>
            </a:r>
            <a:r>
              <a:rPr lang="en-US" sz="1200" dirty="0" err="1"/>
              <a:t>Ohtani</a:t>
            </a:r>
            <a:r>
              <a:rPr lang="en-US" sz="1200" dirty="0"/>
              <a:t> Y. &amp; Takagi K. (2010) Multi-model analysis of terrestrial carbon cycles in Japan: Reducing uncertainties in model outputs among different terrestrial biosphere models using flux observations. </a:t>
            </a:r>
            <a:r>
              <a:rPr lang="en-US" sz="1200" i="1" dirty="0" err="1"/>
              <a:t>Biogeosciences</a:t>
            </a:r>
            <a:r>
              <a:rPr lang="en-US" sz="1200" dirty="0"/>
              <a:t> 7: 2061-2080.</a:t>
            </a:r>
            <a:endParaRPr lang="ja-JP" altLang="en-US" sz="1200" dirty="0"/>
          </a:p>
          <a:p>
            <a:pPr marL="228600" indent="-228600"/>
            <a:r>
              <a:rPr lang="en-US" sz="1200" dirty="0" err="1"/>
              <a:t>Inatomi</a:t>
            </a:r>
            <a:r>
              <a:rPr lang="en-US" sz="1200" dirty="0"/>
              <a:t> M., Ito A., </a:t>
            </a:r>
            <a:r>
              <a:rPr lang="en-US" sz="1200" dirty="0" err="1"/>
              <a:t>Ishijima</a:t>
            </a:r>
            <a:r>
              <a:rPr lang="en-US" sz="1200" dirty="0"/>
              <a:t> K. &amp; Murayama S. (2010) Greenhouse gas budget of a cool temperate deciduous broadleaved forest in Japan estimated with a process-based model. </a:t>
            </a:r>
            <a:r>
              <a:rPr lang="en-US" sz="1200" i="1" dirty="0"/>
              <a:t>Ecosystems</a:t>
            </a:r>
            <a:r>
              <a:rPr lang="en-US" sz="1200" dirty="0"/>
              <a:t> 13: 472-483.</a:t>
            </a:r>
            <a:endParaRPr lang="ja-JP" altLang="en-US" sz="1200" dirty="0"/>
          </a:p>
          <a:p>
            <a:pPr marL="228600" indent="-228600"/>
            <a:r>
              <a:rPr lang="en-US" sz="1200" dirty="0" err="1"/>
              <a:t>Ise</a:t>
            </a:r>
            <a:r>
              <a:rPr lang="en-US" sz="1200" dirty="0"/>
              <a:t> T., Litton C., </a:t>
            </a:r>
            <a:r>
              <a:rPr lang="en-US" sz="1200" dirty="0" err="1"/>
              <a:t>Giardina</a:t>
            </a:r>
            <a:r>
              <a:rPr lang="en-US" sz="1200" dirty="0"/>
              <a:t> C. P. &amp; Ito A. (2010) Comparison of modeling approaches for carbon partitioning: Impact on estimates of global net primary production and equilibrium biomass of woody vegetation from MODIS GPP. </a:t>
            </a:r>
            <a:r>
              <a:rPr lang="en-US" sz="1200" i="1" dirty="0"/>
              <a:t>Journal of Geophysical Research</a:t>
            </a:r>
            <a:r>
              <a:rPr lang="en-US" sz="1200" dirty="0"/>
              <a:t> 115: doi:10.1029/2010JG001326.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Kato T., Ito A. &amp; </a:t>
            </a:r>
            <a:r>
              <a:rPr lang="en-US" sz="1200" dirty="0" err="1"/>
              <a:t>Kawamiya</a:t>
            </a:r>
            <a:r>
              <a:rPr lang="en-US" sz="1200" dirty="0"/>
              <a:t> M. (2009) Multiple temporal scale variability during the twentieth century in global carbon dynamics simulated by a coupled climate-terrestrial carbon cycle model. </a:t>
            </a:r>
            <a:r>
              <a:rPr lang="en-US" sz="1200" i="1" dirty="0"/>
              <a:t>Climate Dynamics</a:t>
            </a:r>
            <a:r>
              <a:rPr lang="en-US" sz="1200" dirty="0"/>
              <a:t> 32: 901-923.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(2008) The regional carbon budget of East Asia simulated with a terrestrial ecosystem model and validated using </a:t>
            </a:r>
            <a:r>
              <a:rPr lang="en-US" sz="1200" dirty="0" err="1"/>
              <a:t>AsiaFlux</a:t>
            </a:r>
            <a:r>
              <a:rPr lang="en-US" sz="1200" dirty="0"/>
              <a:t> data. </a:t>
            </a:r>
            <a:r>
              <a:rPr lang="en-US" sz="1200" i="1" dirty="0"/>
              <a:t>Agricultural and Forest Meteorology</a:t>
            </a:r>
            <a:r>
              <a:rPr lang="en-US" sz="1200" dirty="0"/>
              <a:t> 148: 738-747.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(2007) Simulated impacts of climate and land-cover change on soil erosion and implication for the carbon cycle, 1901 to 2100. </a:t>
            </a:r>
            <a:r>
              <a:rPr lang="en-US" sz="1200" i="1" dirty="0"/>
              <a:t>Geophysical Research Letters</a:t>
            </a:r>
            <a:r>
              <a:rPr lang="en-US" sz="1200" dirty="0"/>
              <a:t> 34: 10.1029/2007GL029342.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A., </a:t>
            </a:r>
            <a:r>
              <a:rPr lang="en-US" sz="1200" dirty="0" err="1"/>
              <a:t>Inatomi</a:t>
            </a:r>
            <a:r>
              <a:rPr lang="en-US" sz="1200" dirty="0"/>
              <a:t> M., Mo W., Lee M., Koizumi H., </a:t>
            </a:r>
            <a:r>
              <a:rPr lang="en-US" sz="1200" dirty="0" err="1"/>
              <a:t>Saigusa</a:t>
            </a:r>
            <a:r>
              <a:rPr lang="en-US" sz="1200" dirty="0"/>
              <a:t> N., Murayama S. &amp; Yamamoto S. (2007) Examination of model-estimated ecosystem respiration by use of flux measurement data from a cool-temperate deciduous broad-leaved forest in central Japan. </a:t>
            </a:r>
            <a:r>
              <a:rPr lang="en-US" sz="1200" i="1" dirty="0" err="1"/>
              <a:t>Tellus</a:t>
            </a:r>
            <a:r>
              <a:rPr lang="en-US" sz="1200" dirty="0"/>
              <a:t> 59B: 616-624.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(2006) Simulation of global terrestrial carbon cycle using the JRA-25 reanalysis as forcing data. </a:t>
            </a:r>
            <a:r>
              <a:rPr lang="en-US" sz="1200" i="1" dirty="0"/>
              <a:t>SOLA</a:t>
            </a:r>
            <a:r>
              <a:rPr lang="en-US" sz="1200" dirty="0"/>
              <a:t> 2: 148-151.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&amp; </a:t>
            </a:r>
            <a:r>
              <a:rPr lang="en-US" sz="1200" dirty="0" err="1"/>
              <a:t>Sasai</a:t>
            </a:r>
            <a:r>
              <a:rPr lang="en-US" sz="1200" dirty="0"/>
              <a:t> T. (2006) A comparison of simulation results from two terrestrial carbon cycle models using three climate datasets. </a:t>
            </a:r>
            <a:r>
              <a:rPr lang="en-US" sz="1200" i="1" dirty="0" err="1"/>
              <a:t>Tellus</a:t>
            </a:r>
            <a:r>
              <a:rPr lang="en-US" sz="1200" dirty="0"/>
              <a:t> 58B: 513-522.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References [2000-2005]</a:t>
            </a:r>
            <a:endParaRPr lang="ja-JP" altLang="en-US" sz="32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41130" y="1336261"/>
            <a:ext cx="8359913" cy="470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/>
            <a:r>
              <a:rPr lang="en-US" sz="1200" dirty="0"/>
              <a:t>Ito A. (2005) Climate-related uncertainties in projections of the 21st century terrestrial carbon budget: off-line model experiments using IPCC greenhouse gas scenarios and AOGCM climate projections. </a:t>
            </a:r>
            <a:r>
              <a:rPr lang="en-US" sz="1200" i="1" dirty="0"/>
              <a:t>Climate Dynamics</a:t>
            </a:r>
            <a:r>
              <a:rPr lang="en-US" sz="1200" dirty="0"/>
              <a:t> 24: 435-448.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(2005) </a:t>
            </a:r>
            <a:r>
              <a:rPr lang="en-US" sz="1200" dirty="0" err="1"/>
              <a:t>Modelling</a:t>
            </a:r>
            <a:r>
              <a:rPr lang="en-US" sz="1200" dirty="0"/>
              <a:t> of carbon cycle and fire regime in an east Siberian larch forest. </a:t>
            </a:r>
            <a:r>
              <a:rPr lang="en-US" sz="1200" i="1" dirty="0"/>
              <a:t>Ecological </a:t>
            </a:r>
            <a:r>
              <a:rPr lang="en-US" sz="1200" i="1" dirty="0" err="1"/>
              <a:t>Modelling</a:t>
            </a:r>
            <a:r>
              <a:rPr lang="en-US" sz="1200" dirty="0"/>
              <a:t> 187: 121-139.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(2005) Regional variability in the terrestrial carbon-cycle response to global warming in the 21st century: simulation analysis with AOGCM-based climate projections. </a:t>
            </a:r>
            <a:r>
              <a:rPr lang="en-US" sz="1200" i="1" dirty="0"/>
              <a:t>Journal of the Meteorological Society of Japan</a:t>
            </a:r>
            <a:r>
              <a:rPr lang="en-US" sz="1200" dirty="0"/>
              <a:t> 83: 251-259.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(2005) Developing a new model to simulate net CO2 exchange at </a:t>
            </a:r>
            <a:r>
              <a:rPr lang="en-US" sz="1200" dirty="0" err="1"/>
              <a:t>AsiaFlux</a:t>
            </a:r>
            <a:r>
              <a:rPr lang="en-US" sz="1200" dirty="0"/>
              <a:t> sites. </a:t>
            </a:r>
            <a:r>
              <a:rPr lang="en-US" sz="1200" i="1" dirty="0" err="1"/>
              <a:t>Phyton</a:t>
            </a:r>
            <a:r>
              <a:rPr lang="en-US" sz="1200" dirty="0"/>
              <a:t> 45: 55-59.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(2005) A reinterpretation of the earliest quantification of global plant productivity by von Liebig (1862). </a:t>
            </a:r>
            <a:r>
              <a:rPr lang="en-US" sz="1200" i="1" dirty="0"/>
              <a:t>New </a:t>
            </a:r>
            <a:r>
              <a:rPr lang="en-US" sz="1200" i="1" dirty="0" err="1"/>
              <a:t>Phytologist</a:t>
            </a:r>
            <a:r>
              <a:rPr lang="en-US" sz="1200" dirty="0"/>
              <a:t> 167: 641-643.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A., </a:t>
            </a:r>
            <a:r>
              <a:rPr lang="en-US" sz="1200" dirty="0" err="1"/>
              <a:t>Saigusa</a:t>
            </a:r>
            <a:r>
              <a:rPr lang="en-US" sz="1200" dirty="0"/>
              <a:t> N., Murayama S. &amp; Yamamoto S. (2005) Modeling of gross and net carbon dioxide exchange over a cool-temperate deciduous broad-leaved forest in Japan: Analysis of seasonal and interannual change. </a:t>
            </a:r>
            <a:r>
              <a:rPr lang="en-US" sz="1200" i="1" dirty="0"/>
              <a:t>Agricultural and Forest Meteorology</a:t>
            </a:r>
            <a:r>
              <a:rPr lang="en-US" sz="1200" dirty="0"/>
              <a:t> 134: 122-134.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&amp; Oikawa T. (2004) Global mapping of terrestrial primary productivity and light-use efficiency with a process-based model. In: </a:t>
            </a:r>
            <a:r>
              <a:rPr lang="en-US" sz="1200" i="1" dirty="0"/>
              <a:t>Global Environmental Change in the Ocean and on Land</a:t>
            </a:r>
            <a:r>
              <a:rPr lang="en-US" sz="1200" dirty="0"/>
              <a:t> (ed. M. </a:t>
            </a:r>
            <a:r>
              <a:rPr lang="en-US" sz="1200" dirty="0" err="1"/>
              <a:t>Shiyomi</a:t>
            </a:r>
            <a:r>
              <a:rPr lang="en-US" sz="1200" dirty="0"/>
              <a:t>) pp. 343-358. TERRAPUB, Tokyo.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(2003) High-resolution mapping of the net primary productivity of terrestrial ecosystems in East Asia using a process-based model. </a:t>
            </a:r>
            <a:r>
              <a:rPr lang="en-US" sz="1200" i="1" dirty="0"/>
              <a:t>Journal of Agricultural Meteorology</a:t>
            </a:r>
            <a:r>
              <a:rPr lang="en-US" sz="1200" dirty="0"/>
              <a:t> 59: 23-34.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(2003) A global-scale simulation of the CO2 exchange between the atmosphere and the terrestrial biosphere with a mechanistic model including stable carbon isotopes, 1953-1999. </a:t>
            </a:r>
            <a:r>
              <a:rPr lang="en-US" sz="1200" i="1" dirty="0" err="1"/>
              <a:t>Tellus</a:t>
            </a:r>
            <a:r>
              <a:rPr lang="en-US" sz="1200" dirty="0"/>
              <a:t> 55B: 596-612.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&amp; Oikawa T. (2002) A simulation model of the carbon cycle in land ecosystems (</a:t>
            </a:r>
            <a:r>
              <a:rPr lang="en-US" sz="1200" dirty="0" err="1"/>
              <a:t>Sim</a:t>
            </a:r>
            <a:r>
              <a:rPr lang="en-US" sz="1200" dirty="0"/>
              <a:t>-CYCLE): A description based on dry-matter production theory and plot-scale validation. </a:t>
            </a:r>
            <a:r>
              <a:rPr lang="en-US" sz="1200" i="1" dirty="0"/>
              <a:t>Ecological </a:t>
            </a:r>
            <a:r>
              <a:rPr lang="en-US" sz="1200" i="1" dirty="0" err="1"/>
              <a:t>Modelling</a:t>
            </a:r>
            <a:r>
              <a:rPr lang="en-US" sz="1200" dirty="0"/>
              <a:t> 151: 147-179.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&amp; Oikawa T. (2000) A model analysis of the relationship between climate perturbations and carbon budget anomalies in global terrestrial ecosystems: 1970-1997. </a:t>
            </a:r>
            <a:r>
              <a:rPr lang="en-US" sz="1200" i="1" dirty="0"/>
              <a:t>Climate Research</a:t>
            </a:r>
            <a:r>
              <a:rPr lang="en-US" sz="1200" dirty="0"/>
              <a:t> 15: 161-183.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Ito A. &amp; Oikawa T. (2000) The large carbon emission from terrestrial ecosystems in 1998: a model simulation. </a:t>
            </a:r>
            <a:r>
              <a:rPr lang="en-US" sz="1200" i="1" dirty="0"/>
              <a:t>Journal of the Meteorological Society of Japan</a:t>
            </a:r>
            <a:r>
              <a:rPr lang="en-US" sz="1200" dirty="0"/>
              <a:t> 78: 103-110.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 </a:t>
            </a:r>
            <a:endParaRPr lang="ja-JP" altLang="en-US" sz="1200" dirty="0"/>
          </a:p>
          <a:p>
            <a:pPr marL="228600" indent="-228600"/>
            <a:endParaRPr kumimoji="1" lang="ja-JP" alt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Other references</a:t>
            </a:r>
            <a:endParaRPr lang="ja-JP" altLang="en-US" sz="32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63826" y="1634435"/>
            <a:ext cx="81832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/>
            <a:r>
              <a:rPr lang="en-US" sz="1200" dirty="0" err="1"/>
              <a:t>Tachiiri</a:t>
            </a:r>
            <a:r>
              <a:rPr lang="en-US" sz="1200" dirty="0"/>
              <a:t> K., Hargreaves J. C., Annan J. D., Oka A., Abe-</a:t>
            </a:r>
            <a:r>
              <a:rPr lang="en-US" sz="1200" dirty="0" err="1"/>
              <a:t>Ouchi</a:t>
            </a:r>
            <a:r>
              <a:rPr lang="en-US" sz="1200" dirty="0"/>
              <a:t> A. &amp; </a:t>
            </a:r>
            <a:r>
              <a:rPr lang="en-US" sz="1200" dirty="0" err="1"/>
              <a:t>Kawamiya</a:t>
            </a:r>
            <a:r>
              <a:rPr lang="en-US" sz="1200" dirty="0"/>
              <a:t> M. (2010) Development of a system emulating the global carbon cycle in Earth system models. </a:t>
            </a:r>
            <a:r>
              <a:rPr lang="en-US" sz="1200" i="1" dirty="0" err="1"/>
              <a:t>Geoscientific</a:t>
            </a:r>
            <a:r>
              <a:rPr lang="en-US" sz="1200" i="1" dirty="0"/>
              <a:t> Model Development</a:t>
            </a:r>
            <a:r>
              <a:rPr lang="en-US" sz="1200" dirty="0"/>
              <a:t> 3: 365-376.</a:t>
            </a:r>
            <a:endParaRPr lang="ja-JP" altLang="en-US" sz="1200" dirty="0"/>
          </a:p>
          <a:p>
            <a:pPr marL="228600" indent="-228600"/>
            <a:r>
              <a:rPr lang="en-US" sz="1200" dirty="0"/>
              <a:t>Yoshikawa C., </a:t>
            </a:r>
            <a:r>
              <a:rPr lang="en-US" sz="1200" dirty="0" err="1"/>
              <a:t>Kawamiya</a:t>
            </a:r>
            <a:r>
              <a:rPr lang="en-US" sz="1200" dirty="0"/>
              <a:t> M., Kato T., Yamanaka Y. &amp; </a:t>
            </a:r>
            <a:r>
              <a:rPr lang="en-US" sz="1200" dirty="0" err="1"/>
              <a:t>Matsuno</a:t>
            </a:r>
            <a:r>
              <a:rPr lang="en-US" sz="1200" dirty="0"/>
              <a:t> T. (2008) Geographical distribution of the feedback between future climate change and the carbon cycle. </a:t>
            </a:r>
            <a:r>
              <a:rPr lang="en-US" sz="1200" i="1" dirty="0"/>
              <a:t>Journal of Geophysical Research</a:t>
            </a:r>
            <a:r>
              <a:rPr lang="en-US" sz="1200" dirty="0"/>
              <a:t> 113: 10.1029/2007JG000570.</a:t>
            </a:r>
            <a:endParaRPr lang="ja-JP" altLang="en-US" sz="1200" dirty="0"/>
          </a:p>
          <a:p>
            <a:pPr marL="228600" indent="-228600"/>
            <a:r>
              <a:rPr lang="en-US" sz="1200" dirty="0" err="1"/>
              <a:t>Kawamiya</a:t>
            </a:r>
            <a:r>
              <a:rPr lang="en-US" sz="1200" dirty="0"/>
              <a:t> M., Yoshikawa C., Kato T., Sato H., </a:t>
            </a:r>
            <a:r>
              <a:rPr lang="en-US" sz="1200" dirty="0" err="1"/>
              <a:t>Sudo</a:t>
            </a:r>
            <a:r>
              <a:rPr lang="en-US" sz="1200" dirty="0"/>
              <a:t> K., Watanabe S. &amp; </a:t>
            </a:r>
            <a:r>
              <a:rPr lang="en-US" sz="1200" dirty="0" err="1"/>
              <a:t>Matsuno</a:t>
            </a:r>
            <a:r>
              <a:rPr lang="en-US" sz="1200" dirty="0"/>
              <a:t> T. (2005) Development of an integrated earth system model on the Earth Simulator. </a:t>
            </a:r>
            <a:r>
              <a:rPr lang="en-US" sz="1200" i="1" dirty="0"/>
              <a:t>Journal of the Earth Simulator</a:t>
            </a:r>
            <a:r>
              <a:rPr lang="en-US" sz="1200" dirty="0"/>
              <a:t> 4: 18-30.</a:t>
            </a:r>
            <a:endParaRPr lang="ja-JP" altLang="en-US" sz="1200" dirty="0"/>
          </a:p>
          <a:p>
            <a:pPr marL="228600" indent="-228600"/>
            <a:endParaRPr kumimoji="1" lang="ja-JP" alt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75032"/>
          </a:xfrm>
          <a:blipFill rotWithShape="1">
            <a:blip r:embed="rId2">
              <a:alphaModFix amt="7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altLang="ja-JP" sz="3200" dirty="0"/>
              <a:t>Projects</a:t>
            </a:r>
            <a:endParaRPr lang="ja-JP" altLang="en-US" sz="3200" dirty="0"/>
          </a:p>
        </p:txBody>
      </p:sp>
      <p:sp>
        <p:nvSpPr>
          <p:cNvPr id="3" name="角丸四角形 2"/>
          <p:cNvSpPr/>
          <p:nvPr/>
        </p:nvSpPr>
        <p:spPr>
          <a:xfrm>
            <a:off x="3208132" y="2737841"/>
            <a:ext cx="2663822" cy="1855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b="1" dirty="0">
              <a:solidFill>
                <a:schemeClr val="tx1"/>
              </a:solidFill>
            </a:endParaRPr>
          </a:p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陸域生態系モデル</a:t>
            </a:r>
            <a:endParaRPr lang="en-US" altLang="ja-JP" b="1" dirty="0">
              <a:solidFill>
                <a:schemeClr val="tx1"/>
              </a:solidFill>
            </a:endParaRPr>
          </a:p>
          <a:p>
            <a:pPr algn="ctr"/>
            <a:endParaRPr lang="en-US" altLang="ja-JP" b="1" dirty="0">
              <a:solidFill>
                <a:schemeClr val="tx1"/>
              </a:solidFill>
            </a:endParaRPr>
          </a:p>
          <a:p>
            <a:pPr algn="ctr"/>
            <a:endParaRPr lang="en-US" altLang="ja-JP" b="1" dirty="0">
              <a:solidFill>
                <a:schemeClr val="tx1"/>
              </a:solidFill>
            </a:endParaRP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PJ3      </a:t>
            </a:r>
            <a:r>
              <a:rPr lang="ja-JP" altLang="en-US" sz="1400" b="1" dirty="0">
                <a:solidFill>
                  <a:schemeClr val="tx1"/>
                </a:solidFill>
              </a:rPr>
              <a:t>・科研基盤Ｂ</a:t>
            </a:r>
            <a:endParaRPr lang="en-US" altLang="ja-JP" sz="14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b="1" dirty="0">
                <a:solidFill>
                  <a:schemeClr val="tx1"/>
                </a:solidFill>
              </a:rPr>
              <a:t>・推進費</a:t>
            </a:r>
            <a:r>
              <a:rPr lang="en-US" altLang="ja-JP" sz="1400" b="1" dirty="0">
                <a:solidFill>
                  <a:schemeClr val="tx1"/>
                </a:solidFill>
              </a:rPr>
              <a:t>S5-1-1</a:t>
            </a:r>
          </a:p>
          <a:p>
            <a:pPr algn="ctr"/>
            <a:r>
              <a:rPr lang="ja-JP" altLang="en-US" sz="1400" b="1" dirty="0">
                <a:solidFill>
                  <a:schemeClr val="tx1"/>
                </a:solidFill>
              </a:rPr>
              <a:t>・推進費</a:t>
            </a:r>
            <a:r>
              <a:rPr lang="en-US" altLang="ja-JP" sz="1400" b="1" dirty="0">
                <a:solidFill>
                  <a:schemeClr val="tx1"/>
                </a:solidFill>
              </a:rPr>
              <a:t>A801</a:t>
            </a:r>
          </a:p>
          <a:p>
            <a:pPr algn="ctr"/>
            <a:r>
              <a:rPr lang="ja-JP" altLang="en-US" sz="1400" b="1" dirty="0">
                <a:solidFill>
                  <a:schemeClr val="tx1"/>
                </a:solidFill>
              </a:rPr>
              <a:t>・科研費新学術</a:t>
            </a:r>
            <a:endParaRPr lang="en-US" altLang="ja-JP" sz="1400" b="1" dirty="0">
              <a:solidFill>
                <a:schemeClr val="tx1"/>
              </a:solidFill>
            </a:endParaRPr>
          </a:p>
          <a:p>
            <a:pPr algn="ctr"/>
            <a:endParaRPr lang="en-US" altLang="ja-JP" b="1" dirty="0">
              <a:solidFill>
                <a:schemeClr val="tx1"/>
              </a:solidFill>
            </a:endParaRPr>
          </a:p>
        </p:txBody>
      </p:sp>
      <p:pic>
        <p:nvPicPr>
          <p:cNvPr id="4" name="Picture 18" descr="visit_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6204" y="3194399"/>
            <a:ext cx="1447800" cy="392113"/>
          </a:xfrm>
          <a:prstGeom prst="rect">
            <a:avLst/>
          </a:prstGeom>
          <a:noFill/>
        </p:spPr>
      </p:pic>
      <p:sp>
        <p:nvSpPr>
          <p:cNvPr id="5" name="角丸四角形 4"/>
          <p:cNvSpPr/>
          <p:nvPr/>
        </p:nvSpPr>
        <p:spPr>
          <a:xfrm>
            <a:off x="1310968" y="1106129"/>
            <a:ext cx="1436486" cy="761704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b="1" dirty="0">
                <a:solidFill>
                  <a:srgbClr val="0000FF"/>
                </a:solidFill>
              </a:rPr>
              <a:t>JAMSTEC</a:t>
            </a:r>
            <a:r>
              <a:rPr lang="ja-JP" altLang="en-US" sz="1000" b="1" dirty="0">
                <a:solidFill>
                  <a:srgbClr val="0000FF"/>
                </a:solidFill>
              </a:rPr>
              <a:t>（</a:t>
            </a:r>
            <a:r>
              <a:rPr lang="en-US" altLang="ja-JP" sz="1000" b="1" dirty="0" err="1">
                <a:solidFill>
                  <a:srgbClr val="0000FF"/>
                </a:solidFill>
              </a:rPr>
              <a:t>Patra</a:t>
            </a:r>
            <a:r>
              <a:rPr lang="ja-JP" altLang="en-US" sz="1000" b="1" dirty="0">
                <a:solidFill>
                  <a:srgbClr val="0000FF"/>
                </a:solidFill>
              </a:rPr>
              <a:t>）</a:t>
            </a:r>
            <a:endParaRPr lang="en-US" altLang="ja-JP" sz="1000" b="1" dirty="0">
              <a:solidFill>
                <a:srgbClr val="0000FF"/>
              </a:solidFill>
            </a:endParaRPr>
          </a:p>
          <a:p>
            <a:pPr algn="ctr"/>
            <a:r>
              <a:rPr lang="ja-JP" altLang="en-US" sz="1000" b="1" dirty="0">
                <a:solidFill>
                  <a:srgbClr val="0000FF"/>
                </a:solidFill>
              </a:rPr>
              <a:t>大気輸送拡散モデル</a:t>
            </a:r>
            <a:endParaRPr lang="en-US" altLang="ja-JP" sz="1000" b="1" dirty="0">
              <a:solidFill>
                <a:srgbClr val="0000FF"/>
              </a:solidFill>
            </a:endParaRPr>
          </a:p>
          <a:p>
            <a:pPr algn="ctr"/>
            <a:r>
              <a:rPr kumimoji="1" lang="en-US" altLang="ja-JP" sz="1000" b="1" dirty="0">
                <a:solidFill>
                  <a:srgbClr val="0000FF"/>
                </a:solidFill>
              </a:rPr>
              <a:t>CO</a:t>
            </a:r>
            <a:r>
              <a:rPr kumimoji="1" lang="en-US" altLang="ja-JP" sz="1000" b="1" baseline="-25000" dirty="0">
                <a:solidFill>
                  <a:srgbClr val="0000FF"/>
                </a:solidFill>
              </a:rPr>
              <a:t>2</a:t>
            </a:r>
            <a:r>
              <a:rPr kumimoji="1" lang="ja-JP" altLang="en-US" sz="1000" b="1" dirty="0">
                <a:solidFill>
                  <a:srgbClr val="0000FF"/>
                </a:solidFill>
              </a:rPr>
              <a:t>＆</a:t>
            </a:r>
            <a:r>
              <a:rPr kumimoji="1" lang="en-US" altLang="ja-JP" sz="1000" b="1" dirty="0">
                <a:solidFill>
                  <a:srgbClr val="0000FF"/>
                </a:solidFill>
              </a:rPr>
              <a:t>CH</a:t>
            </a:r>
            <a:r>
              <a:rPr kumimoji="1" lang="en-US" altLang="ja-JP" sz="1000" b="1" baseline="-25000" dirty="0">
                <a:solidFill>
                  <a:srgbClr val="0000FF"/>
                </a:solidFill>
              </a:rPr>
              <a:t>4</a:t>
            </a:r>
            <a:r>
              <a:rPr kumimoji="1" lang="ja-JP" altLang="en-US" sz="1000" b="1" dirty="0">
                <a:solidFill>
                  <a:srgbClr val="0000FF"/>
                </a:solidFill>
              </a:rPr>
              <a:t>出力</a:t>
            </a:r>
            <a:r>
              <a:rPr lang="ja-JP" altLang="en-US" sz="1000" b="1" dirty="0">
                <a:solidFill>
                  <a:srgbClr val="0000FF"/>
                </a:solidFill>
              </a:rPr>
              <a:t>提供</a:t>
            </a:r>
            <a:endParaRPr kumimoji="1" lang="ja-JP" altLang="en-US" sz="1000" b="1" baseline="-25000" dirty="0">
              <a:solidFill>
                <a:srgbClr val="0000FF"/>
              </a:solidFill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379373" y="2041010"/>
            <a:ext cx="1259337" cy="742189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JAMSTEC</a:t>
            </a:r>
            <a:r>
              <a:rPr lang="ja-JP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（八代）</a:t>
            </a:r>
            <a:endParaRPr lang="en-US" altLang="ja-JP" sz="1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ja-JP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大気化学モデル</a:t>
            </a:r>
            <a:endParaRPr lang="en-US" altLang="ja-JP" sz="1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ctr"/>
            <a:r>
              <a:rPr kumimoji="1" lang="en-US" altLang="ja-JP" sz="1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BVOC</a:t>
            </a:r>
            <a:r>
              <a:rPr kumimoji="1" lang="ja-JP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出力提供</a:t>
            </a:r>
          </a:p>
        </p:txBody>
      </p:sp>
      <p:sp>
        <p:nvSpPr>
          <p:cNvPr id="7" name="角丸四角形 6"/>
          <p:cNvSpPr/>
          <p:nvPr/>
        </p:nvSpPr>
        <p:spPr>
          <a:xfrm>
            <a:off x="3034124" y="1384709"/>
            <a:ext cx="1630737" cy="656301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b="1" dirty="0">
                <a:solidFill>
                  <a:srgbClr val="0000FF"/>
                </a:solidFill>
              </a:rPr>
              <a:t>NIES</a:t>
            </a:r>
            <a:r>
              <a:rPr lang="ja-JP" altLang="en-US" sz="1000" b="1" dirty="0">
                <a:solidFill>
                  <a:srgbClr val="0000FF"/>
                </a:solidFill>
              </a:rPr>
              <a:t>（</a:t>
            </a:r>
            <a:r>
              <a:rPr lang="en-US" altLang="ja-JP" sz="1000" b="1" dirty="0" err="1">
                <a:solidFill>
                  <a:srgbClr val="0000FF"/>
                </a:solidFill>
              </a:rPr>
              <a:t>Maksyutov</a:t>
            </a:r>
            <a:r>
              <a:rPr lang="en-US" altLang="ja-JP" sz="1000" b="1" dirty="0">
                <a:solidFill>
                  <a:srgbClr val="0000FF"/>
                </a:solidFill>
              </a:rPr>
              <a:t>&amp;</a:t>
            </a:r>
            <a:r>
              <a:rPr lang="ja-JP" altLang="en-US" sz="1000" b="1" dirty="0">
                <a:solidFill>
                  <a:srgbClr val="0000FF"/>
                </a:solidFill>
              </a:rPr>
              <a:t>齊藤）</a:t>
            </a:r>
            <a:endParaRPr lang="en-US" altLang="ja-JP" sz="1000" b="1" dirty="0">
              <a:solidFill>
                <a:srgbClr val="0000FF"/>
              </a:solidFill>
            </a:endParaRPr>
          </a:p>
          <a:p>
            <a:pPr algn="ctr"/>
            <a:r>
              <a:rPr lang="en-US" altLang="ja-JP" sz="1000" b="1" dirty="0">
                <a:solidFill>
                  <a:srgbClr val="0000FF"/>
                </a:solidFill>
              </a:rPr>
              <a:t>GOSAT</a:t>
            </a:r>
            <a:r>
              <a:rPr lang="ja-JP" altLang="en-US" sz="1000" b="1" dirty="0">
                <a:solidFill>
                  <a:srgbClr val="0000FF"/>
                </a:solidFill>
              </a:rPr>
              <a:t>地表</a:t>
            </a:r>
            <a:r>
              <a:rPr lang="en-US" altLang="ja-JP" sz="1000" b="1" dirty="0">
                <a:solidFill>
                  <a:srgbClr val="0000FF"/>
                </a:solidFill>
              </a:rPr>
              <a:t>CO</a:t>
            </a:r>
            <a:r>
              <a:rPr lang="en-US" altLang="ja-JP" sz="1000" b="1" baseline="-25000" dirty="0">
                <a:solidFill>
                  <a:srgbClr val="0000FF"/>
                </a:solidFill>
              </a:rPr>
              <a:t>2</a:t>
            </a:r>
            <a:r>
              <a:rPr lang="ja-JP" altLang="en-US" sz="1000" b="1" dirty="0">
                <a:solidFill>
                  <a:srgbClr val="0000FF"/>
                </a:solidFill>
              </a:rPr>
              <a:t>収支</a:t>
            </a:r>
            <a:endParaRPr lang="en-US" altLang="ja-JP" sz="1000" b="1" dirty="0">
              <a:solidFill>
                <a:srgbClr val="0000FF"/>
              </a:solidFill>
            </a:endParaRPr>
          </a:p>
          <a:p>
            <a:pPr algn="ctr"/>
            <a:r>
              <a:rPr kumimoji="1" lang="en-US" altLang="ja-JP" sz="1000" b="1" dirty="0" err="1">
                <a:solidFill>
                  <a:srgbClr val="0000FF"/>
                </a:solidFill>
              </a:rPr>
              <a:t>VISITb</a:t>
            </a:r>
            <a:r>
              <a:rPr kumimoji="1" lang="ja-JP" altLang="en-US" sz="1000" b="1" dirty="0">
                <a:solidFill>
                  <a:srgbClr val="0000FF"/>
                </a:solidFill>
              </a:rPr>
              <a:t>コード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6991391" y="1106129"/>
            <a:ext cx="1588293" cy="1042416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accent6">
                    <a:lumMod val="50000"/>
                  </a:schemeClr>
                </a:solidFill>
              </a:rPr>
              <a:t>推進費</a:t>
            </a:r>
            <a:r>
              <a:rPr lang="en-US" altLang="ja-JP" sz="1000" b="1" dirty="0">
                <a:solidFill>
                  <a:schemeClr val="accent6">
                    <a:lumMod val="50000"/>
                  </a:schemeClr>
                </a:solidFill>
              </a:rPr>
              <a:t>S5-4</a:t>
            </a:r>
          </a:p>
          <a:p>
            <a:pPr algn="ctr"/>
            <a:r>
              <a:rPr lang="en-US" altLang="ja-JP" sz="1000" b="1" dirty="0">
                <a:solidFill>
                  <a:schemeClr val="accent6">
                    <a:lumMod val="50000"/>
                  </a:schemeClr>
                </a:solidFill>
              </a:rPr>
              <a:t>NIES</a:t>
            </a:r>
            <a:r>
              <a:rPr lang="ja-JP" altLang="en-US" sz="1000" b="1" dirty="0">
                <a:solidFill>
                  <a:schemeClr val="accent6">
                    <a:lumMod val="50000"/>
                  </a:schemeClr>
                </a:solidFill>
              </a:rPr>
              <a:t>（山形＆木下）</a:t>
            </a:r>
            <a:endParaRPr lang="en-US" altLang="ja-JP" sz="1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altLang="ja-JP" sz="1000" b="1" dirty="0">
                <a:solidFill>
                  <a:schemeClr val="accent6">
                    <a:lumMod val="50000"/>
                  </a:schemeClr>
                </a:solidFill>
              </a:rPr>
              <a:t>JAMSTEC</a:t>
            </a:r>
            <a:r>
              <a:rPr lang="ja-JP" altLang="en-US" sz="1000" b="1" dirty="0">
                <a:solidFill>
                  <a:schemeClr val="accent6">
                    <a:lumMod val="50000"/>
                  </a:schemeClr>
                </a:solidFill>
              </a:rPr>
              <a:t>（加藤）</a:t>
            </a:r>
            <a:endParaRPr lang="en-US" altLang="ja-JP" sz="1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ja-JP" altLang="en-US" sz="1000" b="1" dirty="0">
                <a:solidFill>
                  <a:schemeClr val="accent6">
                    <a:lumMod val="50000"/>
                  </a:schemeClr>
                </a:solidFill>
              </a:rPr>
              <a:t>土地利用モデル</a:t>
            </a:r>
          </a:p>
          <a:p>
            <a:pPr algn="ctr"/>
            <a:r>
              <a:rPr lang="en-US" altLang="ja-JP" sz="1000" b="1" dirty="0">
                <a:solidFill>
                  <a:schemeClr val="accent6">
                    <a:lumMod val="50000"/>
                  </a:schemeClr>
                </a:solidFill>
              </a:rPr>
              <a:t>NPP</a:t>
            </a:r>
            <a:r>
              <a:rPr lang="ja-JP" altLang="en-US" sz="1000" b="1" dirty="0">
                <a:solidFill>
                  <a:schemeClr val="accent6">
                    <a:lumMod val="50000"/>
                  </a:schemeClr>
                </a:solidFill>
              </a:rPr>
              <a:t>データ</a:t>
            </a:r>
            <a:endParaRPr lang="en-US" altLang="ja-JP" sz="1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altLang="ja-JP" sz="1000" b="1" dirty="0" err="1">
                <a:solidFill>
                  <a:schemeClr val="accent6">
                    <a:lumMod val="50000"/>
                  </a:schemeClr>
                </a:solidFill>
              </a:rPr>
              <a:t>VISITa</a:t>
            </a:r>
            <a:r>
              <a:rPr lang="ja-JP" altLang="en-US" sz="1000" b="1" dirty="0">
                <a:solidFill>
                  <a:schemeClr val="accent6">
                    <a:lumMod val="50000"/>
                  </a:schemeClr>
                </a:solidFill>
              </a:rPr>
              <a:t>コード</a:t>
            </a:r>
            <a:endParaRPr lang="en-US" altLang="ja-JP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04112" y="4104698"/>
            <a:ext cx="1374046" cy="721569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筑波大学（廣田）</a:t>
            </a:r>
            <a:endParaRPr lang="en-US" altLang="ja-JP" sz="1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algn="ctr"/>
            <a:r>
              <a:rPr kumimoji="1" lang="ja-JP" altLang="en-US" sz="1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菅平センター</a:t>
            </a:r>
          </a:p>
          <a:p>
            <a:pPr algn="ctr"/>
            <a:r>
              <a:rPr kumimoji="1" lang="ja-JP" altLang="en-US" sz="1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植生遷移＆土壌</a:t>
            </a:r>
            <a:endParaRPr kumimoji="1" lang="en-US" altLang="ja-JP" sz="1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379373" y="4935478"/>
            <a:ext cx="1575196" cy="898986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岐阜大学（村岡）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kumimoji="1" lang="ja-JP" altLang="en-US" sz="1000" b="1" dirty="0">
                <a:solidFill>
                  <a:srgbClr val="008000"/>
                </a:solidFill>
              </a:rPr>
              <a:t>高山サイト</a:t>
            </a:r>
          </a:p>
          <a:p>
            <a:pPr algn="ctr"/>
            <a:r>
              <a:rPr kumimoji="1" lang="ja-JP" altLang="en-US" sz="1000" b="1" dirty="0">
                <a:solidFill>
                  <a:srgbClr val="008000"/>
                </a:solidFill>
              </a:rPr>
              <a:t>科研費基盤</a:t>
            </a:r>
            <a:r>
              <a:rPr kumimoji="1" lang="en-US" altLang="ja-JP" sz="1000" b="1" dirty="0">
                <a:solidFill>
                  <a:srgbClr val="008000"/>
                </a:solidFill>
              </a:rPr>
              <a:t>B</a:t>
            </a:r>
            <a:r>
              <a:rPr kumimoji="1" lang="ja-JP" altLang="en-US" sz="1000" b="1" dirty="0">
                <a:solidFill>
                  <a:srgbClr val="008000"/>
                </a:solidFill>
              </a:rPr>
              <a:t>（分担）</a:t>
            </a:r>
          </a:p>
        </p:txBody>
      </p:sp>
      <p:sp>
        <p:nvSpPr>
          <p:cNvPr id="11" name="角丸四角形 10"/>
          <p:cNvSpPr/>
          <p:nvPr/>
        </p:nvSpPr>
        <p:spPr>
          <a:xfrm>
            <a:off x="3836204" y="5864356"/>
            <a:ext cx="1286550" cy="831903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b="1" dirty="0">
                <a:solidFill>
                  <a:srgbClr val="C3D69B"/>
                </a:solidFill>
              </a:rPr>
              <a:t>NIAES</a:t>
            </a:r>
            <a:r>
              <a:rPr lang="ja-JP" altLang="en-US" sz="1000" b="1" dirty="0">
                <a:solidFill>
                  <a:srgbClr val="C3D69B"/>
                </a:solidFill>
              </a:rPr>
              <a:t>（宮田）</a:t>
            </a:r>
            <a:endParaRPr lang="en-US" altLang="ja-JP" sz="1000" b="1" dirty="0">
              <a:solidFill>
                <a:srgbClr val="C3D69B"/>
              </a:solidFill>
            </a:endParaRPr>
          </a:p>
          <a:p>
            <a:pPr algn="ctr"/>
            <a:r>
              <a:rPr kumimoji="1" lang="ja-JP" altLang="en-US" sz="1000" b="1" dirty="0">
                <a:solidFill>
                  <a:srgbClr val="C3D69B"/>
                </a:solidFill>
              </a:rPr>
              <a:t>真瀬水田サイト</a:t>
            </a:r>
          </a:p>
          <a:p>
            <a:pPr algn="ctr"/>
            <a:r>
              <a:rPr kumimoji="1" lang="en-US" altLang="ja-JP" sz="1000" b="1" dirty="0">
                <a:solidFill>
                  <a:srgbClr val="C3D69B"/>
                </a:solidFill>
              </a:rPr>
              <a:t>CH</a:t>
            </a:r>
            <a:r>
              <a:rPr kumimoji="1" lang="en-US" altLang="ja-JP" sz="1000" b="1" baseline="-25000" dirty="0">
                <a:solidFill>
                  <a:srgbClr val="C3D69B"/>
                </a:solidFill>
              </a:rPr>
              <a:t>4</a:t>
            </a:r>
            <a:r>
              <a:rPr kumimoji="1" lang="ja-JP" altLang="en-US" sz="1000" b="1" dirty="0">
                <a:solidFill>
                  <a:srgbClr val="C3D69B"/>
                </a:solidFill>
              </a:rPr>
              <a:t>フラックス</a:t>
            </a:r>
          </a:p>
        </p:txBody>
      </p:sp>
      <p:sp>
        <p:nvSpPr>
          <p:cNvPr id="12" name="角丸四角形 11"/>
          <p:cNvSpPr/>
          <p:nvPr/>
        </p:nvSpPr>
        <p:spPr>
          <a:xfrm>
            <a:off x="379373" y="2906898"/>
            <a:ext cx="1464123" cy="1133890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日中韓（</a:t>
            </a:r>
            <a:r>
              <a:rPr lang="en-US" altLang="ja-JP" sz="1000" b="1" dirty="0">
                <a:solidFill>
                  <a:srgbClr val="008000"/>
                </a:solidFill>
              </a:rPr>
              <a:t>A3</a:t>
            </a:r>
            <a:r>
              <a:rPr lang="ja-JP" altLang="en-US" sz="1000" b="1" dirty="0">
                <a:solidFill>
                  <a:srgbClr val="008000"/>
                </a:solidFill>
              </a:rPr>
              <a:t>）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en-US" altLang="ja-JP" sz="1000" b="1" dirty="0" err="1">
                <a:solidFill>
                  <a:srgbClr val="008000"/>
                </a:solidFill>
              </a:rPr>
              <a:t>AsiaFlux</a:t>
            </a:r>
            <a:r>
              <a:rPr lang="ja-JP" altLang="en-US" sz="1000" b="1" dirty="0">
                <a:solidFill>
                  <a:srgbClr val="008000"/>
                </a:solidFill>
              </a:rPr>
              <a:t>サイト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（高山、苫小牧、天塩、富士吉田）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en-US" altLang="ja-JP" sz="1000" b="1" dirty="0">
                <a:solidFill>
                  <a:srgbClr val="008000"/>
                </a:solidFill>
              </a:rPr>
              <a:t>CO</a:t>
            </a:r>
            <a:r>
              <a:rPr lang="en-US" altLang="ja-JP" sz="1000" b="1" baseline="-25000" dirty="0">
                <a:solidFill>
                  <a:srgbClr val="008000"/>
                </a:solidFill>
              </a:rPr>
              <a:t>2</a:t>
            </a:r>
            <a:r>
              <a:rPr lang="ja-JP" altLang="en-US" sz="1000" b="1" dirty="0">
                <a:solidFill>
                  <a:srgbClr val="008000"/>
                </a:solidFill>
              </a:rPr>
              <a:t>フラックス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モデル相互比較</a:t>
            </a:r>
            <a:endParaRPr lang="en-US" altLang="ja-JP" sz="1000" b="1" dirty="0">
              <a:solidFill>
                <a:srgbClr val="008000"/>
              </a:solidFill>
            </a:endParaRPr>
          </a:p>
        </p:txBody>
      </p:sp>
      <p:sp>
        <p:nvSpPr>
          <p:cNvPr id="13" name="角丸四角形 12"/>
          <p:cNvSpPr/>
          <p:nvPr/>
        </p:nvSpPr>
        <p:spPr>
          <a:xfrm>
            <a:off x="7174060" y="5887685"/>
            <a:ext cx="1405624" cy="720774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b="1" dirty="0">
                <a:solidFill>
                  <a:srgbClr val="008000"/>
                </a:solidFill>
              </a:rPr>
              <a:t>IARC</a:t>
            </a:r>
            <a:r>
              <a:rPr lang="ja-JP" altLang="en-US" sz="1000" b="1" dirty="0">
                <a:solidFill>
                  <a:srgbClr val="008000"/>
                </a:solidFill>
              </a:rPr>
              <a:t>（</a:t>
            </a:r>
            <a:r>
              <a:rPr lang="en-US" altLang="ja-JP" sz="1000" b="1" dirty="0">
                <a:solidFill>
                  <a:srgbClr val="008000"/>
                </a:solidFill>
              </a:rPr>
              <a:t>Kim</a:t>
            </a:r>
            <a:r>
              <a:rPr lang="ja-JP" altLang="en-US" sz="1000" b="1" dirty="0">
                <a:solidFill>
                  <a:srgbClr val="008000"/>
                </a:solidFill>
              </a:rPr>
              <a:t>）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kumimoji="1" lang="ja-JP" altLang="en-US" sz="1000" b="1" dirty="0">
                <a:solidFill>
                  <a:srgbClr val="008000"/>
                </a:solidFill>
              </a:rPr>
              <a:t>アラスカサイト</a:t>
            </a:r>
            <a:endParaRPr kumimoji="1"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kumimoji="1" lang="en-US" altLang="ja-JP" sz="1000" b="1" dirty="0">
                <a:solidFill>
                  <a:srgbClr val="008000"/>
                </a:solidFill>
              </a:rPr>
              <a:t>CO</a:t>
            </a:r>
            <a:r>
              <a:rPr kumimoji="1" lang="en-US" altLang="ja-JP" sz="1000" b="1" baseline="-25000" dirty="0">
                <a:solidFill>
                  <a:srgbClr val="008000"/>
                </a:solidFill>
              </a:rPr>
              <a:t>2</a:t>
            </a:r>
            <a:r>
              <a:rPr kumimoji="1" lang="ja-JP" altLang="en-US" sz="1000" b="1" dirty="0">
                <a:solidFill>
                  <a:srgbClr val="008000"/>
                </a:solidFill>
              </a:rPr>
              <a:t>、</a:t>
            </a:r>
            <a:r>
              <a:rPr lang="ja-JP" altLang="en-US" sz="1000" b="1" dirty="0">
                <a:solidFill>
                  <a:srgbClr val="008000"/>
                </a:solidFill>
              </a:rPr>
              <a:t>積雪＆凍土</a:t>
            </a:r>
            <a:endParaRPr kumimoji="1" lang="ja-JP" altLang="en-US" sz="1000" b="1" dirty="0">
              <a:solidFill>
                <a:srgbClr val="008000"/>
              </a:solidFill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4971979" y="1106129"/>
            <a:ext cx="1683454" cy="614325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rgbClr val="0000FF"/>
                </a:solidFill>
              </a:rPr>
              <a:t>文科省革新（立入）</a:t>
            </a:r>
            <a:endParaRPr lang="en-US" altLang="ja-JP" sz="1000" b="1" dirty="0">
              <a:solidFill>
                <a:srgbClr val="0000FF"/>
              </a:solidFill>
            </a:endParaRPr>
          </a:p>
          <a:p>
            <a:pPr algn="ctr"/>
            <a:r>
              <a:rPr kumimoji="1" lang="ja-JP" altLang="en-US" sz="1000" b="1" dirty="0">
                <a:solidFill>
                  <a:srgbClr val="0000FF"/>
                </a:solidFill>
              </a:rPr>
              <a:t>気候</a:t>
            </a:r>
            <a:r>
              <a:rPr kumimoji="1" lang="en-US" altLang="ja-JP" sz="1000" b="1" dirty="0">
                <a:solidFill>
                  <a:srgbClr val="0000FF"/>
                </a:solidFill>
              </a:rPr>
              <a:t>-</a:t>
            </a:r>
            <a:r>
              <a:rPr kumimoji="1" lang="ja-JP" altLang="en-US" sz="1000" b="1" dirty="0">
                <a:solidFill>
                  <a:srgbClr val="0000FF"/>
                </a:solidFill>
              </a:rPr>
              <a:t>炭素フィードバック</a:t>
            </a:r>
            <a:endParaRPr lang="en-US" altLang="ja-JP" sz="1000" b="1" dirty="0">
              <a:solidFill>
                <a:srgbClr val="0000FF"/>
              </a:solidFill>
            </a:endParaRPr>
          </a:p>
          <a:p>
            <a:pPr algn="ctr"/>
            <a:r>
              <a:rPr kumimoji="1" lang="en-US" altLang="ja-JP" sz="1000" b="1" dirty="0" err="1">
                <a:solidFill>
                  <a:srgbClr val="0000FF"/>
                </a:solidFill>
              </a:rPr>
              <a:t>VISITa</a:t>
            </a:r>
            <a:r>
              <a:rPr kumimoji="1" lang="ja-JP" altLang="en-US" sz="1000" b="1" dirty="0">
                <a:solidFill>
                  <a:srgbClr val="0000FF"/>
                </a:solidFill>
              </a:rPr>
              <a:t>コード</a:t>
            </a:r>
          </a:p>
        </p:txBody>
      </p:sp>
      <p:sp>
        <p:nvSpPr>
          <p:cNvPr id="15" name="角丸四角形 14"/>
          <p:cNvSpPr/>
          <p:nvPr/>
        </p:nvSpPr>
        <p:spPr>
          <a:xfrm>
            <a:off x="7124198" y="4956824"/>
            <a:ext cx="1455486" cy="803241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生物領域（唐）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en-US" altLang="ja-JP" sz="1000" b="1" dirty="0">
                <a:solidFill>
                  <a:srgbClr val="008000"/>
                </a:solidFill>
              </a:rPr>
              <a:t>JST</a:t>
            </a:r>
            <a:r>
              <a:rPr lang="ja-JP" altLang="en-US" sz="1000" b="1" dirty="0">
                <a:solidFill>
                  <a:srgbClr val="008000"/>
                </a:solidFill>
              </a:rPr>
              <a:t>日中共同研究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kumimoji="1" lang="ja-JP" altLang="en-US" sz="1000" b="1" dirty="0">
                <a:solidFill>
                  <a:srgbClr val="008000"/>
                </a:solidFill>
              </a:rPr>
              <a:t>チベット青海サイト</a:t>
            </a:r>
            <a:endParaRPr kumimoji="1"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kumimoji="1" lang="en-US" altLang="ja-JP" sz="1000" b="1" dirty="0">
                <a:solidFill>
                  <a:srgbClr val="008000"/>
                </a:solidFill>
              </a:rPr>
              <a:t>CO</a:t>
            </a:r>
            <a:r>
              <a:rPr kumimoji="1" lang="en-US" altLang="ja-JP" sz="1000" b="1" baseline="-25000" dirty="0">
                <a:solidFill>
                  <a:srgbClr val="008000"/>
                </a:solidFill>
              </a:rPr>
              <a:t>2</a:t>
            </a:r>
            <a:r>
              <a:rPr kumimoji="1" lang="ja-JP" altLang="en-US" sz="1000" b="1" dirty="0">
                <a:solidFill>
                  <a:srgbClr val="008000"/>
                </a:solidFill>
              </a:rPr>
              <a:t>フラックス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700038" y="5999827"/>
            <a:ext cx="1390446" cy="563479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8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地球一括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en-US" altLang="ja-JP" sz="1000" b="1" dirty="0">
                <a:solidFill>
                  <a:srgbClr val="008000"/>
                </a:solidFill>
              </a:rPr>
              <a:t>NIES</a:t>
            </a:r>
            <a:r>
              <a:rPr lang="ja-JP" altLang="en-US" sz="1000" b="1" dirty="0">
                <a:solidFill>
                  <a:srgbClr val="008000"/>
                </a:solidFill>
              </a:rPr>
              <a:t>（梁）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kumimoji="1" lang="ja-JP" altLang="en-US" sz="1000" b="1" dirty="0">
                <a:solidFill>
                  <a:srgbClr val="008000"/>
                </a:solidFill>
              </a:rPr>
              <a:t>日本</a:t>
            </a:r>
            <a:r>
              <a:rPr kumimoji="1" lang="en-US" altLang="ja-JP" sz="1000" b="1" dirty="0">
                <a:solidFill>
                  <a:srgbClr val="008000"/>
                </a:solidFill>
              </a:rPr>
              <a:t> </a:t>
            </a:r>
            <a:r>
              <a:rPr kumimoji="1" lang="ja-JP" altLang="en-US" sz="1000" b="1" dirty="0">
                <a:solidFill>
                  <a:srgbClr val="008000"/>
                </a:solidFill>
              </a:rPr>
              <a:t>土壌呼吸</a:t>
            </a:r>
            <a:endParaRPr kumimoji="1" lang="en-US" altLang="ja-JP" sz="1000" b="1" dirty="0">
              <a:solidFill>
                <a:srgbClr val="008000"/>
              </a:solidFill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rot="5400000">
            <a:off x="2033159" y="4649374"/>
            <a:ext cx="1407779" cy="129312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 rot="10800000" flipV="1">
            <a:off x="1954570" y="4324379"/>
            <a:ext cx="1253565" cy="79681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 rot="10800000" flipV="1">
            <a:off x="1821828" y="3978145"/>
            <a:ext cx="1320329" cy="48733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>
            <a:endCxn id="12" idx="3"/>
          </p:cNvCxnSpPr>
          <p:nvPr/>
        </p:nvCxnSpPr>
        <p:spPr>
          <a:xfrm rot="10800000">
            <a:off x="1843497" y="3473843"/>
            <a:ext cx="1298661" cy="18760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>
            <a:endCxn id="6" idx="3"/>
          </p:cNvCxnSpPr>
          <p:nvPr/>
        </p:nvCxnSpPr>
        <p:spPr>
          <a:xfrm rot="10800000">
            <a:off x="1638710" y="2412105"/>
            <a:ext cx="1511692" cy="84772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>
            <a:endCxn id="5" idx="2"/>
          </p:cNvCxnSpPr>
          <p:nvPr/>
        </p:nvCxnSpPr>
        <p:spPr>
          <a:xfrm rot="10800000">
            <a:off x="2029211" y="1867833"/>
            <a:ext cx="1253148" cy="92773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>
            <a:endCxn id="7" idx="2"/>
          </p:cNvCxnSpPr>
          <p:nvPr/>
        </p:nvCxnSpPr>
        <p:spPr>
          <a:xfrm rot="16200000" flipV="1">
            <a:off x="3601398" y="2289105"/>
            <a:ext cx="696832" cy="20064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>
            <a:endCxn id="14" idx="2"/>
          </p:cNvCxnSpPr>
          <p:nvPr/>
        </p:nvCxnSpPr>
        <p:spPr>
          <a:xfrm rot="5400000" flipH="1" flipV="1">
            <a:off x="4979511" y="1903647"/>
            <a:ext cx="1017388" cy="65100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>
            <a:endCxn id="8" idx="1"/>
          </p:cNvCxnSpPr>
          <p:nvPr/>
        </p:nvCxnSpPr>
        <p:spPr>
          <a:xfrm rot="5400000" flipH="1" flipV="1">
            <a:off x="5717675" y="1781617"/>
            <a:ext cx="1427995" cy="111943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>
            <a:off x="5746388" y="4592047"/>
            <a:ext cx="1377810" cy="661949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5162706" y="4593304"/>
            <a:ext cx="2011354" cy="1406523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>
            <a:stCxn id="3" idx="2"/>
            <a:endCxn id="11" idx="0"/>
          </p:cNvCxnSpPr>
          <p:nvPr/>
        </p:nvCxnSpPr>
        <p:spPr>
          <a:xfrm rot="5400000">
            <a:off x="3874235" y="5198547"/>
            <a:ext cx="1271053" cy="6056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角丸四角形 28"/>
          <p:cNvSpPr/>
          <p:nvPr/>
        </p:nvSpPr>
        <p:spPr>
          <a:xfrm>
            <a:off x="5284004" y="5834464"/>
            <a:ext cx="1493828" cy="848394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北大（</a:t>
            </a:r>
            <a:r>
              <a:rPr lang="en-US" altLang="ja-JP" sz="1000" b="1" dirty="0">
                <a:solidFill>
                  <a:srgbClr val="008000"/>
                </a:solidFill>
              </a:rPr>
              <a:t>GCOE</a:t>
            </a:r>
            <a:r>
              <a:rPr lang="ja-JP" altLang="en-US" sz="1000" b="1" dirty="0">
                <a:solidFill>
                  <a:srgbClr val="008000"/>
                </a:solidFill>
              </a:rPr>
              <a:t>）</a:t>
            </a:r>
            <a:endParaRPr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kumimoji="1" lang="ja-JP" altLang="en-US" sz="1000" b="1" dirty="0">
                <a:solidFill>
                  <a:srgbClr val="008000"/>
                </a:solidFill>
              </a:rPr>
              <a:t>フィールドサイト</a:t>
            </a:r>
            <a:endParaRPr kumimoji="1"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（シベリア、モンゴル、北海道、インドネシア）</a:t>
            </a:r>
            <a:endParaRPr kumimoji="1" lang="en-US" altLang="ja-JP" sz="1000" b="1" dirty="0">
              <a:solidFill>
                <a:srgbClr val="008000"/>
              </a:solidFill>
            </a:endParaRPr>
          </a:p>
        </p:txBody>
      </p:sp>
      <p:cxnSp>
        <p:nvCxnSpPr>
          <p:cNvPr id="30" name="直線矢印コネクタ 29"/>
          <p:cNvCxnSpPr/>
          <p:nvPr/>
        </p:nvCxnSpPr>
        <p:spPr>
          <a:xfrm rot="16200000" flipH="1">
            <a:off x="4670657" y="4758731"/>
            <a:ext cx="1242417" cy="90904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角丸四角形 30"/>
          <p:cNvSpPr/>
          <p:nvPr/>
        </p:nvSpPr>
        <p:spPr>
          <a:xfrm>
            <a:off x="6991391" y="3259827"/>
            <a:ext cx="1588293" cy="803241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rgbClr val="008000"/>
                </a:solidFill>
              </a:rPr>
              <a:t>科研費</a:t>
            </a:r>
            <a:endParaRPr kumimoji="1"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新学術領域</a:t>
            </a:r>
            <a:r>
              <a:rPr kumimoji="1" lang="ja-JP" altLang="en-US" sz="1000" b="1" dirty="0">
                <a:solidFill>
                  <a:srgbClr val="008000"/>
                </a:solidFill>
              </a:rPr>
              <a:t>（高</a:t>
            </a:r>
            <a:r>
              <a:rPr kumimoji="1" lang="en-US" altLang="ja-JP" sz="1000" b="1" dirty="0">
                <a:solidFill>
                  <a:srgbClr val="008000"/>
                </a:solidFill>
              </a:rPr>
              <a:t>CO2</a:t>
            </a:r>
            <a:r>
              <a:rPr kumimoji="1" lang="ja-JP" altLang="en-US" sz="1000" b="1" dirty="0">
                <a:solidFill>
                  <a:srgbClr val="008000"/>
                </a:solidFill>
              </a:rPr>
              <a:t>）</a:t>
            </a:r>
            <a:endParaRPr kumimoji="1"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en-US" altLang="ja-JP" sz="1000" b="1" dirty="0">
                <a:solidFill>
                  <a:srgbClr val="008000"/>
                </a:solidFill>
              </a:rPr>
              <a:t>NIES</a:t>
            </a:r>
            <a:r>
              <a:rPr lang="ja-JP" altLang="en-US" sz="1000" b="1" dirty="0">
                <a:solidFill>
                  <a:srgbClr val="008000"/>
                </a:solidFill>
              </a:rPr>
              <a:t>（飯尾）、東北大など</a:t>
            </a:r>
            <a:endParaRPr kumimoji="1" lang="ja-JP" altLang="en-US" sz="1000" b="1" dirty="0">
              <a:solidFill>
                <a:srgbClr val="008000"/>
              </a:solidFill>
            </a:endParaRPr>
          </a:p>
        </p:txBody>
      </p:sp>
      <p:sp>
        <p:nvSpPr>
          <p:cNvPr id="32" name="角丸四角形 31"/>
          <p:cNvSpPr/>
          <p:nvPr/>
        </p:nvSpPr>
        <p:spPr>
          <a:xfrm>
            <a:off x="6991391" y="2261990"/>
            <a:ext cx="1588293" cy="822203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accent6">
                    <a:lumMod val="50000"/>
                  </a:schemeClr>
                </a:solidFill>
              </a:rPr>
              <a:t>推進費</a:t>
            </a:r>
            <a:r>
              <a:rPr lang="en-US" altLang="ja-JP" sz="1000" b="1" dirty="0">
                <a:solidFill>
                  <a:schemeClr val="accent6">
                    <a:lumMod val="50000"/>
                  </a:schemeClr>
                </a:solidFill>
              </a:rPr>
              <a:t>A0801</a:t>
            </a:r>
          </a:p>
          <a:p>
            <a:pPr algn="ctr"/>
            <a:r>
              <a:rPr lang="en-US" altLang="ja-JP" sz="1000" b="1" dirty="0">
                <a:solidFill>
                  <a:schemeClr val="accent6">
                    <a:lumMod val="50000"/>
                  </a:schemeClr>
                </a:solidFill>
              </a:rPr>
              <a:t>NIES</a:t>
            </a:r>
            <a:r>
              <a:rPr lang="ja-JP" altLang="en-US" sz="1000" b="1" dirty="0">
                <a:solidFill>
                  <a:schemeClr val="accent6">
                    <a:lumMod val="50000"/>
                  </a:schemeClr>
                </a:solidFill>
              </a:rPr>
              <a:t>（山形＆安立）</a:t>
            </a:r>
            <a:endParaRPr lang="en-US" altLang="ja-JP" sz="1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ja-JP" altLang="en-US" sz="1000" b="1" dirty="0">
                <a:solidFill>
                  <a:schemeClr val="accent6">
                    <a:lumMod val="50000"/>
                  </a:schemeClr>
                </a:solidFill>
              </a:rPr>
              <a:t>熱帯林減少</a:t>
            </a:r>
            <a:endParaRPr lang="en-US" altLang="ja-JP" sz="1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altLang="ja-JP" sz="1000" b="1" dirty="0">
                <a:solidFill>
                  <a:schemeClr val="accent6">
                    <a:lumMod val="50000"/>
                  </a:schemeClr>
                </a:solidFill>
              </a:rPr>
              <a:t>REDD</a:t>
            </a:r>
          </a:p>
        </p:txBody>
      </p:sp>
      <p:cxnSp>
        <p:nvCxnSpPr>
          <p:cNvPr id="33" name="直線矢印コネクタ 32"/>
          <p:cNvCxnSpPr>
            <a:endCxn id="32" idx="1"/>
          </p:cNvCxnSpPr>
          <p:nvPr/>
        </p:nvCxnSpPr>
        <p:spPr>
          <a:xfrm flipV="1">
            <a:off x="5871954" y="2673092"/>
            <a:ext cx="1119437" cy="83647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角丸四角形 33"/>
          <p:cNvSpPr/>
          <p:nvPr/>
        </p:nvSpPr>
        <p:spPr>
          <a:xfrm>
            <a:off x="6991390" y="4243621"/>
            <a:ext cx="1588293" cy="582646"/>
          </a:xfrm>
          <a:prstGeom prst="roundRect">
            <a:avLst/>
          </a:prstGeom>
          <a:solidFill>
            <a:schemeClr val="bg1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rgbClr val="008000"/>
                </a:solidFill>
              </a:rPr>
              <a:t>乾燥地モデル相互比較</a:t>
            </a:r>
            <a:endParaRPr kumimoji="1"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en-US" altLang="ja-JP" sz="1000" b="1" dirty="0">
                <a:solidFill>
                  <a:srgbClr val="008000"/>
                </a:solidFill>
              </a:rPr>
              <a:t>APN &amp; </a:t>
            </a:r>
            <a:r>
              <a:rPr lang="ja-JP" altLang="en-US" sz="1000" b="1" dirty="0">
                <a:solidFill>
                  <a:srgbClr val="008000"/>
                </a:solidFill>
              </a:rPr>
              <a:t>科研費基盤</a:t>
            </a:r>
            <a:r>
              <a:rPr lang="en-US" altLang="ja-JP" sz="1000" b="1" dirty="0">
                <a:solidFill>
                  <a:srgbClr val="008000"/>
                </a:solidFill>
              </a:rPr>
              <a:t>B</a:t>
            </a:r>
            <a:endParaRPr kumimoji="1" lang="ja-JP" altLang="en-US" sz="1000" b="1" dirty="0">
              <a:solidFill>
                <a:srgbClr val="008000"/>
              </a:solidFill>
            </a:endParaRPr>
          </a:p>
        </p:txBody>
      </p:sp>
      <p:cxnSp>
        <p:nvCxnSpPr>
          <p:cNvPr id="35" name="直線矢印コネクタ 34"/>
          <p:cNvCxnSpPr>
            <a:endCxn id="31" idx="1"/>
          </p:cNvCxnSpPr>
          <p:nvPr/>
        </p:nvCxnSpPr>
        <p:spPr>
          <a:xfrm flipV="1">
            <a:off x="5871954" y="3661448"/>
            <a:ext cx="1119437" cy="23035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/>
          <p:cNvCxnSpPr>
            <a:endCxn id="34" idx="1"/>
          </p:cNvCxnSpPr>
          <p:nvPr/>
        </p:nvCxnSpPr>
        <p:spPr>
          <a:xfrm>
            <a:off x="5871953" y="4219877"/>
            <a:ext cx="1119437" cy="31506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角丸四角形 36"/>
          <p:cNvSpPr/>
          <p:nvPr/>
        </p:nvSpPr>
        <p:spPr>
          <a:xfrm>
            <a:off x="2290241" y="5999827"/>
            <a:ext cx="1390446" cy="69643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8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 err="1">
                <a:solidFill>
                  <a:srgbClr val="008000"/>
                </a:solidFill>
              </a:rPr>
              <a:t>HydroEastAsia</a:t>
            </a:r>
            <a:endParaRPr kumimoji="1"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kumimoji="1" lang="en-US" altLang="ja-JP" sz="1000" b="1" dirty="0">
                <a:solidFill>
                  <a:srgbClr val="008000"/>
                </a:solidFill>
              </a:rPr>
              <a:t>JST</a:t>
            </a:r>
            <a:r>
              <a:rPr kumimoji="1" lang="ja-JP" altLang="en-US" sz="1000" b="1" dirty="0">
                <a:solidFill>
                  <a:srgbClr val="008000"/>
                </a:solidFill>
              </a:rPr>
              <a:t>申請中</a:t>
            </a:r>
            <a:endParaRPr kumimoji="1" lang="en-US" altLang="ja-JP" sz="1000" b="1" dirty="0">
              <a:solidFill>
                <a:srgbClr val="008000"/>
              </a:solidFill>
            </a:endParaRPr>
          </a:p>
          <a:p>
            <a:pPr algn="ctr"/>
            <a:r>
              <a:rPr lang="ja-JP" altLang="en-US" sz="1000" b="1" dirty="0">
                <a:solidFill>
                  <a:srgbClr val="008000"/>
                </a:solidFill>
              </a:rPr>
              <a:t>（市井、金ら）</a:t>
            </a:r>
            <a:endParaRPr kumimoji="1" lang="en-US" altLang="ja-JP" sz="1000" b="1" dirty="0">
              <a:solidFill>
                <a:srgbClr val="008000"/>
              </a:solidFill>
            </a:endParaRPr>
          </a:p>
        </p:txBody>
      </p:sp>
      <p:cxnSp>
        <p:nvCxnSpPr>
          <p:cNvPr id="38" name="直線矢印コネクタ 37"/>
          <p:cNvCxnSpPr/>
          <p:nvPr/>
        </p:nvCxnSpPr>
        <p:spPr>
          <a:xfrm rot="5400000">
            <a:off x="2837611" y="4788558"/>
            <a:ext cx="1409038" cy="101601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3661</Words>
  <Application>Microsoft Macintosh PowerPoint</Application>
  <PresentationFormat>画面に合わせる (4:3)</PresentationFormat>
  <Paragraphs>614</Paragraphs>
  <Slides>45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1" baseType="lpstr">
      <vt:lpstr>ＭＳ Ｐゴシック</vt:lpstr>
      <vt:lpstr>Arial</vt:lpstr>
      <vt:lpstr>Calibri</vt:lpstr>
      <vt:lpstr>Symbol</vt:lpstr>
      <vt:lpstr>Office テーマ</vt:lpstr>
      <vt:lpstr>数式</vt:lpstr>
      <vt:lpstr>VISIT: structure and usage</vt:lpstr>
      <vt:lpstr>“Ordinary” explanation</vt:lpstr>
      <vt:lpstr>Model</vt:lpstr>
      <vt:lpstr>Concepts</vt:lpstr>
      <vt:lpstr>Pioneers of plant ecophysiology</vt:lpstr>
      <vt:lpstr>Short history of modeling</vt:lpstr>
      <vt:lpstr>3 lines of VISIT</vt:lpstr>
      <vt:lpstr>Explanation of Sim-CYCLE (-2007)</vt:lpstr>
      <vt:lpstr>Model scaling</vt:lpstr>
      <vt:lpstr>Overview</vt:lpstr>
      <vt:lpstr>Data</vt:lpstr>
      <vt:lpstr>Data: inputs</vt:lpstr>
      <vt:lpstr>Data: characteristics</vt:lpstr>
      <vt:lpstr>Data: parameters</vt:lpstr>
      <vt:lpstr>Data: outputs</vt:lpstr>
      <vt:lpstr>Data sources</vt:lpstr>
      <vt:lpstr>Box-flow approximation</vt:lpstr>
      <vt:lpstr>Box-flow system of VISITb</vt:lpstr>
      <vt:lpstr>GPP: biochemistry</vt:lpstr>
      <vt:lpstr>GPP: 1-layer canopy</vt:lpstr>
      <vt:lpstr>GPP: 2-layer canopy</vt:lpstr>
      <vt:lpstr>GPP: 2-layer canopy</vt:lpstr>
      <vt:lpstr>GPP: 2-layer canopy</vt:lpstr>
      <vt:lpstr>Stomatal conductance</vt:lpstr>
      <vt:lpstr>     Simulation at Takayama site</vt:lpstr>
      <vt:lpstr>Respiration</vt:lpstr>
      <vt:lpstr>Partitioning / Allocation</vt:lpstr>
      <vt:lpstr>Underground processes</vt:lpstr>
      <vt:lpstr>Not yet described…</vt:lpstr>
      <vt:lpstr>Usage: overview</vt:lpstr>
      <vt:lpstr>Code and header files</vt:lpstr>
      <vt:lpstr>Structure</vt:lpstr>
      <vt:lpstr>main.c</vt:lpstr>
      <vt:lpstr>2. Editing set-up files and parameters [1]</vt:lpstr>
      <vt:lpstr>2. Editing set-up files and parameters [2]</vt:lpstr>
      <vt:lpstr>2. Editing set-up files and parameters [3]</vt:lpstr>
      <vt:lpstr>Climate [NCEP] data</vt:lpstr>
      <vt:lpstr>Usage: command-based</vt:lpstr>
      <vt:lpstr>Usage: GUI-based</vt:lpstr>
      <vt:lpstr>Management of  output files</vt:lpstr>
      <vt:lpstr>PowerPoint プレゼンテーション</vt:lpstr>
      <vt:lpstr>References [2006-2010]</vt:lpstr>
      <vt:lpstr>References [2000-2005]</vt:lpstr>
      <vt:lpstr>Other references</vt:lpstr>
      <vt:lpstr>Projects</vt:lpstr>
    </vt:vector>
  </TitlesOfParts>
  <Company>国立環境研究所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VISIT: structure and usage</dc:title>
  <dc:creator>伊藤 昭彦</dc:creator>
  <cp:lastModifiedBy>Akihiko ITO</cp:lastModifiedBy>
  <cp:revision>174</cp:revision>
  <dcterms:created xsi:type="dcterms:W3CDTF">2011-04-27T03:59:00Z</dcterms:created>
  <dcterms:modified xsi:type="dcterms:W3CDTF">2020-08-12T00:49:17Z</dcterms:modified>
</cp:coreProperties>
</file>