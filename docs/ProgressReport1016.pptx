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sldIdLst>
    <p:sldId id="256" r:id="rId5"/>
    <p:sldId id="257" r:id="rId6"/>
    <p:sldId id="260" r:id="rId7"/>
    <p:sldId id="258" r:id="rId8"/>
    <p:sldId id="264" r:id="rId9"/>
    <p:sldId id="259" r:id="rId10"/>
    <p:sldId id="261" r:id="rId11"/>
    <p:sldId id="265" r:id="rId12"/>
    <p:sldId id="271" r:id="rId13"/>
    <p:sldId id="272" r:id="rId14"/>
    <p:sldId id="268" r:id="rId15"/>
    <p:sldId id="269" r:id="rId16"/>
    <p:sldId id="262" r:id="rId17"/>
    <p:sldId id="267" r:id="rId18"/>
    <p:sldId id="273" r:id="rId19"/>
    <p:sldId id="263" r:id="rId20"/>
    <p:sldId id="270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D1B70C-53F6-4062-8952-EE588567738A}" v="149" dt="2026-10-14T11:41:49.5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79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阪内　琢真" userId="c7aeb0f7-b6cf-4ba1-8ced-6caaf101f3cc" providerId="ADAL" clId="{019BB855-A9ED-43E0-8719-FCAC63A81A70}"/>
    <pc:docChg chg="addSld modSld sldOrd">
      <pc:chgData name="阪内　琢真" userId="c7aeb0f7-b6cf-4ba1-8ced-6caaf101f3cc" providerId="ADAL" clId="{019BB855-A9ED-43E0-8719-FCAC63A81A70}" dt="2026-10-14T11:41:49.511" v="149"/>
      <pc:docMkLst>
        <pc:docMk/>
      </pc:docMkLst>
      <pc:sldChg chg="modSp">
        <pc:chgData name="阪内　琢真" userId="c7aeb0f7-b6cf-4ba1-8ced-6caaf101f3cc" providerId="ADAL" clId="{019BB855-A9ED-43E0-8719-FCAC63A81A70}" dt="2026-10-14T05:57:20.244" v="5"/>
        <pc:sldMkLst>
          <pc:docMk/>
          <pc:sldMk cId="3106988969" sldId="257"/>
        </pc:sldMkLst>
        <pc:spChg chg="mod">
          <ac:chgData name="阪内　琢真" userId="c7aeb0f7-b6cf-4ba1-8ced-6caaf101f3cc" providerId="ADAL" clId="{019BB855-A9ED-43E0-8719-FCAC63A81A70}" dt="2026-10-14T05:57:20.244" v="5"/>
          <ac:spMkLst>
            <pc:docMk/>
            <pc:sldMk cId="3106988969" sldId="257"/>
            <ac:spMk id="3" creationId="{80AD84C8-AF70-C012-8EAD-21C975FFA731}"/>
          </ac:spMkLst>
        </pc:spChg>
      </pc:sldChg>
      <pc:sldChg chg="modSp">
        <pc:chgData name="阪内　琢真" userId="c7aeb0f7-b6cf-4ba1-8ced-6caaf101f3cc" providerId="ADAL" clId="{019BB855-A9ED-43E0-8719-FCAC63A81A70}" dt="2026-10-14T06:34:39.839" v="12"/>
        <pc:sldMkLst>
          <pc:docMk/>
          <pc:sldMk cId="2451821985" sldId="258"/>
        </pc:sldMkLst>
        <pc:spChg chg="mod">
          <ac:chgData name="阪内　琢真" userId="c7aeb0f7-b6cf-4ba1-8ced-6caaf101f3cc" providerId="ADAL" clId="{019BB855-A9ED-43E0-8719-FCAC63A81A70}" dt="2026-10-14T05:58:09.501" v="6"/>
          <ac:spMkLst>
            <pc:docMk/>
            <pc:sldMk cId="2451821985" sldId="258"/>
            <ac:spMk id="2" creationId="{4E2F822A-C9BA-E5AC-7F14-AC246F25DD9D}"/>
          </ac:spMkLst>
        </pc:spChg>
        <pc:spChg chg="mod">
          <ac:chgData name="阪内　琢真" userId="c7aeb0f7-b6cf-4ba1-8ced-6caaf101f3cc" providerId="ADAL" clId="{019BB855-A9ED-43E0-8719-FCAC63A81A70}" dt="2026-10-14T06:34:39.839" v="12"/>
          <ac:spMkLst>
            <pc:docMk/>
            <pc:sldMk cId="2451821985" sldId="258"/>
            <ac:spMk id="3" creationId="{EEF60A4A-14C5-5BF5-11DC-480C8FF308ED}"/>
          </ac:spMkLst>
        </pc:spChg>
      </pc:sldChg>
      <pc:sldChg chg="addSp modSp">
        <pc:chgData name="阪内　琢真" userId="c7aeb0f7-b6cf-4ba1-8ced-6caaf101f3cc" providerId="ADAL" clId="{019BB855-A9ED-43E0-8719-FCAC63A81A70}" dt="2026-10-14T09:43:14.040" v="139"/>
        <pc:sldMkLst>
          <pc:docMk/>
          <pc:sldMk cId="529393764" sldId="259"/>
        </pc:sldMkLst>
        <pc:spChg chg="mod">
          <ac:chgData name="阪内　琢真" userId="c7aeb0f7-b6cf-4ba1-8ced-6caaf101f3cc" providerId="ADAL" clId="{019BB855-A9ED-43E0-8719-FCAC63A81A70}" dt="2026-10-14T07:28:41.599" v="23"/>
          <ac:spMkLst>
            <pc:docMk/>
            <pc:sldMk cId="529393764" sldId="259"/>
            <ac:spMk id="3" creationId="{EFEE77CD-A2CB-916E-0AFC-F22131F610F2}"/>
          </ac:spMkLst>
        </pc:spChg>
        <pc:picChg chg="add mod">
          <ac:chgData name="阪内　琢真" userId="c7aeb0f7-b6cf-4ba1-8ced-6caaf101f3cc" providerId="ADAL" clId="{019BB855-A9ED-43E0-8719-FCAC63A81A70}" dt="2026-10-14T09:43:14.040" v="139"/>
          <ac:picMkLst>
            <pc:docMk/>
            <pc:sldMk cId="529393764" sldId="259"/>
            <ac:picMk id="5" creationId="{20399177-26A9-233B-A96C-2273ECD28023}"/>
          </ac:picMkLst>
        </pc:picChg>
      </pc:sldChg>
      <pc:sldChg chg="modSp">
        <pc:chgData name="阪内　琢真" userId="c7aeb0f7-b6cf-4ba1-8ced-6caaf101f3cc" providerId="ADAL" clId="{019BB855-A9ED-43E0-8719-FCAC63A81A70}" dt="2026-10-14T07:02:08.824" v="13"/>
        <pc:sldMkLst>
          <pc:docMk/>
          <pc:sldMk cId="3775096526" sldId="260"/>
        </pc:sldMkLst>
        <pc:spChg chg="mod">
          <ac:chgData name="阪内　琢真" userId="c7aeb0f7-b6cf-4ba1-8ced-6caaf101f3cc" providerId="ADAL" clId="{019BB855-A9ED-43E0-8719-FCAC63A81A70}" dt="2026-10-14T07:02:08.824" v="13"/>
          <ac:spMkLst>
            <pc:docMk/>
            <pc:sldMk cId="3775096526" sldId="260"/>
            <ac:spMk id="3" creationId="{B497E8DA-E75D-6C11-4D84-95919AF07861}"/>
          </ac:spMkLst>
        </pc:spChg>
      </pc:sldChg>
      <pc:sldChg chg="modSp ord">
        <pc:chgData name="阪内　琢真" userId="c7aeb0f7-b6cf-4ba1-8ced-6caaf101f3cc" providerId="ADAL" clId="{019BB855-A9ED-43E0-8719-FCAC63A81A70}" dt="2026-10-14T07:06:18.248" v="17"/>
        <pc:sldMkLst>
          <pc:docMk/>
          <pc:sldMk cId="3954054052" sldId="261"/>
        </pc:sldMkLst>
        <pc:spChg chg="mod">
          <ac:chgData name="阪内　琢真" userId="c7aeb0f7-b6cf-4ba1-8ced-6caaf101f3cc" providerId="ADAL" clId="{019BB855-A9ED-43E0-8719-FCAC63A81A70}" dt="2026-10-14T07:06:18.248" v="17"/>
          <ac:spMkLst>
            <pc:docMk/>
            <pc:sldMk cId="3954054052" sldId="261"/>
            <ac:spMk id="3" creationId="{194B1C17-2869-518D-FFC9-411BEE906E04}"/>
          </ac:spMkLst>
        </pc:spChg>
      </pc:sldChg>
      <pc:sldChg chg="modSp">
        <pc:chgData name="阪内　琢真" userId="c7aeb0f7-b6cf-4ba1-8ced-6caaf101f3cc" providerId="ADAL" clId="{019BB855-A9ED-43E0-8719-FCAC63A81A70}" dt="2026-10-14T07:06:24.464" v="19"/>
        <pc:sldMkLst>
          <pc:docMk/>
          <pc:sldMk cId="3616918799" sldId="262"/>
        </pc:sldMkLst>
        <pc:spChg chg="mod">
          <ac:chgData name="阪内　琢真" userId="c7aeb0f7-b6cf-4ba1-8ced-6caaf101f3cc" providerId="ADAL" clId="{019BB855-A9ED-43E0-8719-FCAC63A81A70}" dt="2026-10-14T07:06:24.464" v="19"/>
          <ac:spMkLst>
            <pc:docMk/>
            <pc:sldMk cId="3616918799" sldId="262"/>
            <ac:spMk id="2" creationId="{5D4D4F2D-A6D3-7FB2-DA79-FFD8C9B5EC75}"/>
          </ac:spMkLst>
        </pc:spChg>
      </pc:sldChg>
      <pc:sldChg chg="addSp modSp">
        <pc:chgData name="阪内　琢真" userId="c7aeb0f7-b6cf-4ba1-8ced-6caaf101f3cc" providerId="ADAL" clId="{019BB855-A9ED-43E0-8719-FCAC63A81A70}" dt="2026-10-14T10:55:11.567" v="142" actId="767"/>
        <pc:sldMkLst>
          <pc:docMk/>
          <pc:sldMk cId="2002713738" sldId="263"/>
        </pc:sldMkLst>
        <pc:spChg chg="add mod">
          <ac:chgData name="阪内　琢真" userId="c7aeb0f7-b6cf-4ba1-8ced-6caaf101f3cc" providerId="ADAL" clId="{019BB855-A9ED-43E0-8719-FCAC63A81A70}" dt="2026-10-14T10:55:11.567" v="142" actId="767"/>
          <ac:spMkLst>
            <pc:docMk/>
            <pc:sldMk cId="2002713738" sldId="263"/>
            <ac:spMk id="8" creationId="{372558F0-7EB0-263E-5F6E-2D70FFA122E1}"/>
          </ac:spMkLst>
        </pc:spChg>
      </pc:sldChg>
      <pc:sldChg chg="addSp delSp modSp">
        <pc:chgData name="阪内　琢真" userId="c7aeb0f7-b6cf-4ba1-8ced-6caaf101f3cc" providerId="ADAL" clId="{019BB855-A9ED-43E0-8719-FCAC63A81A70}" dt="2026-10-14T09:39:48.514" v="138" actId="20577"/>
        <pc:sldMkLst>
          <pc:docMk/>
          <pc:sldMk cId="1260030930" sldId="264"/>
        </pc:sldMkLst>
        <pc:spChg chg="mod">
          <ac:chgData name="阪内　琢真" userId="c7aeb0f7-b6cf-4ba1-8ced-6caaf101f3cc" providerId="ADAL" clId="{019BB855-A9ED-43E0-8719-FCAC63A81A70}" dt="2026-10-14T07:17:49.928" v="21"/>
          <ac:spMkLst>
            <pc:docMk/>
            <pc:sldMk cId="1260030930" sldId="264"/>
            <ac:spMk id="2" creationId="{D2502C2D-3178-9D0A-A0A2-CDFC5E193F9F}"/>
          </ac:spMkLst>
        </pc:spChg>
        <pc:spChg chg="mod">
          <ac:chgData name="阪内　琢真" userId="c7aeb0f7-b6cf-4ba1-8ced-6caaf101f3cc" providerId="ADAL" clId="{019BB855-A9ED-43E0-8719-FCAC63A81A70}" dt="2026-10-14T09:29:06.224" v="24"/>
          <ac:spMkLst>
            <pc:docMk/>
            <pc:sldMk cId="1260030930" sldId="264"/>
            <ac:spMk id="3" creationId="{1819556C-813C-8C85-D36A-9F861ADB6FF6}"/>
          </ac:spMkLst>
        </pc:spChg>
        <pc:spChg chg="add del mod">
          <ac:chgData name="阪内　琢真" userId="c7aeb0f7-b6cf-4ba1-8ced-6caaf101f3cc" providerId="ADAL" clId="{019BB855-A9ED-43E0-8719-FCAC63A81A70}" dt="2026-10-14T09:33:13.076" v="26"/>
          <ac:spMkLst>
            <pc:docMk/>
            <pc:sldMk cId="1260030930" sldId="264"/>
            <ac:spMk id="13" creationId="{0288D64B-5E24-3737-2E8D-5A5DEAA3F240}"/>
          </ac:spMkLst>
        </pc:spChg>
        <pc:spChg chg="add del mod">
          <ac:chgData name="阪内　琢真" userId="c7aeb0f7-b6cf-4ba1-8ced-6caaf101f3cc" providerId="ADAL" clId="{019BB855-A9ED-43E0-8719-FCAC63A81A70}" dt="2026-10-14T09:33:58.893" v="28"/>
          <ac:spMkLst>
            <pc:docMk/>
            <pc:sldMk cId="1260030930" sldId="264"/>
            <ac:spMk id="14" creationId="{165D9F30-EC33-703A-BCC5-BAB03D1B3E8C}"/>
          </ac:spMkLst>
        </pc:spChg>
        <pc:spChg chg="add del mod">
          <ac:chgData name="阪内　琢真" userId="c7aeb0f7-b6cf-4ba1-8ced-6caaf101f3cc" providerId="ADAL" clId="{019BB855-A9ED-43E0-8719-FCAC63A81A70}" dt="2026-10-14T09:34:38.574" v="30"/>
          <ac:spMkLst>
            <pc:docMk/>
            <pc:sldMk cId="1260030930" sldId="264"/>
            <ac:spMk id="15" creationId="{1B2722A1-8986-4F0F-F6AE-BA7AC212C0AC}"/>
          </ac:spMkLst>
        </pc:spChg>
        <pc:spChg chg="add mod">
          <ac:chgData name="阪内　琢真" userId="c7aeb0f7-b6cf-4ba1-8ced-6caaf101f3cc" providerId="ADAL" clId="{019BB855-A9ED-43E0-8719-FCAC63A81A70}" dt="2026-10-14T09:34:38.970" v="31" actId="767"/>
          <ac:spMkLst>
            <pc:docMk/>
            <pc:sldMk cId="1260030930" sldId="264"/>
            <ac:spMk id="16" creationId="{8A83B697-4D84-BFB1-51A3-3DF4AFD1AAE8}"/>
          </ac:spMkLst>
        </pc:spChg>
        <pc:spChg chg="mod">
          <ac:chgData name="阪内　琢真" userId="c7aeb0f7-b6cf-4ba1-8ced-6caaf101f3cc" providerId="ADAL" clId="{019BB855-A9ED-43E0-8719-FCAC63A81A70}" dt="2026-10-14T09:39:48.514" v="138" actId="20577"/>
          <ac:spMkLst>
            <pc:docMk/>
            <pc:sldMk cId="1260030930" sldId="264"/>
            <ac:spMk id="18" creationId="{7E3E3FF6-7942-71D6-2998-098C3B39309E}"/>
          </ac:spMkLst>
        </pc:spChg>
      </pc:sldChg>
      <pc:sldChg chg="add">
        <pc:chgData name="阪内　琢真" userId="c7aeb0f7-b6cf-4ba1-8ced-6caaf101f3cc" providerId="ADAL" clId="{019BB855-A9ED-43E0-8719-FCAC63A81A70}" dt="2026-10-14T10:35:19.178" v="140"/>
        <pc:sldMkLst>
          <pc:docMk/>
          <pc:sldMk cId="1908903205" sldId="266"/>
        </pc:sldMkLst>
      </pc:sldChg>
      <pc:sldChg chg="add ord">
        <pc:chgData name="阪内　琢真" userId="c7aeb0f7-b6cf-4ba1-8ced-6caaf101f3cc" providerId="ADAL" clId="{019BB855-A9ED-43E0-8719-FCAC63A81A70}" dt="2026-10-14T11:39:01.457" v="147"/>
        <pc:sldMkLst>
          <pc:docMk/>
          <pc:sldMk cId="3543277139" sldId="267"/>
        </pc:sldMkLst>
      </pc:sldChg>
      <pc:sldChg chg="ord">
        <pc:chgData name="阪内　琢真" userId="c7aeb0f7-b6cf-4ba1-8ced-6caaf101f3cc" providerId="ADAL" clId="{019BB855-A9ED-43E0-8719-FCAC63A81A70}" dt="2026-10-14T11:26:37.154" v="144"/>
        <pc:sldMkLst>
          <pc:docMk/>
          <pc:sldMk cId="1554091994" sldId="268"/>
        </pc:sldMkLst>
      </pc:sldChg>
      <pc:sldChg chg="add">
        <pc:chgData name="阪内　琢真" userId="c7aeb0f7-b6cf-4ba1-8ced-6caaf101f3cc" providerId="ADAL" clId="{019BB855-A9ED-43E0-8719-FCAC63A81A70}" dt="2026-10-14T11:33:32.381" v="145"/>
        <pc:sldMkLst>
          <pc:docMk/>
          <pc:sldMk cId="959767627" sldId="271"/>
        </pc:sldMkLst>
      </pc:sldChg>
      <pc:sldChg chg="add">
        <pc:chgData name="阪内　琢真" userId="c7aeb0f7-b6cf-4ba1-8ced-6caaf101f3cc" providerId="ADAL" clId="{019BB855-A9ED-43E0-8719-FCAC63A81A70}" dt="2026-10-14T11:39:00.082" v="146"/>
        <pc:sldMkLst>
          <pc:docMk/>
          <pc:sldMk cId="3918365623" sldId="273"/>
        </pc:sldMkLst>
      </pc:sldChg>
      <pc:sldChg chg="add">
        <pc:chgData name="阪内　琢真" userId="c7aeb0f7-b6cf-4ba1-8ced-6caaf101f3cc" providerId="ADAL" clId="{019BB855-A9ED-43E0-8719-FCAC63A81A70}" dt="2026-10-14T11:41:36.154" v="148"/>
        <pc:sldMkLst>
          <pc:docMk/>
          <pc:sldMk cId="342870740" sldId="274"/>
        </pc:sldMkLst>
      </pc:sldChg>
      <pc:sldChg chg="add">
        <pc:chgData name="阪内　琢真" userId="c7aeb0f7-b6cf-4ba1-8ced-6caaf101f3cc" providerId="ADAL" clId="{019BB855-A9ED-43E0-8719-FCAC63A81A70}" dt="2026-10-14T11:41:49.511" v="149"/>
        <pc:sldMkLst>
          <pc:docMk/>
          <pc:sldMk cId="3032759665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E7515-B7AF-4B25-A548-045596C571C6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BAF8C-91A8-4D24-8E7E-3BF0A94A97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035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BAF8C-91A8-4D24-8E7E-3BF0A94A974F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1480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ja-JP" sz="1200" dirty="0"/>
              <a:t>Luo, Y., &amp; Smith, B. (Eds.). (2024). Land Carbon Cycle Modeling: Matrix Approach, Data Assimilation, Ecological Forecasting, and Machine Learning (2nd ed.). CRC Press. https://doi.org/10.1201/9781032711126</a:t>
            </a:r>
            <a:endParaRPr kumimoji="1" lang="ja-JP" altLang="en-US" sz="105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BAF8C-91A8-4D24-8E7E-3BF0A94A974F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9059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Luo2022 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BAF8C-91A8-4D24-8E7E-3BF0A94A974F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6172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EF278-60F6-603A-99CA-F7156BC60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52AE570-B8EC-8DFD-1462-08259B6B3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F17A008-7646-B4D0-B91D-0094E49D7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Luo2022 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10353C4-1CCD-4B4F-DAD5-68FFB32EA8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BAF8C-91A8-4D24-8E7E-3BF0A94A974F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6046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3AF6C9-0358-EC8D-B311-7EC3A3C7A0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7DCC688-4A14-D4FD-F352-3A74D32E0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858A26-4716-E3AB-9F8C-18D12EC1E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D1A5B-F89E-4B22-8083-CE52FAB433A3}" type="datetime1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A3C21A-E796-7E2A-F116-31F8FDF7A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84CACD-5BCB-80A4-2A38-756F8DA4C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729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957985-BA5D-4EEE-9F98-C1A06FAFB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F9CA8A-6E63-BECC-4F2C-2823BE1B8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C81ACC-ABD7-3E84-869D-83557575E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131BC-D477-40E9-899F-16006EE5AA18}" type="datetime1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2A1D38-50A4-792B-463C-15AADB7F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54CD37-2F4B-C6FE-8074-6E07FCB10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12345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4B8FE7-4845-82AA-8326-B246209CE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3B7503-43EF-1066-7030-1B716FD71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36C8BE-4127-9DE0-7197-27B23AF9A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CA6B5-F7CE-46DF-A08C-A1C703F1F3B2}" type="datetime1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6A84E3-11CD-FC56-D1FE-FCFDDB397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3F889A-FD0E-1631-81D9-DC2F17CDC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6793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3EE531-747E-73A2-13AE-EAEFA3659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C321EC-CF60-6D00-2E43-9D54562244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30C8B53-6E7E-7007-6522-17975BC5F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9E08A5-5E69-48F1-4106-42AA02671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8132D-8491-4FAE-AF26-A86734ADC90E}" type="datetime1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890F0B3-5956-6AC9-2926-0B658873C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BD680F8-BBFC-D81F-A0DC-5E79C3396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6434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8CF71B-4E53-837A-B834-4377BDDD6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35B1D2-D511-454E-649F-83992BA8E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D4E68E6-4383-C863-79D0-EE872E96E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E432C4C-806C-F80E-DC79-45685AF92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F3F5C82-70C0-4AED-E1DB-54B78546A5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D69E65E-FC77-069F-AE8B-FF8DFF01E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7F2E-90EE-4B16-A402-23A476051168}" type="datetime1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FF23D84-597F-79D8-529F-32B920171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4EC1DFB-7E09-A1E8-A4F4-712A9951C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2750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C66F55-F269-2533-4DBD-A64075DF2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B6610DE-DD8F-3335-C5B5-34627F581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66C31-1972-4AD3-A0F5-7E57D37BED0E}" type="datetime1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5B8820F-B0B6-E8CC-3B02-180A04397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88CF1AF-5758-A4BF-581E-1FB0F3725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5116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DB2291C-0C73-39F0-1465-B7D1ABBA3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697A6-9BED-41D6-B15F-71870D315C2A}" type="datetime1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2EFEB8B-8833-AA0E-EF5F-0D6BF5993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9D0518E-4D08-6C3C-74B7-E187B36AF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2896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3E2149-39CA-E0D1-AB38-E6C5324F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D4559A-BC5F-546D-23C8-FDBAB096B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9076E85-7459-98DE-8D9E-C6BA0717C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67F59DB-85E2-72F3-3A47-3026EB054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37B6-7367-47B8-9952-FCE25C0ED283}" type="datetime1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9FCB83D-5D54-4A07-7D57-99F3811B1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D5C074-3C6C-494D-A3FF-99B1472F9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1508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6B93B7-DBA0-1336-6052-5A0521E41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4C924B1-95C3-95DB-DD23-0FC81C8C75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94DCF72-0AEE-BE92-3B44-395FD75F6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E3104C-2B97-7269-B79C-A5BAF3A9E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6B1E3-A4EF-4A22-80D3-58796BCB17CB}" type="datetime1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A043DAA-1D6B-960F-2F52-5C92B034F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1D702E-6DF1-C5E9-7BD0-6CCAEEEE3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0199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1FE950-CD46-0B8B-6A3B-0B4827374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1F0A1CB-7B61-AD8B-2CD2-653F21809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74A76D-B4E8-D235-905A-B959C307E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CEAE9-6EEB-4D31-B7D3-F9941BA2902C}" type="datetime1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3B7CDA-5F7E-EB73-3D43-FB48C3420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4AA0C4-6D1C-1032-999D-E92719720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3241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D554E60-99C2-3EA5-DFB7-8F4804CE25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3EE05B2-B15C-42E2-D83F-B37D65C21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3C7E1B-67D0-5277-324D-4934F67F5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D3BF-D815-4E89-87F4-61D731942F21}" type="datetime1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555D6A-E0F1-687C-FEA3-927B6D0A2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721D63-E6A0-7BE0-FC9A-3FC720862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4336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BFA453E-0026-7F76-55FF-B13573333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41293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C342B8F-7E97-09FB-C8DF-2DE8015D7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9782" y="1250576"/>
            <a:ext cx="11192435" cy="4928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 </a:t>
            </a:r>
            <a:r>
              <a:rPr kumimoji="1" lang="en-US" altLang="ja-JP" dirty="0"/>
              <a:t>the second level</a:t>
            </a:r>
            <a:endParaRPr kumimoji="1" lang="ja-JP" altLang="en-US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 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3BB753-A76D-9385-00FB-F5A0231852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9782" y="6356350"/>
            <a:ext cx="30816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>
                    <a:tint val="82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</a:lstStyle>
          <a:p>
            <a:fld id="{CBF3A7F6-FAE2-4BEF-A39C-399A2200D348}" type="datetime1">
              <a:rPr lang="ja-JP" altLang="en-US" smtClean="0"/>
              <a:pPr/>
              <a:t>2026/10/2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410461-4CAA-2FD3-FB68-02703598FE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tint val="82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26D0E1-E1DC-273C-79C3-BA3207528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356350"/>
            <a:ext cx="3081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82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</a:lstStyle>
          <a:p>
            <a:fld id="{5C131AB2-3CED-44EB-96F4-8CDD4C4FAAE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3004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kern="1200">
          <a:solidFill>
            <a:schemeClr val="bg1"/>
          </a:solidFill>
          <a:latin typeface="Segoe UI Semibold" panose="020B0702040204020203" pitchFamily="34" charset="0"/>
          <a:ea typeface="Noto Sans JP" panose="020B0200000000000000" pitchFamily="50" charset="-128"/>
          <a:cs typeface="Segoe UI Semibold" panose="020B07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b="1" kern="1200">
          <a:solidFill>
            <a:schemeClr val="tx1"/>
          </a:solidFill>
          <a:latin typeface="Segoe UI Semibold" panose="020B0702040204020203" pitchFamily="34" charset="0"/>
          <a:ea typeface="Noto Sans JP" panose="020B0200000000000000" pitchFamily="50" charset="-128"/>
          <a:cs typeface="Segoe UI Semibold" panose="020B07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b="1" kern="1200">
          <a:solidFill>
            <a:schemeClr val="tx1"/>
          </a:solidFill>
          <a:latin typeface="Segoe UI Semibold" panose="020B0702040204020203" pitchFamily="34" charset="0"/>
          <a:ea typeface="Noto Sans JP" panose="020B0200000000000000" pitchFamily="50" charset="-128"/>
          <a:cs typeface="Segoe UI Semibold" panose="020B07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b="1" kern="1200">
          <a:solidFill>
            <a:schemeClr val="tx1"/>
          </a:solidFill>
          <a:latin typeface="Segoe UI Semibold" panose="020B0702040204020203" pitchFamily="34" charset="0"/>
          <a:ea typeface="Noto Sans JP" panose="020B0200000000000000" pitchFamily="50" charset="-128"/>
          <a:cs typeface="Segoe UI Semibold" panose="020B07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1" kern="1200">
          <a:solidFill>
            <a:schemeClr val="tx1"/>
          </a:solidFill>
          <a:latin typeface="Segoe UI Semibold" panose="020B0702040204020203" pitchFamily="34" charset="0"/>
          <a:ea typeface="Noto Sans JP" panose="020B0200000000000000" pitchFamily="50" charset="-128"/>
          <a:cs typeface="Segoe UI Semibold" panose="020B07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1" kern="1200">
          <a:solidFill>
            <a:schemeClr val="tx1"/>
          </a:solidFill>
          <a:latin typeface="Segoe UI Semibold" panose="020B0702040204020203" pitchFamily="34" charset="0"/>
          <a:ea typeface="Noto Sans JP" panose="020B0200000000000000" pitchFamily="50" charset="-128"/>
          <a:cs typeface="Segoe UI Semibold" panose="020B07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2307/193217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hyperlink" Target="https://hdl.handle.net/10036/48545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29/2022MS00300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16/j.tree.2010.11.003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083D56-F622-BC04-4F92-5132EA1E6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73968"/>
            <a:ext cx="9144000" cy="2246648"/>
          </a:xfrm>
        </p:spPr>
        <p:txBody>
          <a:bodyPr anchor="ctr">
            <a:normAutofit/>
          </a:bodyPr>
          <a:lstStyle/>
          <a:p>
            <a:r>
              <a:rPr lang="en-US" altLang="ja-JP" sz="5400" dirty="0"/>
              <a:t>Research Progress Report</a:t>
            </a:r>
            <a:br>
              <a:rPr lang="en-US" altLang="ja-JP" sz="5400" dirty="0"/>
            </a:br>
            <a:br>
              <a:rPr lang="en-US" altLang="ja-JP" sz="2000" dirty="0"/>
            </a:br>
            <a:r>
              <a:rPr lang="ja-JP" altLang="ja-JP" sz="2400" dirty="0"/>
              <a:t>Hydraulic Multistability and Transient Carbon Storage Dynamics: A Coupled</a:t>
            </a:r>
            <a:r>
              <a:rPr lang="en-US" altLang="ja-JP" sz="2400" dirty="0"/>
              <a:t> </a:t>
            </a:r>
            <a:r>
              <a:rPr lang="ja-JP" altLang="ja-JP" sz="2400" dirty="0"/>
              <a:t>Carbon–Water</a:t>
            </a:r>
            <a:r>
              <a:rPr lang="en-US" altLang="ja-JP" sz="2400" dirty="0"/>
              <a:t> Matrix</a:t>
            </a:r>
            <a:r>
              <a:rPr lang="ja-JP" altLang="ja-JP" sz="2400" dirty="0"/>
              <a:t> </a:t>
            </a:r>
            <a:r>
              <a:rPr lang="en-US" altLang="ja-JP" sz="2400" dirty="0"/>
              <a:t>Approach</a:t>
            </a:r>
            <a:endParaRPr kumimoji="1" lang="ja-JP" altLang="en-US" sz="54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4A85FFC-0B8D-7913-F82D-CB57FAF3D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28410"/>
            <a:ext cx="9144000" cy="529389"/>
          </a:xfrm>
        </p:spPr>
        <p:txBody>
          <a:bodyPr anchor="ctr"/>
          <a:lstStyle/>
          <a:p>
            <a:r>
              <a:rPr kumimoji="1" lang="en-US" altLang="ja-JP" dirty="0"/>
              <a:t>10/16 Takuma </a:t>
            </a:r>
            <a:r>
              <a:rPr kumimoji="1" lang="en-US" altLang="ja-JP" dirty="0" err="1"/>
              <a:t>Sakauchi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51822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1C2095-EDE4-6F5C-7A59-1B01C11F8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Table of contents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AD84C8-AF70-C012-8EAD-21C975FFA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Previous research</a:t>
            </a:r>
          </a:p>
          <a:p>
            <a:r>
              <a:rPr lang="en-US" altLang="ja-JP" dirty="0"/>
              <a:t>Research gaps</a:t>
            </a:r>
          </a:p>
          <a:p>
            <a:r>
              <a:rPr lang="en-US" altLang="ja-JP" dirty="0"/>
              <a:t>Research question</a:t>
            </a:r>
          </a:p>
          <a:p>
            <a:r>
              <a:rPr lang="en-US" altLang="ja-JP" dirty="0"/>
              <a:t>Methods</a:t>
            </a:r>
          </a:p>
          <a:p>
            <a:r>
              <a:rPr lang="en-US" altLang="ja-JP" dirty="0"/>
              <a:t>Results</a:t>
            </a:r>
          </a:p>
          <a:p>
            <a:r>
              <a:rPr lang="en-US" altLang="ja-JP" dirty="0"/>
              <a:t>Discussions</a:t>
            </a:r>
          </a:p>
          <a:p>
            <a:r>
              <a:rPr lang="en-US" altLang="ja-JP" dirty="0"/>
              <a:t>Future plans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70F749-5B3A-4679-AA20-31EDB1023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06988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748375-85A3-CE25-37BE-1742CF0B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Previous research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97E8DA-E75D-6C11-4D84-95919AF07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Understanding the land carbon cycle</a:t>
            </a:r>
          </a:p>
          <a:p>
            <a:r>
              <a:rPr lang="en-US" altLang="ja-JP" dirty="0"/>
              <a:t>Carbon equilibrium</a:t>
            </a:r>
          </a:p>
          <a:p>
            <a:r>
              <a:rPr lang="en-US" altLang="ja-JP" dirty="0"/>
              <a:t>Matrix approach</a:t>
            </a:r>
          </a:p>
          <a:p>
            <a:r>
              <a:rPr lang="en-US" altLang="ja-JP" dirty="0"/>
              <a:t>Carbon storage capacity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DBF0272-2FD2-4155-4D9D-947839BAE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75096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2F822A-C9BA-E5AC-7F14-AC246F25D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Understanding the land carbon cycle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F60A4A-14C5-5BF5-11DC-480C8FF30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b="0" dirty="0"/>
              <a:t>Land ecosystem play a important role in Earth system in this situation of climate change.</a:t>
            </a:r>
          </a:p>
          <a:p>
            <a:r>
              <a:rPr lang="en-US" altLang="ja-JP" b="0" dirty="0"/>
              <a:t>The dynamics of carbon storage can be regarded as the change of equilibrium of photosynthesis and respiration. </a:t>
            </a:r>
            <a:br>
              <a:rPr lang="en-US" altLang="ja-JP" b="0" dirty="0"/>
            </a:br>
            <a:r>
              <a:rPr lang="en-US" altLang="ja-JP" sz="1800" b="0" dirty="0"/>
              <a:t>(</a:t>
            </a:r>
            <a:r>
              <a:rPr lang="ja-JP" altLang="ja-JP" sz="1800" b="0" dirty="0"/>
              <a:t>Olson, J.S. (1963), Energy Storage and the Balance of Producers and Decomposers in Ecological Systems. Ecology, 44: 322-331. </a:t>
            </a:r>
            <a:r>
              <a:rPr lang="ja-JP" altLang="ja-JP" sz="1800" b="0" dirty="0">
                <a:hlinkClick r:id="rId3"/>
              </a:rPr>
              <a:t>https://doi.org/10.2307/1932179</a:t>
            </a:r>
            <a:r>
              <a:rPr lang="en-US" altLang="ja-JP" sz="1800" b="0" dirty="0"/>
              <a:t> )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936A3A8-1862-C756-1EEF-2F7ED10B4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51821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502C2D-3178-9D0A-A0A2-CDFC5E193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Carbon equilibrium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19556C-813C-8C85-D36A-9F861ADB6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0" dirty="0"/>
              <a:t>Cox, P. et al showed analytical examples on differential equation of carbon mass balance. </a:t>
            </a:r>
            <a:r>
              <a:rPr lang="en-US" altLang="ja-JP" dirty="0"/>
              <a:t>They regarded the earth system as a closed system.</a:t>
            </a:r>
            <a:r>
              <a:rPr lang="ja-JP" altLang="en-US" b="0" dirty="0"/>
              <a:t> </a:t>
            </a:r>
            <a:r>
              <a:rPr lang="en-US" altLang="ja-JP" sz="1800" b="0" dirty="0"/>
              <a:t>(Cox, Peter M.; </a:t>
            </a:r>
            <a:r>
              <a:rPr lang="en-US" altLang="ja-JP" sz="1800" b="0" dirty="0" err="1"/>
              <a:t>Huntingford</a:t>
            </a:r>
            <a:r>
              <a:rPr lang="en-US" altLang="ja-JP" sz="1800" b="0" dirty="0"/>
              <a:t>, Chris; Jones, Chris D. (2006). Conditions for sink-to-source transitions and runaway feedbacks from the land carbon cycle. University of Exeter. Chapter. </a:t>
            </a:r>
            <a:r>
              <a:rPr lang="en-US" altLang="ja-JP" sz="1800" b="0" dirty="0">
                <a:hlinkClick r:id="rId2"/>
              </a:rPr>
              <a:t>https://hdl.handle.net/10036/48545</a:t>
            </a:r>
            <a:r>
              <a:rPr lang="en-US" altLang="ja-JP" sz="1800" b="0" dirty="0"/>
              <a:t> )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39E61D-F32C-CCEF-D974-EE3177BBC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5</a:t>
            </a:fld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8CBCFA6-D2EF-D672-72E5-0B117C9D6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76" y="3182032"/>
            <a:ext cx="2286319" cy="93358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DD6843EA-99F8-94C0-5DE9-9512E7D26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331" y="3071293"/>
            <a:ext cx="3924848" cy="1257475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FFF912E5-5558-EB24-5990-E661483D47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4354" y="3110589"/>
            <a:ext cx="2781688" cy="114316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5448ABE2-6756-F242-1FA4-64CBAB130D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5853" y="5261292"/>
            <a:ext cx="5029902" cy="1238423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A83B697-4D84-BFB1-51A3-3DF4AFD1AAE8}"/>
              </a:ext>
            </a:extLst>
          </p:cNvPr>
          <p:cNvSpPr txBox="1"/>
          <p:nvPr/>
        </p:nvSpPr>
        <p:spPr>
          <a:xfrm>
            <a:off x="912341" y="3930946"/>
            <a:ext cx="3168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Photosynthesis - Respiration</a:t>
            </a:r>
            <a:endParaRPr kumimoji="1" lang="ja-JP" alt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7E3E3FF6-7942-71D6-2998-098C3B39309E}"/>
                  </a:ext>
                </a:extLst>
              </p:cNvPr>
              <p:cNvSpPr txBox="1"/>
              <p:nvPr/>
            </p:nvSpPr>
            <p:spPr>
              <a:xfrm>
                <a:off x="794085" y="4539100"/>
                <a:ext cx="8125045" cy="15746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800" dirty="0"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when the system reaches at equilibrium,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ja-JP" altLang="en-US" sz="2800" dirty="0" smtClean="0"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 </m:t>
                    </m:r>
                    <m:f>
                      <m:fPr>
                        <m:ctrlPr>
                          <a:rPr kumimoji="1" lang="ja-JP" altLang="en-US" sz="2800" i="1" smtClean="0"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kumimoji="1" lang="ja-JP" altLang="en-US" sz="2800" i="1" smtClean="0"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𝑑</m:t>
                        </m:r>
                        <m:sSub>
                          <m:sSubPr>
                            <m:ctrlPr>
                              <a:rPr kumimoji="1" lang="en-US" altLang="ja-JP" sz="2800" b="0" i="1" smtClean="0"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800" b="0" i="1" smtClean="0"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ja-JP" sz="2800" b="0" i="1" smtClean="0"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r>
                          <a:rPr kumimoji="1" lang="ja-JP" altLang="en-US" sz="2800" i="1" smtClean="0"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𝑑</m:t>
                        </m:r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𝑡</m:t>
                        </m:r>
                      </m:den>
                    </m:f>
                    <m:r>
                      <a:rPr kumimoji="1" lang="en-US" altLang="ja-JP" sz="2800" b="0" i="1" smtClean="0"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=0</m:t>
                    </m:r>
                  </m:oMath>
                </a14:m>
                <a:br>
                  <a:rPr kumimoji="1" lang="en-US" altLang="ja-JP" sz="2800" b="0" dirty="0"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</a:br>
                <a:br>
                  <a:rPr kumimoji="1" lang="en-US" altLang="ja-JP" sz="2800" b="0" dirty="0"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</a:br>
                <a:r>
                  <a:rPr kumimoji="1" lang="ja-JP" altLang="en-US" sz="2800" dirty="0"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⇒</a:t>
                </a:r>
              </a:p>
            </p:txBody>
          </p:sp>
        </mc:Choice>
        <mc:Fallback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7E3E3FF6-7942-71D6-2998-098C3B393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085" y="4539100"/>
                <a:ext cx="8125045" cy="1574662"/>
              </a:xfrm>
              <a:prstGeom prst="rect">
                <a:avLst/>
              </a:prstGeom>
              <a:blipFill>
                <a:blip r:embed="rId7"/>
                <a:stretch>
                  <a:fillRect l="-1500" b="-100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58DAFBD-D7B5-2DFE-D8F1-6F1E76F9AF7C}"/>
              </a:ext>
            </a:extLst>
          </p:cNvPr>
          <p:cNvSpPr txBox="1"/>
          <p:nvPr/>
        </p:nvSpPr>
        <p:spPr>
          <a:xfrm>
            <a:off x="2340088" y="586240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max</a:t>
            </a:r>
            <a:endParaRPr kumimoji="1" lang="ja-JP" alt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030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68EEC1-CA13-049D-09CD-A4174B4A5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Matrix approach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EE77CD-A2CB-916E-0AFC-F22131F61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Luo et al (2022) gave a perspective on representation of land ecosystem model as a differential equation by utilizing matrices.</a:t>
            </a:r>
            <a:r>
              <a:rPr lang="ja-JP" altLang="en-US" dirty="0"/>
              <a:t>　</a:t>
            </a:r>
            <a:r>
              <a:rPr lang="en-US" altLang="ja-JP" sz="1800" dirty="0"/>
              <a:t>(Luo, Y., Huang, Y., Sierra, C. A., Xia, J., Ahlström, A., Chen, Y., et al. (2022). Matrix approach to land carbon cycle modeling. Journal of Advances in Modeling Earth Systems, 14, e2022MS003008. </a:t>
            </a:r>
            <a:r>
              <a:rPr lang="en-US" altLang="ja-JP" sz="1800" dirty="0">
                <a:hlinkClick r:id="rId3"/>
              </a:rPr>
              <a:t>https://doi.org/10.1029/2022MS003008</a:t>
            </a:r>
            <a:r>
              <a:rPr lang="ja-JP" altLang="en-US" sz="1800" dirty="0"/>
              <a:t> </a:t>
            </a:r>
            <a:r>
              <a:rPr lang="en-US" altLang="ja-JP" sz="1800" dirty="0"/>
              <a:t>)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49C8A5-54F9-7BAD-0399-D0F70F4EA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6</a:t>
            </a:fld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0399177-26A9-233B-A96C-2273ECD28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033" y="2992248"/>
            <a:ext cx="5802183" cy="354666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4816AE31-A0C3-1FAC-3998-9E3406F219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529" y="2992248"/>
            <a:ext cx="5306446" cy="369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393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75C01C-D4EF-5A0C-B335-D68C0E7D1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Carbon storage capacity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4B1C17-2869-518D-FFC9-411BEE906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Luo and Weng precisely defined equilibrium point and called it carbon storage capacity. </a:t>
            </a:r>
            <a:r>
              <a:rPr kumimoji="1" lang="en-US" altLang="ja-JP" sz="1800" dirty="0"/>
              <a:t>(</a:t>
            </a:r>
            <a:r>
              <a:rPr kumimoji="1" lang="en-US" altLang="ja-JP" sz="1800" dirty="0" err="1"/>
              <a:t>Yiqi</a:t>
            </a:r>
            <a:r>
              <a:rPr kumimoji="1" lang="en-US" altLang="ja-JP" sz="1800" dirty="0"/>
              <a:t> Luo, </a:t>
            </a:r>
            <a:r>
              <a:rPr kumimoji="1" lang="en-US" altLang="ja-JP" sz="1800" dirty="0" err="1"/>
              <a:t>Ensheng</a:t>
            </a:r>
            <a:r>
              <a:rPr kumimoji="1" lang="en-US" altLang="ja-JP" sz="1800" dirty="0"/>
              <a:t> Weng, Dynamic disequilibrium of the terrestrial carbon cycle under global change, Trends in Ecology &amp; Evolution, Volume 26, Issue 2, 2011, Pages 96-104, ISSN 0169-5347, </a:t>
            </a:r>
            <a:r>
              <a:rPr kumimoji="1" lang="en-US" altLang="ja-JP" sz="1800" dirty="0">
                <a:hlinkClick r:id="rId2"/>
              </a:rPr>
              <a:t>https://doi.org/10.1016/j.tree.2010.11.003</a:t>
            </a:r>
            <a:r>
              <a:rPr kumimoji="1" lang="en-US" altLang="ja-JP" sz="1800" dirty="0"/>
              <a:t>. )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EA511F9-4DC4-B909-4C04-337FBB823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54054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C1B258-4BB9-D687-8417-F355E7604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Research gaps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1B017F-492E-C827-7AB3-C39F588B5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Nonlinearity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7AB397-24EE-105F-9D76-4F5BC5940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8</a:t>
            </a:fld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D66A4F8-983A-B91C-2AB5-8380742E6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463" y="1675945"/>
            <a:ext cx="9265072" cy="2038968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59E4E9D-41EE-8CE6-5321-06E69345CE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0486" y="3714913"/>
            <a:ext cx="3234850" cy="290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341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F0C17-5917-51BD-9764-A1A5ECD41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DAB37E-4516-A689-C759-2B94C183B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Research gaps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117138-74CB-34F9-FF24-DEE580556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782" y="3814011"/>
            <a:ext cx="11192435" cy="2365238"/>
          </a:xfrm>
        </p:spPr>
        <p:txBody>
          <a:bodyPr/>
          <a:lstStyle/>
          <a:p>
            <a:r>
              <a:rPr kumimoji="1" lang="en-US" altLang="ja-JP" dirty="0"/>
              <a:t>Nonlinear conditions are the frontier 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92B2371-BFEF-9E27-E211-41ED54593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9</a:t>
            </a:fld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86F1F78-5033-23E7-7B2D-ABB6E2231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463" y="1675945"/>
            <a:ext cx="9265072" cy="203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767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4FCDD7-F625-63CE-7DC6-57390C501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Research gaps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980979-7622-AC6D-BAEC-79D589E3F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0C42651-B6FB-D7C6-1B52-689D8AA9B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10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02054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F6BE06-CAD1-A855-2355-1B1F9A513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Research question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2BA601-A529-3751-1835-15A3CF973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F37322-0456-4120-15AF-3175EE334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11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54091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B3B82A-1E82-65E3-7DE1-3AB8B987D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Methods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20ED313-F0AD-52BC-2EFA-02FE73B58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Add water cycle into carbon cycle </a:t>
            </a:r>
          </a:p>
          <a:p>
            <a:pPr lvl="1"/>
            <a:r>
              <a:rPr lang="en-US" altLang="ja-JP" u="sng" dirty="0"/>
              <a:t>Soil-Plant-Atmosphere Continuum (SPAC) </a:t>
            </a:r>
            <a:r>
              <a:rPr lang="en-US" altLang="ja-JP" dirty="0"/>
              <a:t>into differential equation</a:t>
            </a:r>
          </a:p>
          <a:p>
            <a:pPr lvl="1"/>
            <a:r>
              <a:rPr kumimoji="1" lang="en-US" altLang="ja-JP" dirty="0"/>
              <a:t>Assume only VPD</a:t>
            </a:r>
            <a:r>
              <a:rPr lang="en-US" altLang="ja-JP" dirty="0"/>
              <a:t> is forcing</a:t>
            </a:r>
          </a:p>
          <a:p>
            <a:pPr lvl="1"/>
            <a:r>
              <a:rPr kumimoji="1" lang="en-US" altLang="ja-JP" dirty="0"/>
              <a:t>Add fe</a:t>
            </a:r>
            <a:r>
              <a:rPr lang="en-US" altLang="ja-JP" dirty="0"/>
              <a:t>edbacks stepwise</a:t>
            </a:r>
          </a:p>
          <a:p>
            <a:r>
              <a:rPr kumimoji="1" lang="en-US" altLang="ja-JP" dirty="0"/>
              <a:t>Analysis based on </a:t>
            </a:r>
            <a:r>
              <a:rPr kumimoji="1" lang="en-US" altLang="ja-JP" u="sng" dirty="0"/>
              <a:t>catastrophe theory</a:t>
            </a:r>
          </a:p>
          <a:p>
            <a:pPr lvl="1"/>
            <a:r>
              <a:rPr lang="en-US" altLang="ja-JP" dirty="0"/>
              <a:t>Solve fixed points then check Jacobian matrices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A296E7-9DCB-82E7-36B8-064B615CD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12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86377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4D4F2D-A6D3-7FB2-DA79-FFD8C9B5E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Soil-Plant-Atmosphere Continuum (SPAC)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B82E216-35E3-76D4-6477-67CD30821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Manzoni (2014) 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02A53A-4CCF-C95D-CB94-3712BD227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13</a:t>
            </a:fld>
            <a:endParaRPr kumimoji="1" lang="ja-JP" altLang="en-US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51B7CBF0-0A8E-BBFA-7801-4FF8E56A5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72" y="1953999"/>
            <a:ext cx="4020111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918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E1149-5918-3854-5747-90EA9D2C9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43E2F6-EB97-8D8E-F2B9-EED5EAEDD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Soil-Plant-Atmosphere Continuum (SPAC)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177BA0-01AE-98C0-13BC-0AFB2716B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Manzoni (2014) 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313217-7C71-47B4-F4A1-EC7179F2E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14</a:t>
            </a:fld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9BCE3C1-460E-CDAA-C2A0-B6E6FA77BB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838"/>
          <a:stretch>
            <a:fillRect/>
          </a:stretch>
        </p:blipFill>
        <p:spPr>
          <a:xfrm>
            <a:off x="5147693" y="1021613"/>
            <a:ext cx="6925811" cy="5334737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027B302-3170-13B9-D57C-55BB972DD0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62" b="54312"/>
          <a:stretch>
            <a:fillRect/>
          </a:stretch>
        </p:blipFill>
        <p:spPr>
          <a:xfrm>
            <a:off x="144379" y="2514600"/>
            <a:ext cx="5339982" cy="309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277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A9508-0D59-7BC3-36E5-DB33A27D7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175E82-886B-BF89-08F6-45D5EA1BE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Soil-Plant-Atmosphere Continuum (SPAC)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85F87C-CF4B-A11A-D77B-000AB1085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Manzoni (2014) 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422E947-EF14-D0AB-5511-A84E1D5B1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15</a:t>
            </a:fld>
            <a:endParaRPr kumimoji="1" lang="ja-JP" altLang="en-US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8B4BF53E-16FF-C457-42DA-26178220A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72" y="1953999"/>
            <a:ext cx="4020111" cy="4534533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8D093F26-5BFC-4E66-7E56-8E05E81E3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470" y="2498324"/>
            <a:ext cx="5087060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365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7A893-7F33-6513-076D-F368461B0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Catastrophe theory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084481-EB90-73CA-18BB-17550EB33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6D2CA9E-1371-921D-B71F-D332F3D25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16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02713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84A7EF-28FC-AD6F-081C-7EB073175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Results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D30FD2-9DAE-59F9-E5CA-DD54B9390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Model equations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B10203-EC09-43BD-2AF5-E8328C12D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17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19411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4356F-DA71-2239-B550-19A0B8D26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316DA8-B703-E60F-DC08-263E69F86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Results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7F4C51-02FE-8A05-DBA8-A885FE8D7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Equilibria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E5A6F45-B45F-495B-1679-302245098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18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2870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5AE46-8C3F-F483-0828-0CC32891A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652C75-E30D-D68B-12D3-80232BFD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Results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60C163-2AF1-8391-3A3A-7B800558A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Conditions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0254FF-775B-8E24-C03F-9EFF74AFC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19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32759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5F8D85-4106-A0DD-0A98-E8A964547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Discussions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9B2E7D-CB4F-BDD3-89B8-ED2E249FB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Contribution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C9EF6F4-DE8E-B071-03E2-4D247C1F9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20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57579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DFFF1F-748A-AAC2-FCB0-3B639B983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Future plans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802808-04F1-E8F3-2AC7-395CC140E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0644F67-4C75-4CA8-6B03-06B1D1401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31AB2-3CED-44EB-96F4-8CDD4C4FAAED}" type="slidenum">
              <a:rPr kumimoji="1" lang="ja-JP" altLang="en-US" smtClean="0"/>
              <a:t>21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693297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24BEA03A275B9344B3644FB184C48E50" ma:contentTypeVersion="5" ma:contentTypeDescription="新しいドキュメントを作成します。" ma:contentTypeScope="" ma:versionID="aa22be1b4fd041467e3ccbdf5150bb87">
  <xsd:schema xmlns:xsd="http://www.w3.org/2001/XMLSchema" xmlns:xs="http://www.w3.org/2001/XMLSchema" xmlns:p="http://schemas.microsoft.com/office/2006/metadata/properties" xmlns:ns3="6f8dd3ab-1fa9-4531-b3f9-4bec1a8db024" targetNamespace="http://schemas.microsoft.com/office/2006/metadata/properties" ma:root="true" ma:fieldsID="2d4477da4317afbb560a569568cd2d76" ns3:_="">
    <xsd:import namespace="6f8dd3ab-1fa9-4531-b3f9-4bec1a8db02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8dd3ab-1fa9-4531-b3f9-4bec1a8db0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475C5ED-1D11-4D73-8133-63ABAEE898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8dd3ab-1fa9-4531-b3f9-4bec1a8db0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43C1FFD-3D9D-40E5-BFE9-D8CF5CFD06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35D1D1-889A-49D0-B7FA-41550B32B9B2}">
  <ds:schemaRefs>
    <ds:schemaRef ds:uri="6f8dd3ab-1fa9-4531-b3f9-4bec1a8db024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2006/metadata/properties"/>
    <ds:schemaRef ds:uri="http://purl.org/dc/elements/1.1/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7706</TotalTime>
  <Words>553</Words>
  <Application>Microsoft Office PowerPoint</Application>
  <PresentationFormat>ワイド画面</PresentationFormat>
  <Paragraphs>83</Paragraphs>
  <Slides>21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7" baseType="lpstr">
      <vt:lpstr>Noto Sans JP</vt:lpstr>
      <vt:lpstr>游ゴシック</vt:lpstr>
      <vt:lpstr>Arial</vt:lpstr>
      <vt:lpstr>Cambria Math</vt:lpstr>
      <vt:lpstr>Segoe UI Semibold</vt:lpstr>
      <vt:lpstr>1_Office テーマ</vt:lpstr>
      <vt:lpstr>Research Progress Report  Hydraulic Multistability and Transient Carbon Storage Dynamics: A Coupled Carbon–Water Matrix Approach</vt:lpstr>
      <vt:lpstr>Table of contents</vt:lpstr>
      <vt:lpstr>Previous research</vt:lpstr>
      <vt:lpstr>Understanding the land carbon cycle</vt:lpstr>
      <vt:lpstr>Carbon equilibrium</vt:lpstr>
      <vt:lpstr>Matrix approach</vt:lpstr>
      <vt:lpstr>Carbon storage capacity</vt:lpstr>
      <vt:lpstr>Research gaps</vt:lpstr>
      <vt:lpstr>Research gaps</vt:lpstr>
      <vt:lpstr>Research gaps</vt:lpstr>
      <vt:lpstr>Research question</vt:lpstr>
      <vt:lpstr>Methods</vt:lpstr>
      <vt:lpstr>Soil-Plant-Atmosphere Continuum (SPAC)</vt:lpstr>
      <vt:lpstr>Soil-Plant-Atmosphere Continuum (SPAC)</vt:lpstr>
      <vt:lpstr>Soil-Plant-Atmosphere Continuum (SPAC)</vt:lpstr>
      <vt:lpstr>Catastrophe theory</vt:lpstr>
      <vt:lpstr>Results</vt:lpstr>
      <vt:lpstr>Results</vt:lpstr>
      <vt:lpstr>Results</vt:lpstr>
      <vt:lpstr>Discussions</vt:lpstr>
      <vt:lpstr>Future plans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阪内　琢真</dc:creator>
  <cp:lastModifiedBy>阪内　琢真</cp:lastModifiedBy>
  <cp:revision>1</cp:revision>
  <dcterms:created xsi:type="dcterms:W3CDTF">2026-10-09T03:16:36Z</dcterms:created>
  <dcterms:modified xsi:type="dcterms:W3CDTF">2026-10-14T11:43:17Z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0x01010024BEA03A275B9344B3644FB184C48E50</vt:lpwstr>
  </property>
</Properties>
</file>